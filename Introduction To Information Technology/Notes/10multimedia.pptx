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notesMasterIdLst>
    <p:notesMasterId r:id="rId18"/>
  </p:notesMasterIdLst>
  <p:sldIdLst>
    <p:sldId id="272" r:id="rId2"/>
    <p:sldId id="257" r:id="rId3"/>
    <p:sldId id="261" r:id="rId4"/>
    <p:sldId id="262" r:id="rId5"/>
    <p:sldId id="258" r:id="rId6"/>
    <p:sldId id="273" r:id="rId7"/>
    <p:sldId id="259"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422" autoAdjust="0"/>
    <p:restoredTop sz="92430" autoAdjust="0"/>
  </p:normalViewPr>
  <p:slideViewPr>
    <p:cSldViewPr snapToGrid="0">
      <p:cViewPr varScale="1">
        <p:scale>
          <a:sx n="75" d="100"/>
          <a:sy n="75" d="100"/>
        </p:scale>
        <p:origin x="28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C0F600-449F-471C-8F95-F334AE0F3E82}" type="datetimeFigureOut">
              <a:rPr lang="en-US" smtClean="0"/>
              <a:t>1/20/2024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840812-6904-4C4B-91D9-C2C88BE306BB}" type="slidenum">
              <a:rPr lang="en-US" smtClean="0"/>
              <a:t>‹#›</a:t>
            </a:fld>
            <a:endParaRPr lang="en-US"/>
          </a:p>
        </p:txBody>
      </p:sp>
    </p:spTree>
    <p:extLst>
      <p:ext uri="{BB962C8B-B14F-4D97-AF65-F5344CB8AC3E}">
        <p14:creationId xmlns:p14="http://schemas.microsoft.com/office/powerpoint/2010/main" val="3117852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74423" y="802298"/>
            <a:ext cx="8637073" cy="2920713"/>
          </a:xfrm>
        </p:spPr>
        <p:txBody>
          <a:bodyPr bIns="0" anchor="b">
            <a:normAutofit/>
          </a:bodyPr>
          <a:lstStyle>
            <a:lvl1pPr algn="ctr">
              <a:defRPr sz="6600"/>
            </a:lvl1pPr>
          </a:lstStyle>
          <a:p>
            <a:r>
              <a:rPr lang="en-US"/>
              <a:t>Click to edit Master title style</a:t>
            </a:r>
            <a:endParaRPr lang="en-US" dirty="0"/>
          </a:p>
        </p:txBody>
      </p:sp>
      <p:sp>
        <p:nvSpPr>
          <p:cNvPr id="3" name="Subtitle 2"/>
          <p:cNvSpPr>
            <a:spLocks noGrp="1"/>
          </p:cNvSpPr>
          <p:nvPr>
            <p:ph type="subTitle" idx="1"/>
          </p:nvPr>
        </p:nvSpPr>
        <p:spPr>
          <a:xfrm>
            <a:off x="1774424" y="3724074"/>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5F19D81-8C41-4209-9F74-98E870F76BA7}" type="datetimeFigureOut">
              <a:rPr lang="en-CA" smtClean="0"/>
              <a:t>2024-01-20</a:t>
            </a:fld>
            <a:endParaRPr lang="en-CA"/>
          </a:p>
        </p:txBody>
      </p:sp>
      <p:sp>
        <p:nvSpPr>
          <p:cNvPr id="5" name="Footer Placeholder 4"/>
          <p:cNvSpPr>
            <a:spLocks noGrp="1"/>
          </p:cNvSpPr>
          <p:nvPr>
            <p:ph type="ftr" sz="quarter" idx="11"/>
          </p:nvPr>
        </p:nvSpPr>
        <p:spPr>
          <a:xfrm>
            <a:off x="1451579" y="329307"/>
            <a:ext cx="5626774" cy="309201"/>
          </a:xfrm>
        </p:spPr>
        <p:txBody>
          <a:bodyPr/>
          <a:lstStyle/>
          <a:p>
            <a:endParaRPr lang="en-CA"/>
          </a:p>
        </p:txBody>
      </p:sp>
      <p:sp>
        <p:nvSpPr>
          <p:cNvPr id="6" name="Slide Number Placeholder 5"/>
          <p:cNvSpPr>
            <a:spLocks noGrp="1"/>
          </p:cNvSpPr>
          <p:nvPr>
            <p:ph type="sldNum" sz="quarter" idx="12"/>
          </p:nvPr>
        </p:nvSpPr>
        <p:spPr>
          <a:xfrm>
            <a:off x="476834" y="798973"/>
            <a:ext cx="811019" cy="503578"/>
          </a:xfrm>
        </p:spPr>
        <p:txBody>
          <a:bodyPr/>
          <a:lstStyle/>
          <a:p>
            <a:fld id="{84C4BE72-0E58-4B4F-ACC0-8A7403B6F8D9}" type="slidenum">
              <a:rPr lang="en-CA" smtClean="0"/>
              <a:t>‹#›</a:t>
            </a:fld>
            <a:endParaRPr lang="en-CA"/>
          </a:p>
        </p:txBody>
      </p:sp>
    </p:spTree>
    <p:extLst>
      <p:ext uri="{BB962C8B-B14F-4D97-AF65-F5344CB8AC3E}">
        <p14:creationId xmlns:p14="http://schemas.microsoft.com/office/powerpoint/2010/main" val="1463922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F19D81-8C41-4209-9F74-98E870F76BA7}" type="datetimeFigureOut">
              <a:rPr lang="en-CA" smtClean="0"/>
              <a:t>2024-01-20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84C4BE72-0E58-4B4F-ACC0-8A7403B6F8D9}" type="slidenum">
              <a:rPr lang="en-CA" smtClean="0"/>
              <a:t>‹#›</a:t>
            </a:fld>
            <a:endParaRPr lang="en-CA"/>
          </a:p>
        </p:txBody>
      </p:sp>
    </p:spTree>
    <p:extLst>
      <p:ext uri="{BB962C8B-B14F-4D97-AF65-F5344CB8AC3E}">
        <p14:creationId xmlns:p14="http://schemas.microsoft.com/office/powerpoint/2010/main" val="1927524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969007"/>
          </a:xfrm>
        </p:spPr>
        <p:txBody>
          <a:bodyPr anchor="b">
            <a:normAutofit/>
          </a:bodyPr>
          <a:lstStyle>
            <a:lvl1pPr algn="ctr">
              <a:defRPr sz="3600"/>
            </a:lvl1pPr>
          </a:lstStyle>
          <a:p>
            <a:r>
              <a:rPr lang="en-US"/>
              <a:t>Click to edit Master title style</a:t>
            </a:r>
            <a:endParaRPr lang="en-US" dirty="0"/>
          </a:p>
        </p:txBody>
      </p:sp>
      <p:sp>
        <p:nvSpPr>
          <p:cNvPr id="3" name="Text Placeholder 2"/>
          <p:cNvSpPr>
            <a:spLocks noGrp="1"/>
          </p:cNvSpPr>
          <p:nvPr>
            <p:ph type="body" idx="1"/>
          </p:nvPr>
        </p:nvSpPr>
        <p:spPr>
          <a:xfrm>
            <a:off x="1774423" y="3725137"/>
            <a:ext cx="8643154"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F19D81-8C41-4209-9F74-98E870F76BA7}" type="datetimeFigureOut">
              <a:rPr lang="en-CA" smtClean="0"/>
              <a:t>2024-01-20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84C4BE72-0E58-4B4F-ACC0-8A7403B6F8D9}" type="slidenum">
              <a:rPr lang="en-CA" smtClean="0"/>
              <a:t>‹#›</a:t>
            </a:fld>
            <a:endParaRPr lang="en-CA"/>
          </a:p>
        </p:txBody>
      </p:sp>
    </p:spTree>
    <p:extLst>
      <p:ext uri="{BB962C8B-B14F-4D97-AF65-F5344CB8AC3E}">
        <p14:creationId xmlns:p14="http://schemas.microsoft.com/office/powerpoint/2010/main" val="629886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29357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488654"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54140" y="2017343"/>
            <a:ext cx="4488654"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5F19D81-8C41-4209-9F74-98E870F76BA7}" type="datetimeFigureOut">
              <a:rPr lang="en-CA" smtClean="0"/>
              <a:t>2024-01-20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84C4BE72-0E58-4B4F-ACC0-8A7403B6F8D9}" type="slidenum">
              <a:rPr lang="en-CA" smtClean="0"/>
              <a:t>‹#›</a:t>
            </a:fld>
            <a:endParaRPr lang="en-CA"/>
          </a:p>
        </p:txBody>
      </p:sp>
    </p:spTree>
    <p:extLst>
      <p:ext uri="{BB962C8B-B14F-4D97-AF65-F5344CB8AC3E}">
        <p14:creationId xmlns:p14="http://schemas.microsoft.com/office/powerpoint/2010/main" val="2238680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295603"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488794"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488794"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56025" y="2023003"/>
            <a:ext cx="4488794"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56025" y="2821491"/>
            <a:ext cx="4488794"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5F19D81-8C41-4209-9F74-98E870F76BA7}" type="datetimeFigureOut">
              <a:rPr lang="en-CA" smtClean="0"/>
              <a:t>2024-01-20</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84C4BE72-0E58-4B4F-ACC0-8A7403B6F8D9}" type="slidenum">
              <a:rPr lang="en-CA" smtClean="0"/>
              <a:t>‹#›</a:t>
            </a:fld>
            <a:endParaRPr lang="en-CA"/>
          </a:p>
        </p:txBody>
      </p:sp>
    </p:spTree>
    <p:extLst>
      <p:ext uri="{BB962C8B-B14F-4D97-AF65-F5344CB8AC3E}">
        <p14:creationId xmlns:p14="http://schemas.microsoft.com/office/powerpoint/2010/main" val="726556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5F19D81-8C41-4209-9F74-98E870F76BA7}" type="datetimeFigureOut">
              <a:rPr lang="en-CA" smtClean="0"/>
              <a:t>2024-01-20</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84C4BE72-0E58-4B4F-ACC0-8A7403B6F8D9}" type="slidenum">
              <a:rPr lang="en-CA" smtClean="0"/>
              <a:t>‹#›</a:t>
            </a:fld>
            <a:endParaRPr lang="en-CA"/>
          </a:p>
        </p:txBody>
      </p:sp>
    </p:spTree>
    <p:extLst>
      <p:ext uri="{BB962C8B-B14F-4D97-AF65-F5344CB8AC3E}">
        <p14:creationId xmlns:p14="http://schemas.microsoft.com/office/powerpoint/2010/main" val="468089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F19D81-8C41-4209-9F74-98E870F76BA7}" type="datetimeFigureOut">
              <a:rPr lang="en-CA" smtClean="0"/>
              <a:t>2024-01-20</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84C4BE72-0E58-4B4F-ACC0-8A7403B6F8D9}" type="slidenum">
              <a:rPr lang="en-CA" smtClean="0"/>
              <a:t>‹#›</a:t>
            </a:fld>
            <a:endParaRPr lang="en-CA"/>
          </a:p>
        </p:txBody>
      </p:sp>
    </p:spTree>
    <p:extLst>
      <p:ext uri="{BB962C8B-B14F-4D97-AF65-F5344CB8AC3E}">
        <p14:creationId xmlns:p14="http://schemas.microsoft.com/office/powerpoint/2010/main" val="36367866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2961967" cy="2406518"/>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3032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F19D81-8C41-4209-9F74-98E870F76BA7}" type="datetimeFigureOut">
              <a:rPr lang="en-CA" smtClean="0"/>
              <a:t>2024-01-20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84C4BE72-0E58-4B4F-ACC0-8A7403B6F8D9}" type="slidenum">
              <a:rPr lang="en-CA" smtClean="0"/>
              <a:t>‹#›</a:t>
            </a:fld>
            <a:endParaRPr lang="en-CA"/>
          </a:p>
        </p:txBody>
      </p:sp>
    </p:spTree>
    <p:extLst>
      <p:ext uri="{BB962C8B-B14F-4D97-AF65-F5344CB8AC3E}">
        <p14:creationId xmlns:p14="http://schemas.microsoft.com/office/powerpoint/2010/main" val="1644454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2"/>
            <a:ext cx="5532328" cy="1922299"/>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en-US"/>
              <a:t>Click icon to add picture</a:t>
            </a:r>
            <a:endParaRPr lang="en-US" dirty="0"/>
          </a:p>
        </p:txBody>
      </p:sp>
      <p:sp>
        <p:nvSpPr>
          <p:cNvPr id="4" name="Text Placeholder 3"/>
          <p:cNvSpPr>
            <a:spLocks noGrp="1"/>
          </p:cNvSpPr>
          <p:nvPr>
            <p:ph type="body" sz="half" idx="2"/>
          </p:nvPr>
        </p:nvSpPr>
        <p:spPr>
          <a:xfrm>
            <a:off x="1450329"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C5F19D81-8C41-4209-9F74-98E870F76BA7}" type="datetimeFigureOut">
              <a:rPr lang="en-CA" smtClean="0"/>
              <a:t>2024-01-20</a:t>
            </a:fld>
            <a:endParaRPr lang="en-CA"/>
          </a:p>
        </p:txBody>
      </p:sp>
      <p:sp>
        <p:nvSpPr>
          <p:cNvPr id="6" name="Footer Placeholder 5"/>
          <p:cNvSpPr>
            <a:spLocks noGrp="1"/>
          </p:cNvSpPr>
          <p:nvPr>
            <p:ph type="ftr" sz="quarter" idx="11"/>
          </p:nvPr>
        </p:nvSpPr>
        <p:spPr>
          <a:xfrm>
            <a:off x="1447382" y="318640"/>
            <a:ext cx="5541004" cy="320931"/>
          </a:xfrm>
        </p:spPr>
        <p:txBody>
          <a:bodyPr/>
          <a:lstStyle/>
          <a:p>
            <a:endParaRPr lang="en-CA"/>
          </a:p>
        </p:txBody>
      </p:sp>
      <p:sp>
        <p:nvSpPr>
          <p:cNvPr id="7" name="Slide Number Placeholder 6"/>
          <p:cNvSpPr>
            <a:spLocks noGrp="1"/>
          </p:cNvSpPr>
          <p:nvPr>
            <p:ph type="sldNum" sz="quarter" idx="12"/>
          </p:nvPr>
        </p:nvSpPr>
        <p:spPr/>
        <p:txBody>
          <a:bodyPr/>
          <a:lstStyle/>
          <a:p>
            <a:fld id="{84C4BE72-0E58-4B4F-ACC0-8A7403B6F8D9}" type="slidenum">
              <a:rPr lang="en-CA" smtClean="0"/>
              <a:t>‹#›</a:t>
            </a:fld>
            <a:endParaRPr lang="en-CA"/>
          </a:p>
        </p:txBody>
      </p:sp>
    </p:spTree>
    <p:extLst>
      <p:ext uri="{BB962C8B-B14F-4D97-AF65-F5344CB8AC3E}">
        <p14:creationId xmlns:p14="http://schemas.microsoft.com/office/powerpoint/2010/main" val="2175812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F19D81-8C41-4209-9F74-98E870F76BA7}" type="datetimeFigureOut">
              <a:rPr lang="en-CA" smtClean="0"/>
              <a:t>2024-01-20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84C4BE72-0E58-4B4F-ACC0-8A7403B6F8D9}" type="slidenum">
              <a:rPr lang="en-CA" smtClean="0"/>
              <a:t>‹#›</a:t>
            </a:fld>
            <a:endParaRPr lang="en-CA"/>
          </a:p>
        </p:txBody>
      </p:sp>
    </p:spTree>
    <p:extLst>
      <p:ext uri="{BB962C8B-B14F-4D97-AF65-F5344CB8AC3E}">
        <p14:creationId xmlns:p14="http://schemas.microsoft.com/office/powerpoint/2010/main" val="37366273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2"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518654"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F19D81-8C41-4209-9F74-98E870F76BA7}" type="datetimeFigureOut">
              <a:rPr lang="en-CA" smtClean="0"/>
              <a:t>2024-01-20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84C4BE72-0E58-4B4F-ACC0-8A7403B6F8D9}" type="slidenum">
              <a:rPr lang="en-CA" smtClean="0"/>
              <a:t>‹#›</a:t>
            </a:fld>
            <a:endParaRPr lang="en-CA"/>
          </a:p>
        </p:txBody>
      </p:sp>
    </p:spTree>
    <p:extLst>
      <p:ext uri="{BB962C8B-B14F-4D97-AF65-F5344CB8AC3E}">
        <p14:creationId xmlns:p14="http://schemas.microsoft.com/office/powerpoint/2010/main" val="36418318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79" y="804519"/>
            <a:ext cx="9291215" cy="104923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29121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42079"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C5F19D81-8C41-4209-9F74-98E870F76BA7}" type="datetimeFigureOut">
              <a:rPr lang="en-CA" smtClean="0"/>
              <a:t>2024-01-20</a:t>
            </a:fld>
            <a:endParaRPr lang="en-CA"/>
          </a:p>
        </p:txBody>
      </p:sp>
      <p:sp>
        <p:nvSpPr>
          <p:cNvPr id="5" name="Footer Placeholder 4"/>
          <p:cNvSpPr>
            <a:spLocks noGrp="1"/>
          </p:cNvSpPr>
          <p:nvPr>
            <p:ph type="ftr" sz="quarter" idx="3"/>
          </p:nvPr>
        </p:nvSpPr>
        <p:spPr>
          <a:xfrm>
            <a:off x="1451579" y="329307"/>
            <a:ext cx="562677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84C4BE72-0E58-4B4F-ACC0-8A7403B6F8D9}" type="slidenum">
              <a:rPr lang="en-CA" smtClean="0"/>
              <a:t>‹#›</a:t>
            </a:fld>
            <a:endParaRPr lang="en-CA"/>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Picture 9"/>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58359"/>
      </p:ext>
    </p:extLst>
  </p:cSld>
  <p:clrMap bg1="dk1" tx1="lt1" bg2="dk2" tx2="lt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ww.publicdomainpictures.net/view-image.php?image=63338" TargetMode="External"/><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vimeo.com/20786583" TargetMode="External"/><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giphy.com/"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A85D277-17EC-7033-962F-361EAF05DFDF}"/>
              </a:ext>
            </a:extLst>
          </p:cNvPr>
          <p:cNvPicPr>
            <a:picLocks noChangeAspect="1"/>
          </p:cNvPicPr>
          <p:nvPr/>
        </p:nvPicPr>
        <p:blipFill rotWithShape="1">
          <a:blip r:embed="rId2">
            <a:extLst>
              <a:ext uri="{28A0092B-C50C-407E-A947-70E740481C1C}">
                <a14:useLocalDpi xmlns:a14="http://schemas.microsoft.com/office/drawing/2010/main" val="0"/>
              </a:ext>
            </a:extLst>
          </a:blip>
          <a:srcRect l="4445" r="6667"/>
          <a:stretch/>
        </p:blipFill>
        <p:spPr>
          <a:xfrm>
            <a:off x="-1" y="0"/>
            <a:ext cx="12192001" cy="6858000"/>
          </a:xfrm>
          <a:prstGeom prst="rect">
            <a:avLst/>
          </a:prstGeom>
        </p:spPr>
      </p:pic>
    </p:spTree>
    <p:extLst>
      <p:ext uri="{BB962C8B-B14F-4D97-AF65-F5344CB8AC3E}">
        <p14:creationId xmlns:p14="http://schemas.microsoft.com/office/powerpoint/2010/main" val="840223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0609" y="125975"/>
            <a:ext cx="3364014" cy="1083848"/>
          </a:xfrm>
        </p:spPr>
        <p:txBody>
          <a:bodyPr/>
          <a:lstStyle/>
          <a:p>
            <a:r>
              <a:rPr lang="en-CA" dirty="0">
                <a:latin typeface="Berlin Sans FB" panose="020E0602020502020306" pitchFamily="34" charset="0"/>
              </a:rPr>
              <a:t>Introduction</a:t>
            </a:r>
          </a:p>
        </p:txBody>
      </p:sp>
      <p:sp>
        <p:nvSpPr>
          <p:cNvPr id="3" name="Content Placeholder 2"/>
          <p:cNvSpPr>
            <a:spLocks noGrp="1"/>
          </p:cNvSpPr>
          <p:nvPr>
            <p:ph idx="1"/>
          </p:nvPr>
        </p:nvSpPr>
        <p:spPr>
          <a:xfrm>
            <a:off x="1104314" y="1463823"/>
            <a:ext cx="8553157" cy="4554874"/>
          </a:xfrm>
        </p:spPr>
        <p:txBody>
          <a:bodyPr>
            <a:normAutofit/>
          </a:bodyPr>
          <a:lstStyle/>
          <a:p>
            <a:pPr algn="just"/>
            <a:r>
              <a:rPr lang="en-CA" dirty="0">
                <a:solidFill>
                  <a:schemeClr val="tx1">
                    <a:lumMod val="95000"/>
                    <a:lumOff val="5000"/>
                  </a:schemeClr>
                </a:solidFill>
                <a:latin typeface="Berlin Sans FB" panose="020E0602020502020306" pitchFamily="34" charset="0"/>
              </a:rPr>
              <a:t>Multimedia is a form of communication that uses the combination of different contents form such as text, audio, images, animations or video into a single interactive presentation.</a:t>
            </a:r>
          </a:p>
          <a:p>
            <a:pPr algn="just"/>
            <a:r>
              <a:rPr lang="en-CA" dirty="0">
                <a:solidFill>
                  <a:schemeClr val="tx1">
                    <a:lumMod val="95000"/>
                    <a:lumOff val="5000"/>
                  </a:schemeClr>
                </a:solidFill>
                <a:latin typeface="Berlin Sans FB" panose="020E0602020502020306" pitchFamily="34" charset="0"/>
              </a:rPr>
              <a:t>Multimedia can be recorded for playback on computers, laptops, smartphones and other electronic devices.</a:t>
            </a:r>
          </a:p>
          <a:p>
            <a:pPr algn="just"/>
            <a:r>
              <a:rPr lang="en-CA" dirty="0">
                <a:solidFill>
                  <a:schemeClr val="tx1">
                    <a:lumMod val="95000"/>
                    <a:lumOff val="5000"/>
                  </a:schemeClr>
                </a:solidFill>
                <a:latin typeface="Berlin Sans FB" panose="020E0602020502020306" pitchFamily="34" charset="0"/>
              </a:rPr>
              <a:t>Some examples of multimedia includes video podcast, audio slideshows and animated videos. </a:t>
            </a:r>
          </a:p>
        </p:txBody>
      </p:sp>
    </p:spTree>
    <p:extLst>
      <p:ext uri="{BB962C8B-B14F-4D97-AF65-F5344CB8AC3E}">
        <p14:creationId xmlns:p14="http://schemas.microsoft.com/office/powerpoint/2010/main" val="267948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500"/>
                                        <p:tgtEl>
                                          <p:spTgt spid="3">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t="-39000" b="-3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solidFill>
                  <a:schemeClr val="tx1"/>
                </a:solidFill>
                <a:latin typeface="Berlin Sans FB" panose="020E0602020502020306" pitchFamily="34" charset="0"/>
              </a:rPr>
              <a:t>Components of Multimedia</a:t>
            </a:r>
          </a:p>
        </p:txBody>
      </p:sp>
      <p:sp>
        <p:nvSpPr>
          <p:cNvPr id="3" name="Content Placeholder 2"/>
          <p:cNvSpPr>
            <a:spLocks noGrp="1"/>
          </p:cNvSpPr>
          <p:nvPr>
            <p:ph idx="1"/>
          </p:nvPr>
        </p:nvSpPr>
        <p:spPr>
          <a:xfrm>
            <a:off x="731520" y="1690688"/>
            <a:ext cx="10622280" cy="4486275"/>
          </a:xfrm>
          <a:solidFill>
            <a:schemeClr val="accent3">
              <a:lumMod val="75000"/>
              <a:alpha val="51000"/>
            </a:schemeClr>
          </a:solidFill>
        </p:spPr>
        <p:txBody>
          <a:bodyPr>
            <a:normAutofit fontScale="92500" lnSpcReduction="20000"/>
          </a:bodyPr>
          <a:lstStyle/>
          <a:p>
            <a:pPr marL="0" indent="0">
              <a:buNone/>
            </a:pPr>
            <a:br>
              <a:rPr lang="en-CA" dirty="0">
                <a:latin typeface="Berlin Sans FB" panose="020E0602020502020306" pitchFamily="34" charset="0"/>
              </a:rPr>
            </a:br>
            <a:r>
              <a:rPr lang="en-CA" dirty="0">
                <a:latin typeface="Berlin Sans FB" panose="020E0602020502020306" pitchFamily="34" charset="0"/>
              </a:rPr>
              <a:t>1)  Text: </a:t>
            </a:r>
          </a:p>
          <a:p>
            <a:pPr marL="0" indent="0">
              <a:buNone/>
            </a:pPr>
            <a:r>
              <a:rPr lang="en-CA" dirty="0">
                <a:latin typeface="Berlin Sans FB" panose="020E0602020502020306" pitchFamily="34" charset="0"/>
              </a:rPr>
              <a:t>Text is the most common medium of representing the information. In multimedia, text is mostly use for titles, headlines , menu etc. The most commonly used software for viewing text files are Microsoft Word, Notepad, Word pad etc</a:t>
            </a:r>
            <a:r>
              <a:rPr lang="en-CA" i="1" dirty="0">
                <a:latin typeface="Berlin Sans FB" panose="020E0602020502020306" pitchFamily="34" charset="0"/>
              </a:rPr>
              <a:t>.</a:t>
            </a:r>
            <a:r>
              <a:rPr lang="en-CA" dirty="0">
                <a:latin typeface="Berlin Sans FB" panose="020E0602020502020306" pitchFamily="34" charset="0"/>
              </a:rPr>
              <a:t> Mostly the text files are formatted with ,DOC, TXT </a:t>
            </a:r>
            <a:r>
              <a:rPr lang="en-CA" dirty="0" err="1">
                <a:latin typeface="Berlin Sans FB" panose="020E0602020502020306" pitchFamily="34" charset="0"/>
              </a:rPr>
              <a:t>etc</a:t>
            </a:r>
            <a:r>
              <a:rPr lang="en-CA" dirty="0">
                <a:latin typeface="Berlin Sans FB" panose="020E0602020502020306" pitchFamily="34" charset="0"/>
              </a:rPr>
              <a:t> extension.</a:t>
            </a:r>
          </a:p>
          <a:p>
            <a:pPr marL="0" indent="0">
              <a:buNone/>
            </a:pPr>
            <a:r>
              <a:rPr lang="en-CA" dirty="0">
                <a:latin typeface="Berlin Sans FB" panose="020E0602020502020306" pitchFamily="34" charset="0"/>
              </a:rPr>
              <a:t>  2)Audio:</a:t>
            </a:r>
          </a:p>
          <a:p>
            <a:pPr marL="0" indent="0">
              <a:buNone/>
            </a:pPr>
            <a:r>
              <a:rPr lang="en-CA" dirty="0">
                <a:latin typeface="Berlin Sans FB" panose="020E0602020502020306" pitchFamily="34" charset="0"/>
              </a:rPr>
              <a:t>     In multimedia audio means related with recording, playing etc. Audio is an important components of multimedia because this component increase the understandability and improves the clarity of the concept. Audio includes speech, music etc. The commonly used software for playing audio files are:</a:t>
            </a:r>
            <a:br>
              <a:rPr lang="en-CA" dirty="0">
                <a:latin typeface="Berlin Sans FB" panose="020E0602020502020306" pitchFamily="34" charset="0"/>
              </a:rPr>
            </a:br>
            <a:r>
              <a:rPr lang="en-CA" i="1" dirty="0" err="1">
                <a:latin typeface="Berlin Sans FB" panose="020E0602020502020306" pitchFamily="34" charset="0"/>
              </a:rPr>
              <a:t>i</a:t>
            </a:r>
            <a:r>
              <a:rPr lang="en-CA" dirty="0">
                <a:latin typeface="Berlin Sans FB" panose="020E0602020502020306" pitchFamily="34" charset="0"/>
              </a:rPr>
              <a:t>) Quick Time</a:t>
            </a:r>
            <a:br>
              <a:rPr lang="en-CA" dirty="0">
                <a:latin typeface="Berlin Sans FB" panose="020E0602020502020306" pitchFamily="34" charset="0"/>
              </a:rPr>
            </a:br>
            <a:r>
              <a:rPr lang="en-CA" dirty="0">
                <a:latin typeface="Berlin Sans FB" panose="020E0602020502020306" pitchFamily="34" charset="0"/>
              </a:rPr>
              <a:t>ii) Real player</a:t>
            </a:r>
            <a:br>
              <a:rPr lang="en-CA" dirty="0">
                <a:latin typeface="Berlin Sans FB" panose="020E0602020502020306" pitchFamily="34" charset="0"/>
              </a:rPr>
            </a:br>
            <a:r>
              <a:rPr lang="en-CA" dirty="0">
                <a:latin typeface="Berlin Sans FB" panose="020E0602020502020306" pitchFamily="34" charset="0"/>
              </a:rPr>
              <a:t>iii) Windows Media Player</a:t>
            </a:r>
            <a:br>
              <a:rPr lang="en-CA" dirty="0">
                <a:latin typeface="Berlin Sans FB" panose="020E0602020502020306" pitchFamily="34" charset="0"/>
              </a:rPr>
            </a:br>
            <a:endParaRPr lang="en-CA" dirty="0">
              <a:latin typeface="Berlin Sans FB" panose="020E0602020502020306" pitchFamily="34" charset="0"/>
            </a:endParaRPr>
          </a:p>
        </p:txBody>
      </p:sp>
    </p:spTree>
    <p:extLst>
      <p:ext uri="{BB962C8B-B14F-4D97-AF65-F5344CB8AC3E}">
        <p14:creationId xmlns:p14="http://schemas.microsoft.com/office/powerpoint/2010/main" val="2954231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dissolv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dissolv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extLst>
              <a:ext uri="{837473B0-CC2E-450A-ABE3-18F120FF3D39}">
                <a1611:picAttrSrcUrl xmlns:a1611="http://schemas.microsoft.com/office/drawing/2016/11/main" r:id="rId3"/>
              </a:ext>
            </a:extLst>
          </a:blip>
          <a:stretch>
            <a:fillRect/>
          </a:stretch>
        </a:blipFill>
        <a:effectLst/>
      </p:bgPr>
    </p:bg>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35932CCE-E7E7-DE80-6B0B-063A4FCFC672}"/>
              </a:ext>
            </a:extLst>
          </p:cNvPr>
          <p:cNvSpPr>
            <a:spLocks noGrp="1"/>
          </p:cNvSpPr>
          <p:nvPr>
            <p:ph idx="1"/>
          </p:nvPr>
        </p:nvSpPr>
        <p:spPr>
          <a:xfrm>
            <a:off x="562707" y="386862"/>
            <a:ext cx="11113477" cy="6213230"/>
          </a:xfrm>
          <a:solidFill>
            <a:schemeClr val="lt1">
              <a:alpha val="38000"/>
            </a:schemeClr>
          </a:solidFill>
          <a:effectLst>
            <a:reflection endPos="0" dist="50800" dir="5400000" sy="-100000" algn="bl" rotWithShape="0"/>
          </a:effectLst>
        </p:spPr>
        <p:style>
          <a:lnRef idx="2">
            <a:schemeClr val="dk1"/>
          </a:lnRef>
          <a:fillRef idx="1">
            <a:schemeClr val="lt1"/>
          </a:fillRef>
          <a:effectRef idx="0">
            <a:schemeClr val="dk1"/>
          </a:effectRef>
          <a:fontRef idx="minor">
            <a:schemeClr val="dk1"/>
          </a:fontRef>
        </p:style>
        <p:txBody>
          <a:bodyPr>
            <a:normAutofit fontScale="55000" lnSpcReduction="20000"/>
          </a:bodyPr>
          <a:lstStyle/>
          <a:p>
            <a:pPr marL="0" indent="0">
              <a:buNone/>
            </a:pPr>
            <a:endParaRPr lang="en-CA" sz="2800"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endParaRPr>
          </a:p>
          <a:p>
            <a:pPr marL="0" indent="0">
              <a:buNone/>
            </a:pPr>
            <a:r>
              <a:rPr lang="en-CA" sz="2800"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t> 3)  </a:t>
            </a:r>
            <a:r>
              <a:rPr lang="en-CA" sz="2800" u="sng"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t>Graphics</a:t>
            </a:r>
            <a:r>
              <a:rPr lang="en-CA" sz="2800"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t>: </a:t>
            </a:r>
          </a:p>
          <a:p>
            <a:r>
              <a:rPr lang="en-CA" sz="2800"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t>  Every multimedia presentation is based on graphics. The use of graphics in multimedia makes the concept more effective and presentable. The commonly used software for viewing graphics are windows Picture, Internet Explorer </a:t>
            </a:r>
            <a:r>
              <a:rPr lang="en-CA" sz="2800" i="1"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t>etc.</a:t>
            </a:r>
            <a:r>
              <a:rPr lang="en-CA" sz="2800"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t> The commonly used graphics editing software is Adobe Photoshop through which graphics can be edited easily and can be make effective and attractive.</a:t>
            </a:r>
            <a:br>
              <a:rPr lang="en-CA" sz="2800"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br>
            <a:endParaRPr lang="en-CA" sz="2800"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endParaRPr>
          </a:p>
          <a:p>
            <a:pPr marL="0" indent="0">
              <a:buNone/>
            </a:pPr>
            <a:r>
              <a:rPr lang="en-CA" sz="2800"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t> 4) </a:t>
            </a:r>
            <a:r>
              <a:rPr lang="en-CA" sz="2800" u="sng"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t>Video</a:t>
            </a:r>
            <a:r>
              <a:rPr lang="en-CA" sz="2800"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t>: </a:t>
            </a:r>
          </a:p>
          <a:p>
            <a:r>
              <a:rPr lang="en-CA" sz="2800"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t>  Video means moving pictures with sound. It is the best way to communicate with each other. In multimedia it is used to makes the information more presentable and it saves a large amount of time. The commonly used software for viewing videos are:</a:t>
            </a:r>
            <a:br>
              <a:rPr lang="en-CA" sz="2800"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br>
            <a:r>
              <a:rPr lang="en-CA" sz="2800" dirty="0" err="1">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t>i</a:t>
            </a:r>
            <a:r>
              <a:rPr lang="en-CA" sz="2800"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t>) Quick Time</a:t>
            </a:r>
            <a:br>
              <a:rPr lang="en-CA" sz="2800"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br>
            <a:r>
              <a:rPr lang="en-CA" sz="2800"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t>ii) Window Media Player</a:t>
            </a:r>
            <a:br>
              <a:rPr lang="en-CA" sz="2800"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br>
            <a:r>
              <a:rPr lang="en-CA" sz="2800"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t>iii) Real Player</a:t>
            </a:r>
            <a:br>
              <a:rPr lang="en-CA" sz="2800"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br>
            <a:endParaRPr lang="en-CA" sz="2800"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endParaRPr>
          </a:p>
          <a:p>
            <a:pPr marL="0" indent="0">
              <a:buNone/>
            </a:pPr>
            <a:r>
              <a:rPr lang="en-CA" sz="2800"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t> 5)</a:t>
            </a:r>
            <a:r>
              <a:rPr lang="en-CA" sz="2800" u="sng"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t>Animation</a:t>
            </a:r>
            <a:r>
              <a:rPr lang="en-CA" sz="2800"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t>: </a:t>
            </a:r>
          </a:p>
          <a:p>
            <a:r>
              <a:rPr lang="en-CA" sz="2800"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t>   In computer animation is used to make changes to the images so that the sequence of the images appears to be moving pictures. An animated sequence shows a number of frames per second to produce an effect of motion in the user's eye. Some of the commonly used software for viewing animation are:</a:t>
            </a:r>
            <a:br>
              <a:rPr lang="en-CA" sz="2800"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br>
            <a:r>
              <a:rPr lang="en-CA" sz="2800" dirty="0" err="1">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t>i</a:t>
            </a:r>
            <a:r>
              <a:rPr lang="en-CA" sz="2800"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t>) Internet Explorer</a:t>
            </a:r>
            <a:br>
              <a:rPr lang="en-CA" sz="2800"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br>
            <a:r>
              <a:rPr lang="en-CA" sz="2800"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t>ii) Windows Pictures</a:t>
            </a:r>
            <a:br>
              <a:rPr lang="en-CA" sz="2800"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br>
            <a:r>
              <a:rPr lang="en-CA" sz="2800"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latin typeface="Berlin Sans FB" panose="020E0602020502020306" pitchFamily="34" charset="0"/>
              </a:rPr>
              <a:t>iii) Fax Viewer</a:t>
            </a:r>
          </a:p>
          <a:p>
            <a:endParaRPr lang="en-CA"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endParaRPr>
          </a:p>
          <a:p>
            <a:endParaRPr lang="en-US" dirty="0">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a:solidFill>
                <a:schemeClr val="dk1">
                  <a:alpha val="95000"/>
                </a:schemeClr>
              </a:solidFill>
            </a:endParaRPr>
          </a:p>
        </p:txBody>
      </p:sp>
    </p:spTree>
    <p:extLst>
      <p:ext uri="{BB962C8B-B14F-4D97-AF65-F5344CB8AC3E}">
        <p14:creationId xmlns:p14="http://schemas.microsoft.com/office/powerpoint/2010/main" val="2121016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CA" dirty="0">
                <a:latin typeface="Berlin Sans FB" panose="020E0602020502020306" pitchFamily="34" charset="0"/>
              </a:rPr>
              <a:t>Application Area of multimedia  </a:t>
            </a:r>
          </a:p>
        </p:txBody>
      </p:sp>
      <p:sp>
        <p:nvSpPr>
          <p:cNvPr id="3" name="Content Placeholder 2"/>
          <p:cNvSpPr>
            <a:spLocks noGrp="1"/>
          </p:cNvSpPr>
          <p:nvPr>
            <p:ph idx="1"/>
          </p:nvPr>
        </p:nvSpPr>
        <p:spPr/>
        <p:txBody>
          <a:bodyPr>
            <a:normAutofit fontScale="85000" lnSpcReduction="10000"/>
          </a:bodyPr>
          <a:lstStyle/>
          <a:p>
            <a:pPr marL="0" indent="0" algn="just">
              <a:buNone/>
            </a:pPr>
            <a:r>
              <a:rPr lang="en-US" dirty="0">
                <a:latin typeface="Berlin Sans FB" panose="020E0602020502020306" pitchFamily="34" charset="0"/>
              </a:rPr>
              <a:t>  1)</a:t>
            </a:r>
            <a:r>
              <a:rPr lang="en-US" b="1" dirty="0">
                <a:latin typeface="Berlin Sans FB" panose="020E0602020502020306" pitchFamily="34" charset="0"/>
              </a:rPr>
              <a:t> </a:t>
            </a:r>
            <a:r>
              <a:rPr lang="en-US" dirty="0">
                <a:latin typeface="Berlin Sans FB" panose="020E0602020502020306" pitchFamily="34" charset="0"/>
              </a:rPr>
              <a:t>Entertainment and Fine Arts: </a:t>
            </a:r>
            <a:endParaRPr lang="en-CA" dirty="0">
              <a:latin typeface="Berlin Sans FB" panose="020E0602020502020306" pitchFamily="34" charset="0"/>
            </a:endParaRPr>
          </a:p>
          <a:p>
            <a:pPr algn="just"/>
            <a:r>
              <a:rPr lang="en-US" dirty="0">
                <a:latin typeface="Berlin Sans FB" panose="020E0602020502020306" pitchFamily="34" charset="0"/>
              </a:rPr>
              <a:t>Multimedia is heavily used in the entertainment  industry, especially to develop special effects in movies  and animations. Multimedia games are a popular pastime and are software programs available either as CD-ROMs  or online. Some video games also use multimedia  features.</a:t>
            </a:r>
            <a:endParaRPr lang="en-CA" dirty="0">
              <a:latin typeface="Berlin Sans FB" panose="020E0602020502020306" pitchFamily="34" charset="0"/>
            </a:endParaRPr>
          </a:p>
          <a:p>
            <a:pPr marL="0" indent="0" algn="just">
              <a:buNone/>
            </a:pPr>
            <a:r>
              <a:rPr lang="en-US" dirty="0">
                <a:latin typeface="Berlin Sans FB" panose="020E0602020502020306" pitchFamily="34" charset="0"/>
              </a:rPr>
              <a:t>   2) Education: </a:t>
            </a:r>
            <a:endParaRPr lang="en-CA" dirty="0">
              <a:latin typeface="Berlin Sans FB" panose="020E0602020502020306" pitchFamily="34" charset="0"/>
            </a:endParaRPr>
          </a:p>
          <a:p>
            <a:pPr algn="just"/>
            <a:r>
              <a:rPr lang="en-US" dirty="0">
                <a:latin typeface="Berlin Sans FB" panose="020E0602020502020306" pitchFamily="34" charset="0"/>
              </a:rPr>
              <a:t>In Education, multimedia is used to produce computer based training courses (popularly called CBTs) and reference books like encyclopedia. Edutainment is an  informal term used to describe combining education with  entertainment, especially multimedia entertainment. The  idea of media convergence is also becoming a major  factor in education, particularly higher education. </a:t>
            </a:r>
            <a:endParaRPr lang="en-CA" dirty="0">
              <a:latin typeface="Berlin Sans FB" panose="020E0602020502020306" pitchFamily="34" charset="0"/>
            </a:endParaRPr>
          </a:p>
          <a:p>
            <a:pPr algn="just"/>
            <a:endParaRPr lang="en-CA" dirty="0"/>
          </a:p>
        </p:txBody>
      </p:sp>
    </p:spTree>
    <p:extLst>
      <p:ext uri="{BB962C8B-B14F-4D97-AF65-F5344CB8AC3E}">
        <p14:creationId xmlns:p14="http://schemas.microsoft.com/office/powerpoint/2010/main" val="1687950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down)">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04797-0EE3-4400-BCED-990B76625FDC}"/>
              </a:ext>
            </a:extLst>
          </p:cNvPr>
          <p:cNvSpPr>
            <a:spLocks noGrp="1"/>
          </p:cNvSpPr>
          <p:nvPr>
            <p:ph type="title"/>
          </p:nvPr>
        </p:nvSpPr>
        <p:spPr/>
        <p:txBody>
          <a:bodyPr/>
          <a:lstStyle/>
          <a:p>
            <a:r>
              <a:rPr lang="en-US" b="1" dirty="0"/>
              <a:t>Characteristics of Multimedia</a:t>
            </a:r>
          </a:p>
        </p:txBody>
      </p:sp>
      <p:sp>
        <p:nvSpPr>
          <p:cNvPr id="3" name="Content Placeholder 2">
            <a:extLst>
              <a:ext uri="{FF2B5EF4-FFF2-40B4-BE49-F238E27FC236}">
                <a16:creationId xmlns:a16="http://schemas.microsoft.com/office/drawing/2014/main" id="{D419AF76-2C02-C7F1-848B-859127DA2901}"/>
              </a:ext>
            </a:extLst>
          </p:cNvPr>
          <p:cNvSpPr>
            <a:spLocks noGrp="1"/>
          </p:cNvSpPr>
          <p:nvPr>
            <p:ph idx="1"/>
          </p:nvPr>
        </p:nvSpPr>
        <p:spPr/>
        <p:txBody>
          <a:bodyPr/>
          <a:lstStyle/>
          <a:p>
            <a:r>
              <a:rPr lang="en-US" dirty="0"/>
              <a:t>Multimedia systems must be computer controlled.</a:t>
            </a:r>
          </a:p>
          <a:p>
            <a:r>
              <a:rPr lang="en-US" dirty="0"/>
              <a:t>Multimedia systems are integrated</a:t>
            </a:r>
          </a:p>
          <a:p>
            <a:r>
              <a:rPr lang="en-US" dirty="0"/>
              <a:t>The information they handle must be represented digitally</a:t>
            </a:r>
          </a:p>
          <a:p>
            <a:r>
              <a:rPr lang="en-US" dirty="0"/>
              <a:t>The interface to the final presentation of media is usually interactive</a:t>
            </a:r>
          </a:p>
        </p:txBody>
      </p:sp>
    </p:spTree>
    <p:extLst>
      <p:ext uri="{BB962C8B-B14F-4D97-AF65-F5344CB8AC3E}">
        <p14:creationId xmlns:p14="http://schemas.microsoft.com/office/powerpoint/2010/main" val="1197743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descr="Presentation Background Images - Free Download on Freepik"/>
          <p:cNvSpPr>
            <a:spLocks noGrp="1" noChangeAspect="1" noChangeArrowheads="1"/>
          </p:cNvSpPr>
          <p:nvPr>
            <p:ph idx="1"/>
          </p:nvPr>
        </p:nvSpPr>
        <p:spPr bwMode="auto">
          <a:xfrm>
            <a:off x="352425" y="436563"/>
            <a:ext cx="11001375" cy="5740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just"/>
            <a:r>
              <a:rPr lang="en-US" dirty="0">
                <a:latin typeface="Berlin Sans FB" panose="020E0602020502020306" pitchFamily="34" charset="0"/>
              </a:rPr>
              <a:t>3) Mathematical and Scientific Research: </a:t>
            </a:r>
            <a:endParaRPr lang="en-CA" dirty="0">
              <a:latin typeface="Berlin Sans FB" panose="020E0602020502020306" pitchFamily="34" charset="0"/>
            </a:endParaRPr>
          </a:p>
          <a:p>
            <a:pPr algn="just"/>
            <a:r>
              <a:rPr lang="en-US" dirty="0">
                <a:latin typeface="Berlin Sans FB" panose="020E0602020502020306" pitchFamily="34" charset="0"/>
              </a:rPr>
              <a:t>In Mathematical and Scientific Research, multimedia is  mainly used for modeling and simulation. </a:t>
            </a:r>
          </a:p>
          <a:p>
            <a:pPr algn="just"/>
            <a:endParaRPr lang="en-CA" dirty="0">
              <a:latin typeface="Berlin Sans FB" panose="020E0602020502020306" pitchFamily="34" charset="0"/>
            </a:endParaRPr>
          </a:p>
          <a:p>
            <a:pPr marL="0" indent="0" algn="just">
              <a:buNone/>
            </a:pPr>
            <a:r>
              <a:rPr lang="en-US" dirty="0">
                <a:latin typeface="Berlin Sans FB" panose="020E0602020502020306" pitchFamily="34" charset="0"/>
              </a:rPr>
              <a:t>  4) Medicine: </a:t>
            </a:r>
            <a:endParaRPr lang="en-CA" dirty="0">
              <a:latin typeface="Berlin Sans FB" panose="020E0602020502020306" pitchFamily="34" charset="0"/>
            </a:endParaRPr>
          </a:p>
          <a:p>
            <a:pPr marL="0" indent="0" algn="just">
              <a:buNone/>
            </a:pPr>
            <a:r>
              <a:rPr lang="en-US" dirty="0">
                <a:latin typeface="Berlin Sans FB" panose="020E0602020502020306" pitchFamily="34" charset="0"/>
              </a:rPr>
              <a:t>   In Medicine, doctors can get trained by looking at a virtual  surgery. They can simulate how the human body is affected by diseases spread by viruses and bacteria and  then develop techniques to prevent it.</a:t>
            </a:r>
            <a:endParaRPr lang="en-CA" dirty="0">
              <a:latin typeface="Berlin Sans FB" panose="020E0602020502020306" pitchFamily="34" charset="0"/>
            </a:endParaRPr>
          </a:p>
          <a:p>
            <a:pPr marL="0" indent="0" algn="just">
              <a:buNone/>
            </a:pPr>
            <a:endParaRPr lang="en-CA" dirty="0"/>
          </a:p>
        </p:txBody>
      </p:sp>
    </p:spTree>
    <p:extLst>
      <p:ext uri="{BB962C8B-B14F-4D97-AF65-F5344CB8AC3E}">
        <p14:creationId xmlns:p14="http://schemas.microsoft.com/office/powerpoint/2010/main" val="3498459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dissolve">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Image File Format</a:t>
            </a:r>
          </a:p>
        </p:txBody>
      </p:sp>
      <p:sp>
        <p:nvSpPr>
          <p:cNvPr id="3" name="Content Placeholder 2"/>
          <p:cNvSpPr>
            <a:spLocks noGrp="1"/>
          </p:cNvSpPr>
          <p:nvPr>
            <p:ph idx="1"/>
          </p:nvPr>
        </p:nvSpPr>
        <p:spPr/>
        <p:txBody>
          <a:bodyPr>
            <a:normAutofit lnSpcReduction="10000"/>
          </a:bodyPr>
          <a:lstStyle/>
          <a:p>
            <a:pPr marL="0" indent="0" algn="just" fontAlgn="base">
              <a:buNone/>
            </a:pPr>
            <a:r>
              <a:rPr lang="en-US" sz="3200" b="1" dirty="0"/>
              <a:t>Vector vs. Raster</a:t>
            </a:r>
          </a:p>
          <a:p>
            <a:pPr marL="0" indent="0" algn="just" fontAlgn="base">
              <a:buNone/>
            </a:pPr>
            <a:r>
              <a:rPr lang="en-US" b="1" dirty="0"/>
              <a:t>Raster Image Files</a:t>
            </a:r>
          </a:p>
          <a:p>
            <a:pPr algn="just" fontAlgn="base"/>
            <a:r>
              <a:rPr lang="en-US" dirty="0"/>
              <a:t>Raster images are constructed by a series of pixels, or individual blocks, to form an image. JPEG, GIF, and PNG are all raster image extensions. Every photo you find online or in print is a raster image. Pixels have a defined proportion based on their resolution (high or low), and when the pixels are stretched to fill space they were not originally intended to fit, they become distorted, resulting in blurry or unclear images.</a:t>
            </a:r>
          </a:p>
        </p:txBody>
      </p:sp>
    </p:spTree>
    <p:extLst>
      <p:ext uri="{BB962C8B-B14F-4D97-AF65-F5344CB8AC3E}">
        <p14:creationId xmlns:p14="http://schemas.microsoft.com/office/powerpoint/2010/main" val="1591485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Vector Image Files</a:t>
            </a:r>
          </a:p>
        </p:txBody>
      </p:sp>
      <p:sp>
        <p:nvSpPr>
          <p:cNvPr id="3" name="Content Placeholder 2"/>
          <p:cNvSpPr>
            <a:spLocks noGrp="1"/>
          </p:cNvSpPr>
          <p:nvPr>
            <p:ph idx="1"/>
          </p:nvPr>
        </p:nvSpPr>
        <p:spPr/>
        <p:txBody>
          <a:bodyPr/>
          <a:lstStyle/>
          <a:p>
            <a:pPr algn="just" fontAlgn="base"/>
            <a:r>
              <a:rPr lang="en-US" dirty="0"/>
              <a:t>Vector images are far more flexible. They are constructed using proportional formulas rather than pixels. EPS, AI and PDF are perfect for </a:t>
            </a:r>
            <a:r>
              <a:rPr lang="en-US" dirty="0" err="1"/>
              <a:t>creataing</a:t>
            </a:r>
            <a:r>
              <a:rPr lang="en-US" dirty="0"/>
              <a:t> graphics that require frequent resizing. Your logo and brand graphics should have been created as a vector, and you should always have a master file on hand. The real beauty of vectors lies in their ability to be sized as small as a postage stamp, or large enough to fit on an 18-wheeler!</a:t>
            </a:r>
          </a:p>
        </p:txBody>
      </p:sp>
    </p:spTree>
    <p:extLst>
      <p:ext uri="{BB962C8B-B14F-4D97-AF65-F5344CB8AC3E}">
        <p14:creationId xmlns:p14="http://schemas.microsoft.com/office/powerpoint/2010/main" val="3510793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Image File Format</a:t>
            </a:r>
            <a:endParaRPr lang="en-US" dirty="0"/>
          </a:p>
        </p:txBody>
      </p:sp>
      <p:sp>
        <p:nvSpPr>
          <p:cNvPr id="3" name="Content Placeholder 2"/>
          <p:cNvSpPr>
            <a:spLocks noGrp="1"/>
          </p:cNvSpPr>
          <p:nvPr>
            <p:ph idx="1"/>
          </p:nvPr>
        </p:nvSpPr>
        <p:spPr/>
        <p:txBody>
          <a:bodyPr>
            <a:normAutofit fontScale="92500" lnSpcReduction="10000"/>
          </a:bodyPr>
          <a:lstStyle/>
          <a:p>
            <a:pPr marL="0" indent="0" algn="just" fontAlgn="base">
              <a:buNone/>
            </a:pPr>
            <a:r>
              <a:rPr lang="en-US" dirty="0"/>
              <a:t>1. JPEG (or JPG) - Joint Photographic Experts Group</a:t>
            </a:r>
          </a:p>
          <a:p>
            <a:pPr algn="just" fontAlgn="base"/>
            <a:r>
              <a:rPr lang="en-US" dirty="0"/>
              <a:t>JPEGs might be the most common file type you run across on the web, and more than likely the kind of image that is in your company's MS Word version of its letterhead. JPEGs are known for their "</a:t>
            </a:r>
            <a:r>
              <a:rPr lang="en-US" dirty="0" err="1"/>
              <a:t>lossy</a:t>
            </a:r>
            <a:r>
              <a:rPr lang="en-US" dirty="0"/>
              <a:t>" compression, meaning that the quality of the image decreases as the file size decreases.</a:t>
            </a:r>
          </a:p>
          <a:p>
            <a:pPr marL="0" indent="0" algn="just" fontAlgn="base">
              <a:buNone/>
            </a:pPr>
            <a:r>
              <a:rPr lang="en-US" dirty="0"/>
              <a:t>2. PNG - Portable Network Graphics</a:t>
            </a:r>
          </a:p>
          <a:p>
            <a:pPr algn="just" fontAlgn="base"/>
            <a:r>
              <a:rPr lang="en-US" dirty="0"/>
              <a:t>PNGs are amazing for interactive documents such as web pages but are not suitable for print. While PNGs are "lossless," meaning you can edit them and not lose quality, they are still low resolution.</a:t>
            </a:r>
          </a:p>
          <a:p>
            <a:pPr marL="0" indent="0" algn="just" fontAlgn="base">
              <a:buNone/>
            </a:pPr>
            <a:endParaRPr lang="en-US" dirty="0"/>
          </a:p>
        </p:txBody>
      </p:sp>
    </p:spTree>
    <p:extLst>
      <p:ext uri="{BB962C8B-B14F-4D97-AF65-F5344CB8AC3E}">
        <p14:creationId xmlns:p14="http://schemas.microsoft.com/office/powerpoint/2010/main" val="3873244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Image File Format</a:t>
            </a:r>
            <a:endParaRPr lang="en-US" dirty="0"/>
          </a:p>
        </p:txBody>
      </p:sp>
      <p:sp>
        <p:nvSpPr>
          <p:cNvPr id="3" name="Content Placeholder 2"/>
          <p:cNvSpPr>
            <a:spLocks noGrp="1"/>
          </p:cNvSpPr>
          <p:nvPr>
            <p:ph idx="1"/>
          </p:nvPr>
        </p:nvSpPr>
        <p:spPr/>
        <p:txBody>
          <a:bodyPr>
            <a:normAutofit fontScale="85000" lnSpcReduction="20000"/>
          </a:bodyPr>
          <a:lstStyle/>
          <a:p>
            <a:pPr marL="0" indent="0" algn="just" fontAlgn="base">
              <a:buNone/>
            </a:pPr>
            <a:r>
              <a:rPr lang="en-US" dirty="0"/>
              <a:t>3. GIF - Graphics Interchange Format</a:t>
            </a:r>
          </a:p>
          <a:p>
            <a:pPr algn="just" fontAlgn="base"/>
            <a:r>
              <a:rPr lang="en-US" dirty="0"/>
              <a:t>GIFs are most common in their animated form, which are all the rage on Tumblr pages and in banner ads. It seems like every day we see pop culture GIF references from </a:t>
            </a:r>
            <a:r>
              <a:rPr lang="en-US" dirty="0" err="1">
                <a:hlinkClick r:id="rId2"/>
              </a:rPr>
              <a:t>Giphy</a:t>
            </a:r>
            <a:r>
              <a:rPr lang="en-US" dirty="0"/>
              <a:t> in the comments of social media posts. In their more basic form, GIFs are formed from up to 256 colors in the RGB </a:t>
            </a:r>
            <a:r>
              <a:rPr lang="en-US" dirty="0" err="1"/>
              <a:t>colorspace</a:t>
            </a:r>
            <a:r>
              <a:rPr lang="en-US" dirty="0"/>
              <a:t>. Due to the limited number of colors, the file size is drastically reduced.</a:t>
            </a:r>
          </a:p>
          <a:p>
            <a:pPr marL="0" indent="0" algn="just" fontAlgn="base">
              <a:buNone/>
            </a:pPr>
            <a:r>
              <a:rPr lang="en-US" dirty="0"/>
              <a:t>4. TIFF - Tagged Image File</a:t>
            </a:r>
          </a:p>
          <a:p>
            <a:pPr algn="just" fontAlgn="base"/>
            <a:r>
              <a:rPr lang="en-US" dirty="0"/>
              <a:t>A TIF is a large raster file that doesn't lose quality. This file type is known for using "lossless compression," meaning the original image data is maintained regardless of how often you might copy, re-save, or compress the original file.</a:t>
            </a:r>
            <a:br>
              <a:rPr lang="en-US" dirty="0"/>
            </a:br>
            <a:endParaRPr lang="en-US" dirty="0"/>
          </a:p>
        </p:txBody>
      </p:sp>
    </p:spTree>
    <p:extLst>
      <p:ext uri="{BB962C8B-B14F-4D97-AF65-F5344CB8AC3E}">
        <p14:creationId xmlns:p14="http://schemas.microsoft.com/office/powerpoint/2010/main" val="1678325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Image File Format</a:t>
            </a:r>
            <a:endParaRPr lang="en-US" dirty="0"/>
          </a:p>
        </p:txBody>
      </p:sp>
      <p:sp>
        <p:nvSpPr>
          <p:cNvPr id="3" name="Content Placeholder 2"/>
          <p:cNvSpPr>
            <a:spLocks noGrp="1"/>
          </p:cNvSpPr>
          <p:nvPr>
            <p:ph idx="1"/>
          </p:nvPr>
        </p:nvSpPr>
        <p:spPr/>
        <p:txBody>
          <a:bodyPr>
            <a:normAutofit fontScale="92500" lnSpcReduction="10000"/>
          </a:bodyPr>
          <a:lstStyle/>
          <a:p>
            <a:pPr marL="0" indent="0" algn="just" fontAlgn="base">
              <a:buNone/>
            </a:pPr>
            <a:r>
              <a:rPr lang="en-US" dirty="0"/>
              <a:t>5. PSD - Photoshop Document</a:t>
            </a:r>
          </a:p>
          <a:p>
            <a:pPr algn="just" fontAlgn="base"/>
            <a:r>
              <a:rPr lang="en-US" dirty="0"/>
              <a:t>PSDs are files that are created and saved in Adobe Photoshop, the most popular graphics editing software ever. This type of file contains "layers" that make modifying the image much easier to handle. This is also the program that generates the raster file types mentioned above.</a:t>
            </a:r>
          </a:p>
          <a:p>
            <a:pPr marL="0" indent="0" algn="just" fontAlgn="base">
              <a:buNone/>
            </a:pPr>
            <a:r>
              <a:rPr lang="en-US" dirty="0"/>
              <a:t>6. PDF - Portable Document Format</a:t>
            </a:r>
          </a:p>
          <a:p>
            <a:pPr algn="just" fontAlgn="base"/>
            <a:r>
              <a:rPr lang="en-US" dirty="0"/>
              <a:t>PDFs were invented by Adobe with the goal of capturing and reviewing rich information from any application, on any computer, with anyone, anywhere. I'd say they've been pretty successful so far.</a:t>
            </a:r>
          </a:p>
          <a:p>
            <a:pPr algn="just" fontAlgn="base"/>
            <a:endParaRPr lang="en-US" dirty="0"/>
          </a:p>
        </p:txBody>
      </p:sp>
    </p:spTree>
    <p:extLst>
      <p:ext uri="{BB962C8B-B14F-4D97-AF65-F5344CB8AC3E}">
        <p14:creationId xmlns:p14="http://schemas.microsoft.com/office/powerpoint/2010/main" val="2343964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Multimedia in Business</a:t>
            </a:r>
          </a:p>
        </p:txBody>
      </p:sp>
      <p:sp>
        <p:nvSpPr>
          <p:cNvPr id="3" name="Content Placeholder 2"/>
          <p:cNvSpPr>
            <a:spLocks noGrp="1"/>
          </p:cNvSpPr>
          <p:nvPr>
            <p:ph idx="1"/>
          </p:nvPr>
        </p:nvSpPr>
        <p:spPr/>
        <p:txBody>
          <a:bodyPr>
            <a:normAutofit fontScale="85000" lnSpcReduction="20000"/>
          </a:bodyPr>
          <a:lstStyle/>
          <a:p>
            <a:pPr algn="just"/>
            <a:r>
              <a:rPr lang="en-US" dirty="0"/>
              <a:t>Advertising: Multimedia is used in advertising to grab the attention of potential customers. Advertisements with video or animations tend to be more engaging and memorable than static images or text. Multimedia ads can be used on various platforms such as television, social media, and websites.</a:t>
            </a:r>
          </a:p>
          <a:p>
            <a:pPr algn="just"/>
            <a:r>
              <a:rPr lang="en-US" dirty="0"/>
              <a:t>Training and education: Multimedia is used for training and educating employees. Training videos, interactive courses, and simulations are examples of multimedia used in training. Multimedia can also be used to deliver educational content to customers such as tutorials, webinars, and e-learning courses.</a:t>
            </a:r>
          </a:p>
          <a:p>
            <a:pPr algn="just"/>
            <a:r>
              <a:rPr lang="en-US" dirty="0"/>
              <a:t>Presentations: Multimedia is used in presentations to convey complex ideas in a more engaging and understandable way. Presentations with multimedia elements are more visually appealing and tend to be more memorable than text-heavy presentations.</a:t>
            </a:r>
          </a:p>
        </p:txBody>
      </p:sp>
    </p:spTree>
    <p:extLst>
      <p:ext uri="{BB962C8B-B14F-4D97-AF65-F5344CB8AC3E}">
        <p14:creationId xmlns:p14="http://schemas.microsoft.com/office/powerpoint/2010/main" val="25673805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Multimedia in Business</a:t>
            </a:r>
            <a:endParaRPr lang="en-US" dirty="0"/>
          </a:p>
        </p:txBody>
      </p:sp>
      <p:sp>
        <p:nvSpPr>
          <p:cNvPr id="3" name="Content Placeholder 2"/>
          <p:cNvSpPr>
            <a:spLocks noGrp="1"/>
          </p:cNvSpPr>
          <p:nvPr>
            <p:ph idx="1"/>
          </p:nvPr>
        </p:nvSpPr>
        <p:spPr/>
        <p:txBody>
          <a:bodyPr>
            <a:normAutofit fontScale="85000" lnSpcReduction="10000"/>
          </a:bodyPr>
          <a:lstStyle/>
          <a:p>
            <a:pPr algn="just"/>
            <a:r>
              <a:rPr lang="en-US" dirty="0"/>
              <a:t>Product demonstrations: Multimedia is used to showcase products in a more interactive and engaging way. Product demos with multimedia elements such as videos, animations, and 3D models can give customers a better understanding of the product's features and benefits.</a:t>
            </a:r>
          </a:p>
          <a:p>
            <a:pPr algn="just"/>
            <a:r>
              <a:rPr lang="en-US" dirty="0"/>
              <a:t>Communication: Multimedia is used in business communication to enhance the effectiveness of the message. Multimedia elements such as images and videos can help to convey emotions and tone, making the message more impactful and persuasive.</a:t>
            </a:r>
          </a:p>
          <a:p>
            <a:pPr marL="0" indent="0" algn="just">
              <a:buNone/>
            </a:pPr>
            <a:r>
              <a:rPr lang="en-US" dirty="0"/>
              <a:t>In conclusion, the use of multimedia in business has become essential in today's digital age. Multimedia can help businesses to communicate more effectively, engage customers, and enhance the overall user experience.</a:t>
            </a:r>
          </a:p>
        </p:txBody>
      </p:sp>
    </p:spTree>
    <p:extLst>
      <p:ext uri="{BB962C8B-B14F-4D97-AF65-F5344CB8AC3E}">
        <p14:creationId xmlns:p14="http://schemas.microsoft.com/office/powerpoint/2010/main" val="328881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Web Based Multimedia</a:t>
            </a:r>
          </a:p>
        </p:txBody>
      </p:sp>
      <p:sp>
        <p:nvSpPr>
          <p:cNvPr id="3" name="Content Placeholder 2"/>
          <p:cNvSpPr>
            <a:spLocks noGrp="1"/>
          </p:cNvSpPr>
          <p:nvPr>
            <p:ph idx="1"/>
          </p:nvPr>
        </p:nvSpPr>
        <p:spPr/>
        <p:txBody>
          <a:bodyPr>
            <a:normAutofit fontScale="85000" lnSpcReduction="20000"/>
          </a:bodyPr>
          <a:lstStyle/>
          <a:p>
            <a:pPr marL="0" indent="0" algn="just">
              <a:buNone/>
            </a:pPr>
            <a:r>
              <a:rPr lang="en-US" dirty="0"/>
              <a:t>Web-based multimedia refers to the use of multimedia elements such as text, images, audio, and video on the internet. With the increasing popularity of the internet, web-based multimedia has become a critical aspect of online communication and marketing. Here are some examples of web-based multimedia:</a:t>
            </a:r>
          </a:p>
          <a:p>
            <a:pPr algn="just"/>
            <a:r>
              <a:rPr lang="en-US" dirty="0"/>
              <a:t>Websites: Websites are the most common example of web-based multimedia. Websites can contain text, images, audio, and video elements, and can be designed in a way that is interactive and engaging.</a:t>
            </a:r>
          </a:p>
          <a:p>
            <a:pPr algn="just"/>
            <a:r>
              <a:rPr lang="en-US" dirty="0"/>
              <a:t>Social media: Social media platforms such as Facebook, Twitter, and Instagram are examples of web-based multimedia. These platforms allow users to share text, images, and videos with their followers, making it an effective way to communicate with a broader audience.</a:t>
            </a:r>
          </a:p>
          <a:p>
            <a:pPr algn="just"/>
            <a:endParaRPr lang="en-US" dirty="0"/>
          </a:p>
        </p:txBody>
      </p:sp>
    </p:spTree>
    <p:extLst>
      <p:ext uri="{BB962C8B-B14F-4D97-AF65-F5344CB8AC3E}">
        <p14:creationId xmlns:p14="http://schemas.microsoft.com/office/powerpoint/2010/main" val="6815379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Web Based Multimedia</a:t>
            </a:r>
            <a:endParaRPr lang="en-US" dirty="0"/>
          </a:p>
        </p:txBody>
      </p:sp>
      <p:sp>
        <p:nvSpPr>
          <p:cNvPr id="3" name="Content Placeholder 2"/>
          <p:cNvSpPr>
            <a:spLocks noGrp="1"/>
          </p:cNvSpPr>
          <p:nvPr>
            <p:ph idx="1"/>
          </p:nvPr>
        </p:nvSpPr>
        <p:spPr/>
        <p:txBody>
          <a:bodyPr>
            <a:normAutofit fontScale="92500"/>
          </a:bodyPr>
          <a:lstStyle/>
          <a:p>
            <a:r>
              <a:rPr lang="en-US" dirty="0"/>
              <a:t>Online advertising: Web-based multimedia is widely used in online advertising. Advertisements with multimedia elements such as video or animations tend to be more engaging and memorable than static images or text.</a:t>
            </a:r>
          </a:p>
          <a:p>
            <a:r>
              <a:rPr lang="en-US" dirty="0"/>
              <a:t>Online streaming: Online streaming services such as Netflix and YouTube are examples of web-based multimedia. These services allow users to watch videos, TV shows, and movies online.</a:t>
            </a:r>
          </a:p>
          <a:p>
            <a:r>
              <a:rPr lang="en-US" dirty="0"/>
              <a:t>Webinars: Webinars are web-based multimedia presentations used for educational and marketing purposes. Webinars can be interactive and engaging, allowing attendees to ask questions and participate in discussions.</a:t>
            </a:r>
          </a:p>
        </p:txBody>
      </p:sp>
    </p:spTree>
    <p:extLst>
      <p:ext uri="{BB962C8B-B14F-4D97-AF65-F5344CB8AC3E}">
        <p14:creationId xmlns:p14="http://schemas.microsoft.com/office/powerpoint/2010/main" val="16941691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fontScheme name="Gallery">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164</TotalTime>
  <Words>1687</Words>
  <Application>Microsoft Office PowerPoint</Application>
  <PresentationFormat>Widescreen</PresentationFormat>
  <Paragraphs>68</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Berlin Sans FB</vt:lpstr>
      <vt:lpstr>Calibri</vt:lpstr>
      <vt:lpstr>Rockwell</vt:lpstr>
      <vt:lpstr>Gallery</vt:lpstr>
      <vt:lpstr>PowerPoint Presentation</vt:lpstr>
      <vt:lpstr>Introduction</vt:lpstr>
      <vt:lpstr>Components of Multimedia</vt:lpstr>
      <vt:lpstr>PowerPoint Presentation</vt:lpstr>
      <vt:lpstr>Application Area of multimedia  </vt:lpstr>
      <vt:lpstr>Characteristics of Multimedia</vt:lpstr>
      <vt:lpstr>PowerPoint Presentation</vt:lpstr>
      <vt:lpstr>Image File Format</vt:lpstr>
      <vt:lpstr>Vector Image Files</vt:lpstr>
      <vt:lpstr>Image File Format</vt:lpstr>
      <vt:lpstr>Image File Format</vt:lpstr>
      <vt:lpstr>Image File Format</vt:lpstr>
      <vt:lpstr>Multimedia in Business</vt:lpstr>
      <vt:lpstr>Multimedia in Business</vt:lpstr>
      <vt:lpstr>Web Based Multimedia</vt:lpstr>
      <vt:lpstr>Web Based Multimedia</vt:lpstr>
    </vt:vector>
  </TitlesOfParts>
  <Company>CtrlSoft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Multimedia</dc:title>
  <dc:creator>Amit Bajracharya</dc:creator>
  <cp:lastModifiedBy>Yachu</cp:lastModifiedBy>
  <cp:revision>18</cp:revision>
  <dcterms:created xsi:type="dcterms:W3CDTF">2023-03-22T10:49:22Z</dcterms:created>
  <dcterms:modified xsi:type="dcterms:W3CDTF">2024-01-20T13:07:59Z</dcterms:modified>
</cp:coreProperties>
</file>