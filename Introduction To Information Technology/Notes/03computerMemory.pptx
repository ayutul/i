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58" r:id="rId3"/>
    <p:sldId id="257" r:id="rId4"/>
    <p:sldId id="298" r:id="rId5"/>
    <p:sldId id="303" r:id="rId6"/>
    <p:sldId id="317" r:id="rId7"/>
    <p:sldId id="304" r:id="rId8"/>
    <p:sldId id="318" r:id="rId9"/>
    <p:sldId id="311" r:id="rId10"/>
    <p:sldId id="312" r:id="rId11"/>
    <p:sldId id="314" r:id="rId12"/>
    <p:sldId id="315" r:id="rId13"/>
    <p:sldId id="319" r:id="rId14"/>
    <p:sldId id="320" r:id="rId15"/>
    <p:sldId id="321" r:id="rId16"/>
    <p:sldId id="322" r:id="rId17"/>
    <p:sldId id="323" r:id="rId18"/>
    <p:sldId id="324" r:id="rId19"/>
    <p:sldId id="327" r:id="rId20"/>
    <p:sldId id="326" r:id="rId21"/>
    <p:sldId id="328" r:id="rId22"/>
    <p:sldId id="325" r:id="rId23"/>
    <p:sldId id="31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623" autoAdjust="0"/>
    <p:restoredTop sz="93883" autoAdjust="0"/>
  </p:normalViewPr>
  <p:slideViewPr>
    <p:cSldViewPr snapToGrid="0">
      <p:cViewPr varScale="1">
        <p:scale>
          <a:sx n="85" d="100"/>
          <a:sy n="85" d="100"/>
        </p:scale>
        <p:origin x="240" y="62"/>
      </p:cViewPr>
      <p:guideLst/>
    </p:cSldViewPr>
  </p:slideViewPr>
  <p:outlineViewPr>
    <p:cViewPr>
      <p:scale>
        <a:sx n="33" d="100"/>
        <a:sy n="33" d="100"/>
      </p:scale>
      <p:origin x="0" y="-14635"/>
    </p:cViewPr>
  </p:outlineViewPr>
  <p:notesTextViewPr>
    <p:cViewPr>
      <p:scale>
        <a:sx n="1" d="1"/>
        <a:sy n="1" d="1"/>
      </p:scale>
      <p:origin x="0" y="0"/>
    </p:cViewPr>
  </p:notesTextViewPr>
  <p:sorterViewPr>
    <p:cViewPr>
      <p:scale>
        <a:sx n="100" d="100"/>
        <a:sy n="100" d="100"/>
      </p:scale>
      <p:origin x="0" y="-3288"/>
    </p:cViewPr>
  </p:sorterViewPr>
  <p:notesViewPr>
    <p:cSldViewPr snapToGrid="0">
      <p:cViewPr varScale="1">
        <p:scale>
          <a:sx n="65" d="100"/>
          <a:sy n="65" d="100"/>
        </p:scale>
        <p:origin x="3154" y="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4A006D-C36D-4C0E-B9F8-EE11F4CB1163}" type="datetimeFigureOut">
              <a:rPr lang="en-US" smtClean="0"/>
              <a:t>12/13/2023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6907B-A815-4CA1-AF05-DA566111AA83}" type="slidenum">
              <a:rPr lang="en-US" smtClean="0"/>
              <a:t>‹#›</a:t>
            </a:fld>
            <a:endParaRPr lang="en-US"/>
          </a:p>
        </p:txBody>
      </p:sp>
    </p:spTree>
    <p:extLst>
      <p:ext uri="{BB962C8B-B14F-4D97-AF65-F5344CB8AC3E}">
        <p14:creationId xmlns:p14="http://schemas.microsoft.com/office/powerpoint/2010/main" val="312053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136907B-A815-4CA1-AF05-DA566111AA83}" type="slidenum">
              <a:rPr lang="en-US" smtClean="0"/>
              <a:t>22</a:t>
            </a:fld>
            <a:endParaRPr lang="en-US"/>
          </a:p>
        </p:txBody>
      </p:sp>
    </p:spTree>
    <p:extLst>
      <p:ext uri="{BB962C8B-B14F-4D97-AF65-F5344CB8AC3E}">
        <p14:creationId xmlns:p14="http://schemas.microsoft.com/office/powerpoint/2010/main" val="22885065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B1526FE-7AD0-45B0-AFA7-6FC8B0DFF9EF}" type="datetime1">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2590219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D5BD8AC-2CBF-4F84-A7A2-C45D6281DD87}" type="datetime1">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3329857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68AA524-57E3-463D-BAAF-87C7F387CE50}" type="datetime1">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1443632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873E5E-E5A2-4530-92A0-88E9239549A5}" type="datetime1">
              <a:rPr lang="en-US" smtClean="0"/>
              <a:t>12/13/2023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18206063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66B041-817D-4E17-9ECC-A168C8B85804}" type="datetime1">
              <a:rPr lang="en-US" smtClean="0"/>
              <a:t>12/13/2023</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239445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607E92-3DD8-4FF1-83AB-C857D0C9E69B}" type="datetime1">
              <a:rPr lang="en-US" smtClean="0"/>
              <a:t>12/13/2023</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2263463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DD6C24-4F6A-4794-9F0D-DF464AFE5571}" type="datetime1">
              <a:rPr lang="en-US" smtClean="0"/>
              <a:t>12/13/2023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3987263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60FDF4D-6BF1-451F-8D49-F70ED428DBC6}" type="datetime1">
              <a:rPr lang="en-US" smtClean="0"/>
              <a:t>12/13/2023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2513732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E2FF42E-8012-4EBD-893B-6F7152EAE7F7}" type="datetime1">
              <a:rPr lang="en-US" smtClean="0"/>
              <a:t>12/13/2023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23361231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573234D-03DA-427F-9068-ECE9ECD2EF9D}" type="datetime1">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3581762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6257D91-9581-4D46-B133-7E6B2449AA9C}" type="datetime1">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A7A6E9C-5E3E-4EF1-A1F5-09F1FAA1BC14}"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9708836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8A52A87F-2F7E-4E9F-9EFA-0F209A017A4B}" type="datetime1">
              <a:rPr lang="en-US" smtClean="0"/>
              <a:t>12/13/2023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2898283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21B14DB8-1EA7-40CA-8E9F-315E53B91170}" type="datetime1">
              <a:rPr lang="en-US" smtClean="0"/>
              <a:t>12/13/2023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7A6E9C-5E3E-4EF1-A1F5-09F1FAA1BC14}"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00394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CDA589CB-5CA8-4453-88FB-82530E5298D5}" type="datetime1">
              <a:rPr lang="en-US" smtClean="0"/>
              <a:t>12/13/2023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2633799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833124-BBD5-4F37-8B32-40CA21547E8F}" type="datetime1">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7386594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474803-261B-4166-A0F4-4684E1E9E251}" type="datetime1">
              <a:rPr lang="en-US" smtClean="0"/>
              <a:t>12/13/2023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A7A6E9C-5E3E-4EF1-A1F5-09F1FAA1BC14}" type="slidenum">
              <a:rPr lang="en-US" smtClean="0"/>
              <a:t>‹#›</a:t>
            </a:fld>
            <a:endParaRPr lang="en-US"/>
          </a:p>
        </p:txBody>
      </p:sp>
    </p:spTree>
    <p:extLst>
      <p:ext uri="{BB962C8B-B14F-4D97-AF65-F5344CB8AC3E}">
        <p14:creationId xmlns:p14="http://schemas.microsoft.com/office/powerpoint/2010/main" val="91986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E00DB90-7F20-4B8A-87F4-4E51D150ADA9}" type="datetime1">
              <a:rPr lang="en-US" smtClean="0"/>
              <a:t>12/13/2023</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A7A6E9C-5E3E-4EF1-A1F5-09F1FAA1BC14}" type="slidenum">
              <a:rPr lang="en-US" smtClean="0"/>
              <a:t>‹#›</a:t>
            </a:fld>
            <a:endParaRPr lang="en-US"/>
          </a:p>
        </p:txBody>
      </p:sp>
    </p:spTree>
    <p:extLst>
      <p:ext uri="{BB962C8B-B14F-4D97-AF65-F5344CB8AC3E}">
        <p14:creationId xmlns:p14="http://schemas.microsoft.com/office/powerpoint/2010/main" val="30090897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collegenote.net/curriculum/introduction-to-information-technology/15/199/" TargetMode="External"/><Relationship Id="rId3" Type="http://schemas.openxmlformats.org/officeDocument/2006/relationships/hyperlink" Target="https://www.collegenote.net/curriculum/introduction-to-information-technology/15/194/" TargetMode="External"/><Relationship Id="rId7" Type="http://schemas.openxmlformats.org/officeDocument/2006/relationships/hyperlink" Target="https://www.collegenote.net/curriculum/introduction-to-information-technology/15/198/" TargetMode="External"/><Relationship Id="rId2" Type="http://schemas.openxmlformats.org/officeDocument/2006/relationships/hyperlink" Target="https://www.collegenote.net/curriculum/introduction-to-information-technology/15/193/" TargetMode="External"/><Relationship Id="rId1" Type="http://schemas.openxmlformats.org/officeDocument/2006/relationships/slideLayout" Target="../slideLayouts/slideLayout2.xml"/><Relationship Id="rId6" Type="http://schemas.openxmlformats.org/officeDocument/2006/relationships/hyperlink" Target="https://www.collegenote.net/curriculum/introduction-to-information-technology/15/197/" TargetMode="External"/><Relationship Id="rId5" Type="http://schemas.openxmlformats.org/officeDocument/2006/relationships/hyperlink" Target="https://www.collegenote.net/curriculum/introduction-to-information-technology/15/196/" TargetMode="External"/><Relationship Id="rId4" Type="http://schemas.openxmlformats.org/officeDocument/2006/relationships/hyperlink" Target="https://www.collegenote.net/curriculum/introduction-to-information-technology/15/195/"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web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hyperlink" Target="https://www.britannica.com/science/magnetic-field"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67044" y="3429000"/>
            <a:ext cx="8915399" cy="2262781"/>
          </a:xfrm>
        </p:spPr>
        <p:txBody>
          <a:bodyPr>
            <a:normAutofit/>
          </a:bodyPr>
          <a:lstStyle/>
          <a:p>
            <a:r>
              <a:rPr lang="en-US" dirty="0"/>
              <a:t>Unit 3</a:t>
            </a:r>
            <a:br>
              <a:rPr lang="en-US" dirty="0"/>
            </a:br>
            <a:r>
              <a:rPr lang="en-US" dirty="0"/>
              <a:t>Computer Memory</a:t>
            </a:r>
          </a:p>
        </p:txBody>
      </p:sp>
      <p:sp>
        <p:nvSpPr>
          <p:cNvPr id="4" name="Slide Number Placeholder 3"/>
          <p:cNvSpPr>
            <a:spLocks noGrp="1"/>
          </p:cNvSpPr>
          <p:nvPr>
            <p:ph type="sldNum" sz="quarter" idx="12"/>
          </p:nvPr>
        </p:nvSpPr>
        <p:spPr/>
        <p:txBody>
          <a:bodyPr/>
          <a:lstStyle/>
          <a:p>
            <a:fld id="{BA7A6E9C-5E3E-4EF1-A1F5-09F1FAA1BC14}" type="slidenum">
              <a:rPr lang="en-US" smtClean="0"/>
              <a:t>1</a:t>
            </a:fld>
            <a:endParaRPr lang="en-US"/>
          </a:p>
        </p:txBody>
      </p:sp>
    </p:spTree>
    <p:extLst>
      <p:ext uri="{BB962C8B-B14F-4D97-AF65-F5344CB8AC3E}">
        <p14:creationId xmlns:p14="http://schemas.microsoft.com/office/powerpoint/2010/main" val="3934559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93D61-8E3C-C05F-6133-FA44BA89C96D}"/>
              </a:ext>
            </a:extLst>
          </p:cNvPr>
          <p:cNvSpPr>
            <a:spLocks noGrp="1"/>
          </p:cNvSpPr>
          <p:nvPr>
            <p:ph type="title"/>
          </p:nvPr>
        </p:nvSpPr>
        <p:spPr/>
        <p:txBody>
          <a:bodyPr/>
          <a:lstStyle/>
          <a:p>
            <a:r>
              <a:rPr lang="en-US" dirty="0"/>
              <a:t>Syllabus</a:t>
            </a:r>
          </a:p>
        </p:txBody>
      </p:sp>
      <p:sp>
        <p:nvSpPr>
          <p:cNvPr id="3" name="Content Placeholder 2">
            <a:extLst>
              <a:ext uri="{FF2B5EF4-FFF2-40B4-BE49-F238E27FC236}">
                <a16:creationId xmlns:a16="http://schemas.microsoft.com/office/drawing/2014/main" id="{BEE4E30E-D11B-421F-1357-E558B667DE20}"/>
              </a:ext>
            </a:extLst>
          </p:cNvPr>
          <p:cNvSpPr>
            <a:spLocks noGrp="1"/>
          </p:cNvSpPr>
          <p:nvPr>
            <p:ph idx="1"/>
          </p:nvPr>
        </p:nvSpPr>
        <p:spPr>
          <a:xfrm>
            <a:off x="2589212" y="1508289"/>
            <a:ext cx="8915400" cy="5349711"/>
          </a:xfrm>
        </p:spPr>
        <p:txBody>
          <a:bodyPr>
            <a:normAutofit/>
          </a:bodyPr>
          <a:lstStyle/>
          <a:p>
            <a:r>
              <a:rPr lang="en-US" sz="2800" dirty="0">
                <a:latin typeface="+mj-lt"/>
              </a:rPr>
              <a:t>Introduction</a:t>
            </a:r>
            <a:endParaRPr lang="en-US" sz="2800" b="0" i="0" dirty="0">
              <a:solidFill>
                <a:schemeClr val="tx1"/>
              </a:solidFill>
              <a:effectLst/>
              <a:latin typeface="+mj-lt"/>
            </a:endParaRPr>
          </a:p>
          <a:p>
            <a:r>
              <a:rPr lang="en-US" sz="2800" b="0" i="0" strike="noStrike" dirty="0">
                <a:solidFill>
                  <a:schemeClr val="tx1"/>
                </a:solidFill>
                <a:effectLst/>
                <a:latin typeface="+mj-lt"/>
                <a:hlinkClick r:id="rId2">
                  <a:extLst>
                    <a:ext uri="{A12FA001-AC4F-418D-AE19-62706E023703}">
                      <ahyp:hlinkClr xmlns:ahyp="http://schemas.microsoft.com/office/drawing/2018/hyperlinkcolor" val="tx"/>
                    </a:ext>
                  </a:extLst>
                </a:hlinkClick>
              </a:rPr>
              <a:t>Memory Hierarchy</a:t>
            </a:r>
            <a:endParaRPr lang="en-US" sz="2800" b="0" i="0" dirty="0">
              <a:solidFill>
                <a:schemeClr val="tx1"/>
              </a:solidFill>
              <a:effectLst/>
              <a:latin typeface="+mj-lt"/>
            </a:endParaRPr>
          </a:p>
          <a:p>
            <a:r>
              <a:rPr lang="en-US" sz="2800" b="0" i="0" strike="noStrike" dirty="0">
                <a:solidFill>
                  <a:schemeClr val="tx1"/>
                </a:solidFill>
                <a:effectLst/>
                <a:latin typeface="+mj-lt"/>
                <a:hlinkClick r:id="rId3">
                  <a:extLst>
                    <a:ext uri="{A12FA001-AC4F-418D-AE19-62706E023703}">
                      <ahyp:hlinkClr xmlns:ahyp="http://schemas.microsoft.com/office/drawing/2018/hyperlinkcolor" val="tx"/>
                    </a:ext>
                  </a:extLst>
                </a:hlinkClick>
              </a:rPr>
              <a:t>CPU Registers</a:t>
            </a:r>
            <a:endParaRPr lang="en-US" sz="2800" b="0" i="0" dirty="0">
              <a:solidFill>
                <a:schemeClr val="tx1"/>
              </a:solidFill>
              <a:effectLst/>
              <a:latin typeface="+mj-lt"/>
            </a:endParaRPr>
          </a:p>
          <a:p>
            <a:r>
              <a:rPr lang="en-US" sz="2800" b="0" i="0" strike="noStrike" dirty="0">
                <a:solidFill>
                  <a:schemeClr val="tx1"/>
                </a:solidFill>
                <a:effectLst/>
                <a:latin typeface="+mj-lt"/>
                <a:hlinkClick r:id="rId4">
                  <a:extLst>
                    <a:ext uri="{A12FA001-AC4F-418D-AE19-62706E023703}">
                      <ahyp:hlinkClr xmlns:ahyp="http://schemas.microsoft.com/office/drawing/2018/hyperlinkcolor" val="tx"/>
                    </a:ext>
                  </a:extLst>
                </a:hlinkClick>
              </a:rPr>
              <a:t>Cache Memory</a:t>
            </a:r>
            <a:endParaRPr lang="en-US" sz="2800" b="0" i="0" dirty="0">
              <a:solidFill>
                <a:schemeClr val="tx1"/>
              </a:solidFill>
              <a:effectLst/>
              <a:latin typeface="+mj-lt"/>
            </a:endParaRPr>
          </a:p>
          <a:p>
            <a:r>
              <a:rPr lang="en-US" sz="2800" b="0" i="0" strike="noStrike" dirty="0">
                <a:solidFill>
                  <a:schemeClr val="tx1"/>
                </a:solidFill>
                <a:effectLst/>
                <a:latin typeface="+mj-lt"/>
                <a:hlinkClick r:id="rId5">
                  <a:extLst>
                    <a:ext uri="{A12FA001-AC4F-418D-AE19-62706E023703}">
                      <ahyp:hlinkClr xmlns:ahyp="http://schemas.microsoft.com/office/drawing/2018/hyperlinkcolor" val="tx"/>
                    </a:ext>
                  </a:extLst>
                </a:hlinkClick>
              </a:rPr>
              <a:t>Primary Memory</a:t>
            </a:r>
            <a:endParaRPr lang="en-US" sz="2800" b="0" i="0" dirty="0">
              <a:solidFill>
                <a:schemeClr val="tx1"/>
              </a:solidFill>
              <a:effectLst/>
              <a:latin typeface="+mj-lt"/>
            </a:endParaRPr>
          </a:p>
          <a:p>
            <a:r>
              <a:rPr lang="en-US" sz="2800" b="0" i="0" strike="noStrike" dirty="0">
                <a:solidFill>
                  <a:schemeClr val="tx1"/>
                </a:solidFill>
                <a:effectLst/>
                <a:latin typeface="+mj-lt"/>
                <a:hlinkClick r:id="rId6">
                  <a:extLst>
                    <a:ext uri="{A12FA001-AC4F-418D-AE19-62706E023703}">
                      <ahyp:hlinkClr xmlns:ahyp="http://schemas.microsoft.com/office/drawing/2018/hyperlinkcolor" val="tx"/>
                    </a:ext>
                  </a:extLst>
                </a:hlinkClick>
              </a:rPr>
              <a:t>Secondary Memory (Introduction)</a:t>
            </a:r>
            <a:endParaRPr lang="en-US" sz="2800" b="0" i="0" dirty="0">
              <a:solidFill>
                <a:schemeClr val="tx1"/>
              </a:solidFill>
              <a:effectLst/>
              <a:latin typeface="+mj-lt"/>
            </a:endParaRPr>
          </a:p>
          <a:p>
            <a:r>
              <a:rPr lang="en-US" sz="2800" b="0" i="0" strike="noStrike" dirty="0">
                <a:solidFill>
                  <a:schemeClr val="tx1"/>
                </a:solidFill>
                <a:effectLst/>
                <a:latin typeface="+mj-lt"/>
                <a:hlinkClick r:id="rId7">
                  <a:extLst>
                    <a:ext uri="{A12FA001-AC4F-418D-AE19-62706E023703}">
                      <ahyp:hlinkClr xmlns:ahyp="http://schemas.microsoft.com/office/drawing/2018/hyperlinkcolor" val="tx"/>
                    </a:ext>
                  </a:extLst>
                </a:hlinkClick>
              </a:rPr>
              <a:t>Types of Secondary Memory</a:t>
            </a:r>
            <a:endParaRPr lang="en-US" sz="2800" b="0" i="0" dirty="0">
              <a:solidFill>
                <a:schemeClr val="tx1"/>
              </a:solidFill>
              <a:effectLst/>
              <a:latin typeface="+mj-lt"/>
            </a:endParaRPr>
          </a:p>
          <a:p>
            <a:r>
              <a:rPr lang="en-US" sz="2800" b="0" i="0" strike="noStrike" dirty="0">
                <a:solidFill>
                  <a:schemeClr val="tx1"/>
                </a:solidFill>
                <a:effectLst/>
                <a:latin typeface="+mj-lt"/>
                <a:hlinkClick r:id="rId8">
                  <a:extLst>
                    <a:ext uri="{A12FA001-AC4F-418D-AE19-62706E023703}">
                      <ahyp:hlinkClr xmlns:ahyp="http://schemas.microsoft.com/office/drawing/2018/hyperlinkcolor" val="tx"/>
                    </a:ext>
                  </a:extLst>
                </a:hlinkClick>
              </a:rPr>
              <a:t>How the Computer uses its memory?</a:t>
            </a:r>
            <a:endParaRPr lang="en-US" sz="2800" b="0" i="0" dirty="0">
              <a:solidFill>
                <a:schemeClr val="tx1"/>
              </a:solidFill>
              <a:effectLst/>
              <a:latin typeface="+mj-lt"/>
            </a:endParaRPr>
          </a:p>
          <a:p>
            <a:endParaRPr lang="en-US" sz="2800" dirty="0"/>
          </a:p>
        </p:txBody>
      </p:sp>
      <p:sp>
        <p:nvSpPr>
          <p:cNvPr id="4" name="Slide Number Placeholder 3">
            <a:extLst>
              <a:ext uri="{FF2B5EF4-FFF2-40B4-BE49-F238E27FC236}">
                <a16:creationId xmlns:a16="http://schemas.microsoft.com/office/drawing/2014/main" id="{C5C861FF-6202-B0F7-6B71-A23DA6DB4455}"/>
              </a:ext>
            </a:extLst>
          </p:cNvPr>
          <p:cNvSpPr>
            <a:spLocks noGrp="1"/>
          </p:cNvSpPr>
          <p:nvPr>
            <p:ph type="sldNum" sz="quarter" idx="12"/>
          </p:nvPr>
        </p:nvSpPr>
        <p:spPr/>
        <p:txBody>
          <a:bodyPr/>
          <a:lstStyle/>
          <a:p>
            <a:fld id="{BA7A6E9C-5E3E-4EF1-A1F5-09F1FAA1BC14}" type="slidenum">
              <a:rPr lang="en-US" smtClean="0"/>
              <a:t>2</a:t>
            </a:fld>
            <a:endParaRPr lang="en-US"/>
          </a:p>
        </p:txBody>
      </p:sp>
    </p:spTree>
    <p:extLst>
      <p:ext uri="{BB962C8B-B14F-4D97-AF65-F5344CB8AC3E}">
        <p14:creationId xmlns:p14="http://schemas.microsoft.com/office/powerpoint/2010/main" val="3553354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p>
        </p:txBody>
      </p:sp>
      <p:sp>
        <p:nvSpPr>
          <p:cNvPr id="3" name="Content Placeholder 2"/>
          <p:cNvSpPr>
            <a:spLocks noGrp="1"/>
          </p:cNvSpPr>
          <p:nvPr>
            <p:ph idx="1"/>
          </p:nvPr>
        </p:nvSpPr>
        <p:spPr>
          <a:xfrm>
            <a:off x="838199" y="1825624"/>
            <a:ext cx="11067855" cy="5032376"/>
          </a:xfrm>
        </p:spPr>
        <p:txBody>
          <a:bodyPr>
            <a:normAutofit fontScale="62500" lnSpcReduction="20000"/>
          </a:bodyPr>
          <a:lstStyle/>
          <a:p>
            <a:pPr marL="0" indent="0" algn="just">
              <a:buNone/>
            </a:pPr>
            <a:r>
              <a:rPr lang="en-US" sz="3200" b="1" i="0" dirty="0">
                <a:solidFill>
                  <a:srgbClr val="212529"/>
                </a:solidFill>
                <a:effectLst/>
              </a:rPr>
              <a:t>Computer memory</a:t>
            </a:r>
            <a:r>
              <a:rPr lang="en-US" sz="3200" b="0" i="0" dirty="0">
                <a:solidFill>
                  <a:srgbClr val="212529"/>
                </a:solidFill>
                <a:effectLst/>
              </a:rPr>
              <a:t> is the storage space in the computer, where data is to be processed and instructions required for processing and data for future retrieval are stored.</a:t>
            </a:r>
          </a:p>
          <a:p>
            <a:pPr marL="0" indent="0" algn="just">
              <a:buNone/>
            </a:pPr>
            <a:endParaRPr lang="en-US" sz="3200" b="0" i="0" dirty="0">
              <a:solidFill>
                <a:srgbClr val="212529"/>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900" b="1" i="0" u="sng" strike="noStrike" cap="none" normalizeH="0" baseline="0" dirty="0">
                <a:ln>
                  <a:noFill/>
                </a:ln>
                <a:solidFill>
                  <a:schemeClr val="accent2"/>
                </a:solidFill>
                <a:effectLst/>
                <a:cs typeface="Times New Roman" panose="02020603050405020304" pitchFamily="18" charset="0"/>
              </a:rPr>
              <a:t>Memory Representation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529"/>
                </a:solidFill>
                <a:effectLst/>
                <a:cs typeface="Times New Roman" panose="02020603050405020304" pitchFamily="18" charset="0"/>
              </a:rPr>
              <a:t>Memory unit is the amount of data that can be stored in the storage unit. This storage capacity is expressed in terms of Bytes.</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529"/>
                </a:solidFill>
                <a:effectLst/>
                <a:cs typeface="Times New Roman" panose="02020603050405020304" pitchFamily="18" charset="0"/>
              </a:rPr>
              <a:t>The main memory storage units are:</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12529"/>
                </a:solidFill>
                <a:effectLst/>
              </a:rPr>
              <a:t>Bit (Binary Digit):</a:t>
            </a:r>
            <a:r>
              <a:rPr kumimoji="0" lang="en-US" altLang="en-US" sz="2400" b="0" i="0" u="none" strike="noStrike" cap="none" normalizeH="0" baseline="0" dirty="0">
                <a:ln>
                  <a:noFill/>
                </a:ln>
                <a:solidFill>
                  <a:srgbClr val="212529"/>
                </a:solidFill>
                <a:effectLst/>
              </a:rPr>
              <a:t> A bit is a single binary digit, i.e., 0 or 1. A bit is the smallest unit of representation of data in a computer.</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12529"/>
                </a:solidFill>
                <a:effectLst/>
              </a:rPr>
              <a:t>Nibble: </a:t>
            </a:r>
            <a:r>
              <a:rPr kumimoji="0" lang="en-US" altLang="en-US" sz="2400" b="0" i="0" u="none" strike="noStrike" cap="none" normalizeH="0" baseline="0" dirty="0">
                <a:ln>
                  <a:noFill/>
                </a:ln>
                <a:solidFill>
                  <a:srgbClr val="212529"/>
                </a:solidFill>
                <a:effectLst/>
              </a:rPr>
              <a:t>A group of 4 bits is called nibble.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12529"/>
                </a:solidFill>
                <a:effectLst/>
              </a:rPr>
              <a:t>Byte:</a:t>
            </a:r>
            <a:r>
              <a:rPr kumimoji="0" lang="en-US" altLang="en-US" sz="2400" b="0" i="0" u="none" strike="noStrike" cap="none" normalizeH="0" baseline="0" dirty="0">
                <a:ln>
                  <a:noFill/>
                </a:ln>
                <a:solidFill>
                  <a:srgbClr val="212529"/>
                </a:solidFill>
                <a:effectLst/>
              </a:rPr>
              <a:t> A group of 8 bits is called byte. A byte is the smallest unit, which can represent a data item or a character.</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12529"/>
                </a:solidFill>
                <a:effectLst/>
                <a:cs typeface="Times New Roman" panose="02020603050405020304" pitchFamily="18" charset="0"/>
              </a:rPr>
              <a:t>Word:</a:t>
            </a:r>
            <a:r>
              <a:rPr kumimoji="0" lang="en-US" altLang="en-US" sz="2400" b="0" i="0" u="none" strike="noStrike" cap="none" normalizeH="0" baseline="0" dirty="0">
                <a:ln>
                  <a:noFill/>
                </a:ln>
                <a:solidFill>
                  <a:srgbClr val="212529"/>
                </a:solidFill>
                <a:effectLst/>
                <a:cs typeface="Times New Roman" panose="02020603050405020304" pitchFamily="18" charset="0"/>
              </a:rPr>
              <a:t> A group of bytes can be further combined to form a word. A word can be a group of 2, 4 or 8 bytes.</a:t>
            </a:r>
            <a:r>
              <a:rPr kumimoji="0" lang="en-US" altLang="en-US" sz="9600" b="0" i="0" u="none" strike="noStrike" cap="none" normalizeH="0" baseline="0" dirty="0">
                <a:ln>
                  <a:noFill/>
                </a:ln>
                <a:solidFill>
                  <a:srgbClr val="212529"/>
                </a:solidFill>
                <a:effectLst/>
              </a:rPr>
              <a:t>                     </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529"/>
                </a:solidFill>
                <a:effectLst/>
                <a:cs typeface="Times New Roman" panose="02020603050405020304" pitchFamily="18" charset="0"/>
              </a:rPr>
              <a:t>1 bit = 0 or 1</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529"/>
                </a:solidFill>
                <a:effectLst/>
                <a:cs typeface="Times New Roman" panose="02020603050405020304" pitchFamily="18" charset="0"/>
              </a:rPr>
              <a:t>1 Byte (B) = 8 bits</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529"/>
                </a:solidFill>
                <a:effectLst/>
                <a:cs typeface="Times New Roman" panose="02020603050405020304" pitchFamily="18" charset="0"/>
              </a:rPr>
              <a:t>1 Kilobyte (KB) = 1024 Bytes</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529"/>
                </a:solidFill>
                <a:effectLst/>
                <a:cs typeface="Times New Roman" panose="02020603050405020304" pitchFamily="18" charset="0"/>
              </a:rPr>
              <a:t>1 Megabyte (MB) = 1024KB</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529"/>
                </a:solidFill>
                <a:effectLst/>
                <a:cs typeface="Times New Roman" panose="02020603050405020304" pitchFamily="18" charset="0"/>
              </a:rPr>
              <a:t>1 Gigabyte (GB) =1024 MB</a:t>
            </a:r>
            <a:endParaRPr kumimoji="0" lang="en-US" altLang="en-US" sz="12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12529"/>
                </a:solidFill>
                <a:effectLst/>
                <a:cs typeface="Times New Roman" panose="02020603050405020304" pitchFamily="18" charset="0"/>
              </a:rPr>
              <a:t>1 Terabyte (TB) =1024 GB</a:t>
            </a:r>
            <a:endParaRPr lang="en-US" sz="2400" dirty="0"/>
          </a:p>
        </p:txBody>
      </p:sp>
      <p:sp>
        <p:nvSpPr>
          <p:cNvPr id="4" name="Slide Number Placeholder 3"/>
          <p:cNvSpPr>
            <a:spLocks noGrp="1"/>
          </p:cNvSpPr>
          <p:nvPr>
            <p:ph type="sldNum" sz="quarter" idx="12"/>
          </p:nvPr>
        </p:nvSpPr>
        <p:spPr/>
        <p:txBody>
          <a:bodyPr/>
          <a:lstStyle/>
          <a:p>
            <a:fld id="{BA7A6E9C-5E3E-4EF1-A1F5-09F1FAA1BC14}" type="slidenum">
              <a:rPr lang="en-US" smtClean="0"/>
              <a:t>3</a:t>
            </a:fld>
            <a:endParaRPr lang="en-US"/>
          </a:p>
        </p:txBody>
      </p:sp>
      <p:sp>
        <p:nvSpPr>
          <p:cNvPr id="5" name="Rectangle 1">
            <a:extLst>
              <a:ext uri="{FF2B5EF4-FFF2-40B4-BE49-F238E27FC236}">
                <a16:creationId xmlns:a16="http://schemas.microsoft.com/office/drawing/2014/main" id="{117ABAA2-999C-7BBB-2537-068A96144F9B}"/>
              </a:ext>
            </a:extLst>
          </p:cNvPr>
          <p:cNvSpPr>
            <a:spLocks noChangeArrowheads="1"/>
          </p:cNvSpPr>
          <p:nvPr/>
        </p:nvSpPr>
        <p:spPr bwMode="auto">
          <a:xfrm>
            <a:off x="6003634"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38291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a:t>Memory Hierarchy</a:t>
            </a:r>
          </a:p>
        </p:txBody>
      </p:sp>
      <p:sp>
        <p:nvSpPr>
          <p:cNvPr id="4" name="Slide Number Placeholder 3"/>
          <p:cNvSpPr>
            <a:spLocks noGrp="1"/>
          </p:cNvSpPr>
          <p:nvPr>
            <p:ph type="sldNum" sz="quarter" idx="12"/>
          </p:nvPr>
        </p:nvSpPr>
        <p:spPr/>
        <p:txBody>
          <a:bodyPr/>
          <a:lstStyle/>
          <a:p>
            <a:fld id="{106BED6A-76D1-48F6-AD62-2B6C443CFDDC}" type="slidenum">
              <a:rPr lang="en-US" smtClean="0"/>
              <a:t>4</a:t>
            </a:fld>
            <a:endParaRPr lang="en-US"/>
          </a:p>
        </p:txBody>
      </p:sp>
      <p:pic>
        <p:nvPicPr>
          <p:cNvPr id="6" name="Content Placeholder 5">
            <a:extLst>
              <a:ext uri="{FF2B5EF4-FFF2-40B4-BE49-F238E27FC236}">
                <a16:creationId xmlns:a16="http://schemas.microsoft.com/office/drawing/2014/main" id="{8AF520E4-C3DF-BD03-754D-19CAB63000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86704" y="2133600"/>
            <a:ext cx="8120417" cy="3778250"/>
          </a:xfrm>
        </p:spPr>
      </p:pic>
    </p:spTree>
    <p:extLst>
      <p:ext uri="{BB962C8B-B14F-4D97-AF65-F5344CB8AC3E}">
        <p14:creationId xmlns:p14="http://schemas.microsoft.com/office/powerpoint/2010/main" val="4235760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Cache Memory</a:t>
            </a:r>
          </a:p>
        </p:txBody>
      </p:sp>
      <p:sp>
        <p:nvSpPr>
          <p:cNvPr id="3" name="Content Placeholder 2"/>
          <p:cNvSpPr>
            <a:spLocks noGrp="1"/>
          </p:cNvSpPr>
          <p:nvPr>
            <p:ph idx="1"/>
          </p:nvPr>
        </p:nvSpPr>
        <p:spPr>
          <a:xfrm>
            <a:off x="2457237" y="1436017"/>
            <a:ext cx="9590219" cy="2108461"/>
          </a:xfrm>
        </p:spPr>
        <p:txBody>
          <a:bodyPr>
            <a:normAutofit/>
          </a:bodyPr>
          <a:lstStyle/>
          <a:p>
            <a:pPr algn="just"/>
            <a:r>
              <a:rPr lang="en-US" dirty="0">
                <a:latin typeface="Bahnschrift Light" panose="020B0502040204020203" pitchFamily="34" charset="0"/>
              </a:rPr>
              <a:t>It is high speed memory locations that resides between CPU and RAM.</a:t>
            </a:r>
          </a:p>
          <a:p>
            <a:pPr algn="just"/>
            <a:r>
              <a:rPr lang="en-US" dirty="0">
                <a:latin typeface="Bahnschrift Light" panose="020B0502040204020203" pitchFamily="34" charset="0"/>
              </a:rPr>
              <a:t>Speed of CPU is always higher than primary memory(RAM)</a:t>
            </a:r>
          </a:p>
          <a:p>
            <a:pPr algn="just"/>
            <a:r>
              <a:rPr lang="en-US" dirty="0">
                <a:latin typeface="Bahnschrift Light" panose="020B0502040204020203" pitchFamily="34" charset="0"/>
              </a:rPr>
              <a:t>Therefore, performance of CPU decreases due to slow speed of main memory.</a:t>
            </a:r>
          </a:p>
          <a:p>
            <a:pPr algn="just"/>
            <a:r>
              <a:rPr lang="en-US" dirty="0">
                <a:latin typeface="Bahnschrift Light" panose="020B0502040204020203" pitchFamily="34" charset="0"/>
              </a:rPr>
              <a:t>To compensate this delay small chip is established between CPU and RAM</a:t>
            </a:r>
          </a:p>
          <a:p>
            <a:pPr algn="just"/>
            <a:r>
              <a:rPr lang="en-US" dirty="0">
                <a:latin typeface="Bahnschrift Light" panose="020B0502040204020203" pitchFamily="34" charset="0"/>
              </a:rPr>
              <a:t>It store the data and instruction that the CPU is likely to required next</a:t>
            </a:r>
          </a:p>
        </p:txBody>
      </p:sp>
      <p:sp>
        <p:nvSpPr>
          <p:cNvPr id="4" name="Slide Number Placeholder 3"/>
          <p:cNvSpPr>
            <a:spLocks noGrp="1"/>
          </p:cNvSpPr>
          <p:nvPr>
            <p:ph type="sldNum" sz="quarter" idx="12"/>
          </p:nvPr>
        </p:nvSpPr>
        <p:spPr/>
        <p:txBody>
          <a:bodyPr/>
          <a:lstStyle/>
          <a:p>
            <a:fld id="{106BED6A-76D1-48F6-AD62-2B6C443CFDDC}" type="slidenum">
              <a:rPr lang="en-US" smtClean="0"/>
              <a:t>5</a:t>
            </a:fld>
            <a:endParaRPr lang="en-US"/>
          </a:p>
        </p:txBody>
      </p:sp>
      <p:pic>
        <p:nvPicPr>
          <p:cNvPr id="6" name="Picture 5">
            <a:extLst>
              <a:ext uri="{FF2B5EF4-FFF2-40B4-BE49-F238E27FC236}">
                <a16:creationId xmlns:a16="http://schemas.microsoft.com/office/drawing/2014/main" id="{EB284E0B-B4F2-A118-68D4-B65A1AE22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00703" y="3801871"/>
            <a:ext cx="5832403" cy="1620112"/>
          </a:xfrm>
          <a:prstGeom prst="rect">
            <a:avLst/>
          </a:prstGeom>
        </p:spPr>
      </p:pic>
    </p:spTree>
    <p:extLst>
      <p:ext uri="{BB962C8B-B14F-4D97-AF65-F5344CB8AC3E}">
        <p14:creationId xmlns:p14="http://schemas.microsoft.com/office/powerpoint/2010/main" val="1494059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Cache Memory</a:t>
            </a:r>
          </a:p>
        </p:txBody>
      </p:sp>
      <p:sp>
        <p:nvSpPr>
          <p:cNvPr id="3" name="Content Placeholder 2"/>
          <p:cNvSpPr>
            <a:spLocks noGrp="1"/>
          </p:cNvSpPr>
          <p:nvPr>
            <p:ph idx="1"/>
          </p:nvPr>
        </p:nvSpPr>
        <p:spPr>
          <a:xfrm>
            <a:off x="1151082" y="2991439"/>
            <a:ext cx="10877519" cy="3777622"/>
          </a:xfrm>
        </p:spPr>
        <p:txBody>
          <a:bodyPr>
            <a:normAutofit lnSpcReduction="10000"/>
          </a:bodyPr>
          <a:lstStyle/>
          <a:p>
            <a:pPr algn="just"/>
            <a:r>
              <a:rPr lang="en-US" sz="2400" dirty="0">
                <a:solidFill>
                  <a:schemeClr val="accent2"/>
                </a:solidFill>
                <a:latin typeface="Bahnschrift SemiBold SemiConden" panose="020B0502040204020203" pitchFamily="34" charset="0"/>
              </a:rPr>
              <a:t>Cache Hit: </a:t>
            </a:r>
            <a:r>
              <a:rPr lang="en-US" sz="2400" dirty="0">
                <a:latin typeface="Bahnschrift Light" panose="020B0502040204020203" pitchFamily="34" charset="0"/>
              </a:rPr>
              <a:t>When CPU needs data, it searches in the cache memory first. If the data is found in Cache memory, it is said to be cache hit.</a:t>
            </a:r>
          </a:p>
          <a:p>
            <a:pPr algn="just"/>
            <a:r>
              <a:rPr lang="en-US" sz="2400" dirty="0">
                <a:solidFill>
                  <a:schemeClr val="accent2"/>
                </a:solidFill>
                <a:latin typeface="Bahnschrift SemiBold SemiConden" panose="020B0502040204020203" pitchFamily="34" charset="0"/>
              </a:rPr>
              <a:t>Cache Miss: </a:t>
            </a:r>
            <a:r>
              <a:rPr lang="en-US" sz="2400" dirty="0">
                <a:latin typeface="Bahnschrift Light" panose="020B0502040204020203" pitchFamily="34" charset="0"/>
              </a:rPr>
              <a:t>If the data is found in cache memory and have to search into primary memory, it is said to cache miss</a:t>
            </a:r>
          </a:p>
          <a:p>
            <a:pPr algn="just"/>
            <a:r>
              <a:rPr lang="en-US" sz="2400" dirty="0">
                <a:latin typeface="Bahnschrift Light" panose="020B0502040204020203" pitchFamily="34" charset="0"/>
              </a:rPr>
              <a:t>Commonly appeared levels of Cache memory</a:t>
            </a:r>
          </a:p>
          <a:p>
            <a:pPr algn="just"/>
            <a:r>
              <a:rPr lang="en-US" sz="2400" dirty="0">
                <a:solidFill>
                  <a:schemeClr val="accent2">
                    <a:lumMod val="50000"/>
                  </a:schemeClr>
                </a:solidFill>
                <a:latin typeface="Bahnschrift SemiBold SemiConden" panose="020B0502040204020203" pitchFamily="34" charset="0"/>
              </a:rPr>
              <a:t>L1 Cache: </a:t>
            </a:r>
            <a:r>
              <a:rPr lang="en-US" sz="2400" dirty="0">
                <a:latin typeface="Bahnschrift Light" panose="020B0502040204020203" pitchFamily="34" charset="0"/>
              </a:rPr>
              <a:t>(internal or primary cache). It is build in processor chip. It is smallest, fastest and most expensive cache memory.</a:t>
            </a:r>
          </a:p>
          <a:p>
            <a:pPr algn="just"/>
            <a:r>
              <a:rPr lang="en-US" sz="2400" dirty="0">
                <a:solidFill>
                  <a:schemeClr val="accent2">
                    <a:lumMod val="50000"/>
                  </a:schemeClr>
                </a:solidFill>
                <a:latin typeface="Bahnschrift SemiBold SemiConden" panose="020B0502040204020203" pitchFamily="34" charset="0"/>
              </a:rPr>
              <a:t>L2 Cache</a:t>
            </a:r>
            <a:r>
              <a:rPr lang="en-US" sz="2400" dirty="0">
                <a:solidFill>
                  <a:schemeClr val="accent2">
                    <a:lumMod val="50000"/>
                  </a:schemeClr>
                </a:solidFill>
                <a:latin typeface="Bahnschrift Light" panose="020B0502040204020203" pitchFamily="34" charset="0"/>
              </a:rPr>
              <a:t>: </a:t>
            </a:r>
            <a:r>
              <a:rPr lang="en-US" sz="2400" dirty="0">
                <a:latin typeface="Bahnschrift Light" panose="020B0502040204020203" pitchFamily="34" charset="0"/>
              </a:rPr>
              <a:t>(external cache). It is build on motherboard separate from processor chip. It is slower than L1 cache.</a:t>
            </a:r>
          </a:p>
        </p:txBody>
      </p:sp>
      <p:sp>
        <p:nvSpPr>
          <p:cNvPr id="4" name="Slide Number Placeholder 3"/>
          <p:cNvSpPr>
            <a:spLocks noGrp="1"/>
          </p:cNvSpPr>
          <p:nvPr>
            <p:ph type="sldNum" sz="quarter" idx="12"/>
          </p:nvPr>
        </p:nvSpPr>
        <p:spPr/>
        <p:txBody>
          <a:bodyPr/>
          <a:lstStyle/>
          <a:p>
            <a:fld id="{106BED6A-76D1-48F6-AD62-2B6C443CFDDC}" type="slidenum">
              <a:rPr lang="en-US" smtClean="0"/>
              <a:t>6</a:t>
            </a:fld>
            <a:endParaRPr lang="en-US"/>
          </a:p>
        </p:txBody>
      </p:sp>
      <p:pic>
        <p:nvPicPr>
          <p:cNvPr id="5" name="Picture 4">
            <a:extLst>
              <a:ext uri="{FF2B5EF4-FFF2-40B4-BE49-F238E27FC236}">
                <a16:creationId xmlns:a16="http://schemas.microsoft.com/office/drawing/2014/main" id="{AA082F70-472B-9AB4-F7FE-83B06CCC4A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5556" y="252167"/>
            <a:ext cx="3326098" cy="2482222"/>
          </a:xfrm>
          <a:prstGeom prst="rect">
            <a:avLst/>
          </a:prstGeom>
        </p:spPr>
      </p:pic>
    </p:spTree>
    <p:extLst>
      <p:ext uri="{BB962C8B-B14F-4D97-AF65-F5344CB8AC3E}">
        <p14:creationId xmlns:p14="http://schemas.microsoft.com/office/powerpoint/2010/main" val="11717716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775F87-B6B8-4C69-838E-45F4250EA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53414" y="1954757"/>
            <a:ext cx="3441176" cy="2501470"/>
          </a:xfrm>
          <a:prstGeom prst="rect">
            <a:avLst/>
          </a:prstGeom>
        </p:spPr>
      </p:pic>
      <p:sp>
        <p:nvSpPr>
          <p:cNvPr id="2" name="Title 1"/>
          <p:cNvSpPr>
            <a:spLocks noGrp="1"/>
          </p:cNvSpPr>
          <p:nvPr>
            <p:ph type="title"/>
          </p:nvPr>
        </p:nvSpPr>
        <p:spPr>
          <a:xfrm>
            <a:off x="2592925" y="624110"/>
            <a:ext cx="8911687" cy="686216"/>
          </a:xfrm>
        </p:spPr>
        <p:txBody>
          <a:bodyPr/>
          <a:lstStyle/>
          <a:p>
            <a:r>
              <a:rPr lang="en-US" b="1" dirty="0"/>
              <a:t>Primary Memory</a:t>
            </a:r>
          </a:p>
        </p:txBody>
      </p:sp>
      <p:sp>
        <p:nvSpPr>
          <p:cNvPr id="3" name="Content Placeholder 2"/>
          <p:cNvSpPr>
            <a:spLocks noGrp="1"/>
          </p:cNvSpPr>
          <p:nvPr>
            <p:ph idx="1"/>
          </p:nvPr>
        </p:nvSpPr>
        <p:spPr>
          <a:xfrm>
            <a:off x="2589212" y="2133600"/>
            <a:ext cx="6385106" cy="3777622"/>
          </a:xfrm>
        </p:spPr>
        <p:txBody>
          <a:bodyPr/>
          <a:lstStyle/>
          <a:p>
            <a:pPr algn="just"/>
            <a:r>
              <a:rPr lang="en-US" dirty="0"/>
              <a:t>It is directly accessible directly by the processing unit(CPU).</a:t>
            </a:r>
          </a:p>
          <a:p>
            <a:pPr algn="just"/>
            <a:r>
              <a:rPr lang="en-US" dirty="0"/>
              <a:t>It stores the data and instructions that is required by the CPU during execution phase.</a:t>
            </a:r>
          </a:p>
          <a:p>
            <a:pPr algn="just"/>
            <a:r>
              <a:rPr lang="en-US" dirty="0"/>
              <a:t>Types of Primary memory:</a:t>
            </a:r>
          </a:p>
          <a:p>
            <a:pPr lvl="1" algn="just"/>
            <a:r>
              <a:rPr lang="en-US" sz="1800" dirty="0">
                <a:solidFill>
                  <a:schemeClr val="accent2">
                    <a:lumMod val="50000"/>
                  </a:schemeClr>
                </a:solidFill>
                <a:latin typeface="Arial Rounded MT Bold" panose="020F0704030504030204" pitchFamily="34" charset="0"/>
              </a:rPr>
              <a:t>RAM: Random Access Memory</a:t>
            </a:r>
          </a:p>
          <a:p>
            <a:pPr lvl="1" algn="just"/>
            <a:r>
              <a:rPr lang="en-US" sz="1800" dirty="0">
                <a:solidFill>
                  <a:schemeClr val="accent2">
                    <a:lumMod val="50000"/>
                  </a:schemeClr>
                </a:solidFill>
                <a:latin typeface="Arial Rounded MT Bold" panose="020F0704030504030204" pitchFamily="34" charset="0"/>
              </a:rPr>
              <a:t>ROM: Read Only Memory</a:t>
            </a:r>
            <a:endParaRPr lang="en-US" sz="1800" dirty="0"/>
          </a:p>
        </p:txBody>
      </p:sp>
      <p:sp>
        <p:nvSpPr>
          <p:cNvPr id="4" name="Slide Number Placeholder 3"/>
          <p:cNvSpPr>
            <a:spLocks noGrp="1"/>
          </p:cNvSpPr>
          <p:nvPr>
            <p:ph type="sldNum" sz="quarter" idx="12"/>
          </p:nvPr>
        </p:nvSpPr>
        <p:spPr/>
        <p:txBody>
          <a:bodyPr/>
          <a:lstStyle/>
          <a:p>
            <a:fld id="{106BED6A-76D1-48F6-AD62-2B6C443CFDDC}" type="slidenum">
              <a:rPr lang="en-US" smtClean="0"/>
              <a:t>7</a:t>
            </a:fld>
            <a:endParaRPr lang="en-US"/>
          </a:p>
        </p:txBody>
      </p:sp>
    </p:spTree>
    <p:extLst>
      <p:ext uri="{BB962C8B-B14F-4D97-AF65-F5344CB8AC3E}">
        <p14:creationId xmlns:p14="http://schemas.microsoft.com/office/powerpoint/2010/main" val="1963434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86216"/>
          </a:xfrm>
        </p:spPr>
        <p:txBody>
          <a:bodyPr/>
          <a:lstStyle/>
          <a:p>
            <a:r>
              <a:rPr lang="en-US" b="1" dirty="0"/>
              <a:t>RAM</a:t>
            </a:r>
          </a:p>
        </p:txBody>
      </p:sp>
      <p:sp>
        <p:nvSpPr>
          <p:cNvPr id="3" name="Content Placeholder 2"/>
          <p:cNvSpPr>
            <a:spLocks noGrp="1"/>
          </p:cNvSpPr>
          <p:nvPr>
            <p:ph idx="1"/>
          </p:nvPr>
        </p:nvSpPr>
        <p:spPr>
          <a:xfrm>
            <a:off x="2400676" y="1310326"/>
            <a:ext cx="6385106" cy="3777622"/>
          </a:xfrm>
        </p:spPr>
        <p:txBody>
          <a:bodyPr/>
          <a:lstStyle/>
          <a:p>
            <a:pPr algn="just"/>
            <a:r>
              <a:rPr lang="en-US" dirty="0"/>
              <a:t>It is a volatile memory which stores the data to be processed in CPU and processed information before it is transferred to secondary memory or output device</a:t>
            </a:r>
          </a:p>
          <a:p>
            <a:pPr algn="just"/>
            <a:endParaRPr lang="en-US" sz="1800" dirty="0"/>
          </a:p>
        </p:txBody>
      </p:sp>
      <p:sp>
        <p:nvSpPr>
          <p:cNvPr id="4" name="Slide Number Placeholder 3"/>
          <p:cNvSpPr>
            <a:spLocks noGrp="1"/>
          </p:cNvSpPr>
          <p:nvPr>
            <p:ph type="sldNum" sz="quarter" idx="12"/>
          </p:nvPr>
        </p:nvSpPr>
        <p:spPr/>
        <p:txBody>
          <a:bodyPr/>
          <a:lstStyle/>
          <a:p>
            <a:fld id="{106BED6A-76D1-48F6-AD62-2B6C443CFDDC}" type="slidenum">
              <a:rPr lang="en-US" smtClean="0"/>
              <a:t>8</a:t>
            </a:fld>
            <a:endParaRPr lang="en-US"/>
          </a:p>
        </p:txBody>
      </p:sp>
      <p:graphicFrame>
        <p:nvGraphicFramePr>
          <p:cNvPr id="5" name="Table 4">
            <a:extLst>
              <a:ext uri="{FF2B5EF4-FFF2-40B4-BE49-F238E27FC236}">
                <a16:creationId xmlns:a16="http://schemas.microsoft.com/office/drawing/2014/main" id="{81E6EEF0-6E72-6B7C-FF85-8AA1E6F57770}"/>
              </a:ext>
            </a:extLst>
          </p:cNvPr>
          <p:cNvGraphicFramePr>
            <a:graphicFrameLocks noGrp="1"/>
          </p:cNvGraphicFramePr>
          <p:nvPr>
            <p:extLst>
              <p:ext uri="{D42A27DB-BD31-4B8C-83A1-F6EECF244321}">
                <p14:modId xmlns:p14="http://schemas.microsoft.com/office/powerpoint/2010/main" val="425930490"/>
              </p:ext>
            </p:extLst>
          </p:nvPr>
        </p:nvGraphicFramePr>
        <p:xfrm>
          <a:off x="2017336" y="2570358"/>
          <a:ext cx="9756742" cy="4048760"/>
        </p:xfrm>
        <a:graphic>
          <a:graphicData uri="http://schemas.openxmlformats.org/drawingml/2006/table">
            <a:tbl>
              <a:tblPr firstRow="1" bandRow="1">
                <a:tableStyleId>{5C22544A-7EE6-4342-B048-85BDC9FD1C3A}</a:tableStyleId>
              </a:tblPr>
              <a:tblGrid>
                <a:gridCol w="4878371">
                  <a:extLst>
                    <a:ext uri="{9D8B030D-6E8A-4147-A177-3AD203B41FA5}">
                      <a16:colId xmlns:a16="http://schemas.microsoft.com/office/drawing/2014/main" val="1114001110"/>
                    </a:ext>
                  </a:extLst>
                </a:gridCol>
                <a:gridCol w="4878371">
                  <a:extLst>
                    <a:ext uri="{9D8B030D-6E8A-4147-A177-3AD203B41FA5}">
                      <a16:colId xmlns:a16="http://schemas.microsoft.com/office/drawing/2014/main" val="4072908027"/>
                    </a:ext>
                  </a:extLst>
                </a:gridCol>
              </a:tblGrid>
              <a:tr h="370840">
                <a:tc>
                  <a:txBody>
                    <a:bodyPr/>
                    <a:lstStyle/>
                    <a:p>
                      <a:r>
                        <a:rPr lang="en-US" dirty="0"/>
                        <a:t>Static RAM</a:t>
                      </a:r>
                    </a:p>
                  </a:txBody>
                  <a:tcPr/>
                </a:tc>
                <a:tc>
                  <a:txBody>
                    <a:bodyPr/>
                    <a:lstStyle/>
                    <a:p>
                      <a:r>
                        <a:rPr lang="en-US" dirty="0"/>
                        <a:t>Dynamic Ram</a:t>
                      </a:r>
                    </a:p>
                  </a:txBody>
                  <a:tcPr/>
                </a:tc>
                <a:extLst>
                  <a:ext uri="{0D108BD9-81ED-4DB2-BD59-A6C34878D82A}">
                    <a16:rowId xmlns:a16="http://schemas.microsoft.com/office/drawing/2014/main" val="1123961441"/>
                  </a:ext>
                </a:extLst>
              </a:tr>
              <a:tr h="370840">
                <a:tc>
                  <a:txBody>
                    <a:bodyPr/>
                    <a:lstStyle/>
                    <a:p>
                      <a:r>
                        <a:rPr lang="en-US" dirty="0"/>
                        <a:t>It is made up of transistors and flipflops</a:t>
                      </a:r>
                    </a:p>
                  </a:txBody>
                  <a:tcPr/>
                </a:tc>
                <a:tc>
                  <a:txBody>
                    <a:bodyPr/>
                    <a:lstStyle/>
                    <a:p>
                      <a:r>
                        <a:rPr lang="en-US" dirty="0"/>
                        <a:t>It is made up of Transistors and Capacitors</a:t>
                      </a:r>
                    </a:p>
                  </a:txBody>
                  <a:tcPr/>
                </a:tc>
                <a:extLst>
                  <a:ext uri="{0D108BD9-81ED-4DB2-BD59-A6C34878D82A}">
                    <a16:rowId xmlns:a16="http://schemas.microsoft.com/office/drawing/2014/main" val="897337157"/>
                  </a:ext>
                </a:extLst>
              </a:tr>
              <a:tr h="370840">
                <a:tc>
                  <a:txBody>
                    <a:bodyPr/>
                    <a:lstStyle/>
                    <a:p>
                      <a:r>
                        <a:rPr lang="en-US" dirty="0"/>
                        <a:t>Six transistors are used to make a memory cell</a:t>
                      </a:r>
                    </a:p>
                  </a:txBody>
                  <a:tcPr/>
                </a:tc>
                <a:tc>
                  <a:txBody>
                    <a:bodyPr/>
                    <a:lstStyle/>
                    <a:p>
                      <a:r>
                        <a:rPr lang="en-US" dirty="0"/>
                        <a:t>One Transistor and one Capacitor is used to made a memory cell</a:t>
                      </a:r>
                    </a:p>
                  </a:txBody>
                  <a:tcPr/>
                </a:tc>
                <a:extLst>
                  <a:ext uri="{0D108BD9-81ED-4DB2-BD59-A6C34878D82A}">
                    <a16:rowId xmlns:a16="http://schemas.microsoft.com/office/drawing/2014/main" val="1797525067"/>
                  </a:ext>
                </a:extLst>
              </a:tr>
              <a:tr h="370840">
                <a:tc>
                  <a:txBody>
                    <a:bodyPr/>
                    <a:lstStyle/>
                    <a:p>
                      <a:r>
                        <a:rPr lang="en-US" dirty="0"/>
                        <a:t>It has no charge leakage property. So. It does not need to be refreshed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It has charge leakage property. So, it  has to be refreshed many times</a:t>
                      </a:r>
                    </a:p>
                  </a:txBody>
                  <a:tcPr/>
                </a:tc>
                <a:extLst>
                  <a:ext uri="{0D108BD9-81ED-4DB2-BD59-A6C34878D82A}">
                    <a16:rowId xmlns:a16="http://schemas.microsoft.com/office/drawing/2014/main" val="4214198607"/>
                  </a:ext>
                </a:extLst>
              </a:tr>
              <a:tr h="370840">
                <a:tc>
                  <a:txBody>
                    <a:bodyPr/>
                    <a:lstStyle/>
                    <a:p>
                      <a:r>
                        <a:rPr lang="en-US" dirty="0"/>
                        <a:t>It requires less power</a:t>
                      </a:r>
                    </a:p>
                  </a:txBody>
                  <a:tcPr/>
                </a:tc>
                <a:tc>
                  <a:txBody>
                    <a:bodyPr/>
                    <a:lstStyle/>
                    <a:p>
                      <a:r>
                        <a:rPr lang="en-US" dirty="0"/>
                        <a:t>It requires more power</a:t>
                      </a:r>
                    </a:p>
                  </a:txBody>
                  <a:tcPr/>
                </a:tc>
                <a:extLst>
                  <a:ext uri="{0D108BD9-81ED-4DB2-BD59-A6C34878D82A}">
                    <a16:rowId xmlns:a16="http://schemas.microsoft.com/office/drawing/2014/main" val="836598230"/>
                  </a:ext>
                </a:extLst>
              </a:tr>
              <a:tr h="370840">
                <a:tc>
                  <a:txBody>
                    <a:bodyPr/>
                    <a:lstStyle/>
                    <a:p>
                      <a:r>
                        <a:rPr lang="en-US" dirty="0"/>
                        <a:t>It is more expensive</a:t>
                      </a:r>
                    </a:p>
                  </a:txBody>
                  <a:tcPr/>
                </a:tc>
                <a:tc>
                  <a:txBody>
                    <a:bodyPr/>
                    <a:lstStyle/>
                    <a:p>
                      <a:r>
                        <a:rPr lang="en-US" dirty="0"/>
                        <a:t>It is less expensive</a:t>
                      </a:r>
                    </a:p>
                  </a:txBody>
                  <a:tcPr/>
                </a:tc>
                <a:extLst>
                  <a:ext uri="{0D108BD9-81ED-4DB2-BD59-A6C34878D82A}">
                    <a16:rowId xmlns:a16="http://schemas.microsoft.com/office/drawing/2014/main" val="2882711136"/>
                  </a:ext>
                </a:extLst>
              </a:tr>
              <a:tr h="370840">
                <a:tc>
                  <a:txBody>
                    <a:bodyPr/>
                    <a:lstStyle/>
                    <a:p>
                      <a:r>
                        <a:rPr lang="en-US" dirty="0"/>
                        <a:t>It is faster than DRAM</a:t>
                      </a:r>
                    </a:p>
                  </a:txBody>
                  <a:tcPr/>
                </a:tc>
                <a:tc>
                  <a:txBody>
                    <a:bodyPr/>
                    <a:lstStyle/>
                    <a:p>
                      <a:r>
                        <a:rPr lang="en-US" dirty="0"/>
                        <a:t>It is slower than DRAM</a:t>
                      </a:r>
                    </a:p>
                  </a:txBody>
                  <a:tcPr/>
                </a:tc>
                <a:extLst>
                  <a:ext uri="{0D108BD9-81ED-4DB2-BD59-A6C34878D82A}">
                    <a16:rowId xmlns:a16="http://schemas.microsoft.com/office/drawing/2014/main" val="672310495"/>
                  </a:ext>
                </a:extLst>
              </a:tr>
              <a:tr h="370840">
                <a:tc>
                  <a:txBody>
                    <a:bodyPr/>
                    <a:lstStyle/>
                    <a:p>
                      <a:r>
                        <a:rPr lang="en-US" dirty="0"/>
                        <a:t>Data density of SRAM is lower and hence storage cost per bit is high</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Data density of SRAM is higher and hence storage cost per bit is relatively low</a:t>
                      </a:r>
                    </a:p>
                    <a:p>
                      <a:endParaRPr lang="en-US" dirty="0"/>
                    </a:p>
                  </a:txBody>
                  <a:tcPr/>
                </a:tc>
                <a:extLst>
                  <a:ext uri="{0D108BD9-81ED-4DB2-BD59-A6C34878D82A}">
                    <a16:rowId xmlns:a16="http://schemas.microsoft.com/office/drawing/2014/main" val="2627233052"/>
                  </a:ext>
                </a:extLst>
              </a:tr>
            </a:tbl>
          </a:graphicData>
        </a:graphic>
      </p:graphicFrame>
      <p:pic>
        <p:nvPicPr>
          <p:cNvPr id="7" name="Picture 2" descr="Static random-access memory - Wikipedia">
            <a:extLst>
              <a:ext uri="{FF2B5EF4-FFF2-40B4-BE49-F238E27FC236}">
                <a16:creationId xmlns:a16="http://schemas.microsoft.com/office/drawing/2014/main" id="{43C0869E-A8A9-6527-4DC7-4117B0AE003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36932" y="935193"/>
            <a:ext cx="2659929" cy="1398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1523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Read Only Memory(ROM)</a:t>
            </a:r>
            <a:endParaRPr lang="en-US" dirty="0"/>
          </a:p>
        </p:txBody>
      </p:sp>
      <p:sp>
        <p:nvSpPr>
          <p:cNvPr id="3" name="Content Placeholder 2"/>
          <p:cNvSpPr>
            <a:spLocks noGrp="1"/>
          </p:cNvSpPr>
          <p:nvPr>
            <p:ph idx="1"/>
          </p:nvPr>
        </p:nvSpPr>
        <p:spPr>
          <a:xfrm>
            <a:off x="2438383" y="2105320"/>
            <a:ext cx="5555547" cy="3777622"/>
          </a:xfrm>
        </p:spPr>
        <p:txBody>
          <a:bodyPr/>
          <a:lstStyle/>
          <a:p>
            <a:pPr algn="just"/>
            <a:r>
              <a:rPr lang="en-US" dirty="0"/>
              <a:t>ROM stands for </a:t>
            </a:r>
            <a:r>
              <a:rPr lang="en-US" b="1" dirty="0"/>
              <a:t>Read Only Memory.</a:t>
            </a:r>
          </a:p>
          <a:p>
            <a:pPr algn="just"/>
            <a:r>
              <a:rPr lang="en-US" dirty="0"/>
              <a:t>A ROM stores such instructions that are required to start a computer. This operation is referred to as </a:t>
            </a:r>
            <a:r>
              <a:rPr lang="en-US" b="1" dirty="0"/>
              <a:t>bootstrap</a:t>
            </a:r>
            <a:r>
              <a:rPr lang="en-US" dirty="0"/>
              <a:t>.</a:t>
            </a:r>
          </a:p>
          <a:p>
            <a:pPr algn="just"/>
            <a:r>
              <a:rPr lang="en-US" dirty="0"/>
              <a:t>It is not volatile memory that means the data stored remains unchanged even if power gets cutoff</a:t>
            </a:r>
          </a:p>
          <a:p>
            <a:pPr algn="just"/>
            <a:r>
              <a:rPr lang="en-US" dirty="0"/>
              <a:t> ROM chips are not only used in the computer but also in other electronic items like washing machine and microwave oven.</a:t>
            </a:r>
          </a:p>
        </p:txBody>
      </p:sp>
      <p:sp>
        <p:nvSpPr>
          <p:cNvPr id="4" name="Slide Number Placeholder 3"/>
          <p:cNvSpPr>
            <a:spLocks noGrp="1"/>
          </p:cNvSpPr>
          <p:nvPr>
            <p:ph type="sldNum" sz="quarter" idx="12"/>
          </p:nvPr>
        </p:nvSpPr>
        <p:spPr/>
        <p:txBody>
          <a:bodyPr/>
          <a:lstStyle/>
          <a:p>
            <a:fld id="{106BED6A-76D1-48F6-AD62-2B6C443CFDDC}" type="slidenum">
              <a:rPr lang="en-US" smtClean="0"/>
              <a:t>9</a:t>
            </a:fld>
            <a:endParaRPr lang="en-US"/>
          </a:p>
        </p:txBody>
      </p:sp>
      <p:pic>
        <p:nvPicPr>
          <p:cNvPr id="5" name="Picture 4"/>
          <p:cNvPicPr>
            <a:picLocks noChangeAspect="1"/>
          </p:cNvPicPr>
          <p:nvPr/>
        </p:nvPicPr>
        <p:blipFill>
          <a:blip r:embed="rId2"/>
          <a:stretch>
            <a:fillRect/>
          </a:stretch>
        </p:blipFill>
        <p:spPr>
          <a:xfrm>
            <a:off x="8276734" y="2291915"/>
            <a:ext cx="3695308" cy="2736496"/>
          </a:xfrm>
          <a:prstGeom prst="rect">
            <a:avLst/>
          </a:prstGeom>
        </p:spPr>
      </p:pic>
    </p:spTree>
    <p:extLst>
      <p:ext uri="{BB962C8B-B14F-4D97-AF65-F5344CB8AC3E}">
        <p14:creationId xmlns:p14="http://schemas.microsoft.com/office/powerpoint/2010/main" val="3324868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Types of Read-Only Memory (ROM) </a:t>
            </a:r>
          </a:p>
        </p:txBody>
      </p:sp>
      <p:sp>
        <p:nvSpPr>
          <p:cNvPr id="3" name="Content Placeholder 2"/>
          <p:cNvSpPr>
            <a:spLocks noGrp="1"/>
          </p:cNvSpPr>
          <p:nvPr>
            <p:ph idx="1"/>
          </p:nvPr>
        </p:nvSpPr>
        <p:spPr/>
        <p:txBody>
          <a:bodyPr>
            <a:normAutofit fontScale="92500" lnSpcReduction="10000"/>
          </a:bodyPr>
          <a:lstStyle/>
          <a:p>
            <a:pPr algn="just" fontAlgn="base"/>
            <a:r>
              <a:rPr lang="en-US" b="1" dirty="0"/>
              <a:t>PROM (Programmable read-only memory)</a:t>
            </a:r>
            <a:r>
              <a:rPr lang="en-US" dirty="0"/>
              <a:t> – It can be programmed by the user. It is manufactured blank at first. Once programmed, the data and instructions in it cannot be changed. </a:t>
            </a:r>
          </a:p>
          <a:p>
            <a:pPr algn="just" fontAlgn="base"/>
            <a:r>
              <a:rPr lang="en-US" b="1" dirty="0"/>
              <a:t>EPROM (Erasable Programmable read-only memory)</a:t>
            </a:r>
            <a:r>
              <a:rPr lang="en-US" dirty="0"/>
              <a:t> – It can be reprogrammed. To erase data from it, expose it to ultraviolet light. It takes around 15min to 20 min to erase the contents of ROM. To reprogram it, erase all the previous data.</a:t>
            </a:r>
          </a:p>
          <a:p>
            <a:pPr algn="just" fontAlgn="base"/>
            <a:r>
              <a:rPr lang="en-US" b="1" dirty="0"/>
              <a:t>EEPROM (Electrically erasable programmable read-only memory)</a:t>
            </a:r>
            <a:r>
              <a:rPr lang="en-US" dirty="0"/>
              <a:t> – The data can be erased by applying an electric voltage, with no need for ultraviolet light. Hence, it is faster to erase. We can erase portions of the chip byte by byte</a:t>
            </a:r>
          </a:p>
          <a:p>
            <a:pPr algn="just" fontAlgn="base"/>
            <a:r>
              <a:rPr lang="en-US" b="1" dirty="0"/>
              <a:t>MROM(Mask ROM) </a:t>
            </a:r>
            <a:r>
              <a:rPr lang="en-US" dirty="0"/>
              <a:t>– Mask ROM is a kind of read-only memory, that is masked off at the time of production. Like other types of ROM, mask ROM cannot enable the user to change the data stored in it. If it can, the process would be difficult or slow.</a:t>
            </a:r>
          </a:p>
        </p:txBody>
      </p:sp>
      <p:sp>
        <p:nvSpPr>
          <p:cNvPr id="4" name="Slide Number Placeholder 3"/>
          <p:cNvSpPr>
            <a:spLocks noGrp="1"/>
          </p:cNvSpPr>
          <p:nvPr>
            <p:ph type="sldNum" sz="quarter" idx="12"/>
          </p:nvPr>
        </p:nvSpPr>
        <p:spPr/>
        <p:txBody>
          <a:bodyPr/>
          <a:lstStyle/>
          <a:p>
            <a:fld id="{106BED6A-76D1-48F6-AD62-2B6C443CFDDC}" type="slidenum">
              <a:rPr lang="en-US" smtClean="0"/>
              <a:t>10</a:t>
            </a:fld>
            <a:endParaRPr lang="en-US"/>
          </a:p>
        </p:txBody>
      </p:sp>
    </p:spTree>
    <p:extLst>
      <p:ext uri="{BB962C8B-B14F-4D97-AF65-F5344CB8AC3E}">
        <p14:creationId xmlns:p14="http://schemas.microsoft.com/office/powerpoint/2010/main" val="1036708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Secondary Memory/Auxiliary memory</a:t>
            </a:r>
          </a:p>
        </p:txBody>
      </p:sp>
      <p:sp>
        <p:nvSpPr>
          <p:cNvPr id="3" name="Content Placeholder 2"/>
          <p:cNvSpPr>
            <a:spLocks noGrp="1"/>
          </p:cNvSpPr>
          <p:nvPr>
            <p:ph idx="1"/>
          </p:nvPr>
        </p:nvSpPr>
        <p:spPr>
          <a:xfrm>
            <a:off x="1712520" y="2011051"/>
            <a:ext cx="5734656" cy="3814713"/>
          </a:xfrm>
        </p:spPr>
        <p:txBody>
          <a:bodyPr>
            <a:normAutofit fontScale="92500"/>
          </a:bodyPr>
          <a:lstStyle/>
          <a:p>
            <a:pPr algn="just"/>
            <a:r>
              <a:rPr lang="en-US" dirty="0"/>
              <a:t>Secondary memory is computer memory that is non-volatile and persistent in nature and is not directly accessed by a computer/processor.</a:t>
            </a:r>
          </a:p>
          <a:p>
            <a:pPr algn="just"/>
            <a:r>
              <a:rPr lang="en-US" dirty="0"/>
              <a:t> It allows a user to store data that may be instantly and easily retrieved, transported and used by applications and services.</a:t>
            </a:r>
          </a:p>
          <a:p>
            <a:pPr algn="just"/>
            <a:r>
              <a:rPr lang="en-US" dirty="0"/>
              <a:t>Secondary memory consists of all permanent or persistent storage devices, such as flash drives, hard disk drives (HDD), magnetic tapes and other types of internal/external storage media. In computing operations, secondary memory is accessed only by the primary or main memory and later transported to the processor.</a:t>
            </a:r>
          </a:p>
        </p:txBody>
      </p:sp>
      <p:sp>
        <p:nvSpPr>
          <p:cNvPr id="4" name="Slide Number Placeholder 3"/>
          <p:cNvSpPr>
            <a:spLocks noGrp="1"/>
          </p:cNvSpPr>
          <p:nvPr>
            <p:ph type="sldNum" sz="quarter" idx="12"/>
          </p:nvPr>
        </p:nvSpPr>
        <p:spPr/>
        <p:txBody>
          <a:bodyPr/>
          <a:lstStyle/>
          <a:p>
            <a:fld id="{106BED6A-76D1-48F6-AD62-2B6C443CFDDC}" type="slidenum">
              <a:rPr lang="en-US" smtClean="0"/>
              <a:t>11</a:t>
            </a:fld>
            <a:endParaRPr lang="en-US"/>
          </a:p>
        </p:txBody>
      </p:sp>
      <p:pic>
        <p:nvPicPr>
          <p:cNvPr id="1026" name="Picture 2" descr="part 1.4] All about Computer memory; Secondary Memor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47176" y="2133910"/>
            <a:ext cx="4572000" cy="3429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22059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Magnetic Tape</a:t>
            </a:r>
          </a:p>
        </p:txBody>
      </p:sp>
      <p:sp>
        <p:nvSpPr>
          <p:cNvPr id="3" name="Content Placeholder 2"/>
          <p:cNvSpPr>
            <a:spLocks noGrp="1"/>
          </p:cNvSpPr>
          <p:nvPr>
            <p:ph idx="1"/>
          </p:nvPr>
        </p:nvSpPr>
        <p:spPr>
          <a:xfrm>
            <a:off x="2589212" y="2133599"/>
            <a:ext cx="9175440" cy="3993823"/>
          </a:xfrm>
        </p:spPr>
        <p:txBody>
          <a:bodyPr/>
          <a:lstStyle/>
          <a:p>
            <a:pPr algn="just"/>
            <a:r>
              <a:rPr lang="en-US" b="1" dirty="0"/>
              <a:t>Magnetic tape</a:t>
            </a:r>
            <a:r>
              <a:rPr lang="en-US" dirty="0"/>
              <a:t> is a medium for magnetic storage made of a thin, magnetizable coating(iron oxide of ferric oxide) on a long, narrow strip of plastic film. It was developed in Germany in 1928, based on the earlier magnetic wire recording from Denmark. Devices that use magnetic tape could with relative ease record and playback audio, visual, and binary computer data.</a:t>
            </a:r>
          </a:p>
          <a:p>
            <a:pPr algn="just"/>
            <a:r>
              <a:rPr lang="en-US" dirty="0"/>
              <a:t>It stores data in sequential order</a:t>
            </a:r>
          </a:p>
          <a:p>
            <a:pPr algn="just"/>
            <a:r>
              <a:rPr lang="en-US" dirty="0" err="1"/>
              <a:t>Eg.</a:t>
            </a:r>
            <a:r>
              <a:rPr lang="en-US" dirty="0"/>
              <a:t> VHS tape, Audio </a:t>
            </a:r>
            <a:r>
              <a:rPr lang="en-US" dirty="0" err="1"/>
              <a:t>casseteetc</a:t>
            </a:r>
            <a:endParaRPr lang="en-US" dirty="0"/>
          </a:p>
        </p:txBody>
      </p:sp>
      <p:sp>
        <p:nvSpPr>
          <p:cNvPr id="4" name="Slide Number Placeholder 3"/>
          <p:cNvSpPr>
            <a:spLocks noGrp="1"/>
          </p:cNvSpPr>
          <p:nvPr>
            <p:ph type="sldNum" sz="quarter" idx="12"/>
          </p:nvPr>
        </p:nvSpPr>
        <p:spPr/>
        <p:txBody>
          <a:bodyPr/>
          <a:lstStyle/>
          <a:p>
            <a:fld id="{106BED6A-76D1-48F6-AD62-2B6C443CFDDC}" type="slidenum">
              <a:rPr lang="en-US" smtClean="0"/>
              <a:t>12</a:t>
            </a:fld>
            <a:endParaRPr lang="en-US"/>
          </a:p>
        </p:txBody>
      </p:sp>
      <p:pic>
        <p:nvPicPr>
          <p:cNvPr id="2050" name="Picture 2" descr="Magnetic Tape Alert Project | International Association of Sound and  Audiovisual Archiv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3095" y="3667918"/>
            <a:ext cx="4931252" cy="2565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2665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Magnetic Disk : Hard Disk</a:t>
            </a:r>
          </a:p>
        </p:txBody>
      </p:sp>
      <p:sp>
        <p:nvSpPr>
          <p:cNvPr id="3" name="Content Placeholder 2"/>
          <p:cNvSpPr>
            <a:spLocks noGrp="1"/>
          </p:cNvSpPr>
          <p:nvPr>
            <p:ph idx="1"/>
          </p:nvPr>
        </p:nvSpPr>
        <p:spPr>
          <a:xfrm>
            <a:off x="1311579" y="2133600"/>
            <a:ext cx="5937633" cy="3777622"/>
          </a:xfrm>
        </p:spPr>
        <p:txBody>
          <a:bodyPr>
            <a:normAutofit lnSpcReduction="10000"/>
          </a:bodyPr>
          <a:lstStyle/>
          <a:p>
            <a:pPr algn="just"/>
            <a:r>
              <a:rPr lang="en-US" dirty="0"/>
              <a:t>A </a:t>
            </a:r>
            <a:r>
              <a:rPr lang="en-US" b="1" dirty="0"/>
              <a:t>hard disk drive</a:t>
            </a:r>
            <a:r>
              <a:rPr lang="en-US" dirty="0"/>
              <a:t> (sometimes abbreviated as a </a:t>
            </a:r>
            <a:r>
              <a:rPr lang="en-US" b="1" dirty="0"/>
              <a:t>hard drive</a:t>
            </a:r>
            <a:r>
              <a:rPr lang="en-US" dirty="0"/>
              <a:t>, </a:t>
            </a:r>
            <a:r>
              <a:rPr lang="en-US" b="1" dirty="0"/>
              <a:t>HD</a:t>
            </a:r>
            <a:r>
              <a:rPr lang="en-US" dirty="0"/>
              <a:t>, or </a:t>
            </a:r>
            <a:r>
              <a:rPr lang="en-US" b="1" dirty="0"/>
              <a:t>HDD</a:t>
            </a:r>
            <a:r>
              <a:rPr lang="en-US" dirty="0"/>
              <a:t>) is a non-volatile data storage device.</a:t>
            </a:r>
          </a:p>
          <a:p>
            <a:pPr algn="just"/>
            <a:r>
              <a:rPr lang="en-US" dirty="0"/>
              <a:t>It contains one or more platters, coated with magnetic material, housed inside of an air-sealed casing. Data is written to the platters using a magnetic head, which moves rapidly over them as they spin.</a:t>
            </a:r>
          </a:p>
          <a:p>
            <a:pPr algn="just"/>
            <a:r>
              <a:rPr lang="en-US" dirty="0"/>
              <a:t>Data is written by magnetizing the area of hard disk.</a:t>
            </a:r>
          </a:p>
          <a:p>
            <a:pPr algn="just"/>
            <a:r>
              <a:rPr lang="en-US" dirty="0"/>
              <a:t>Track</a:t>
            </a:r>
          </a:p>
          <a:p>
            <a:pPr algn="just"/>
            <a:r>
              <a:rPr lang="en-US" dirty="0"/>
              <a:t>Sector</a:t>
            </a:r>
          </a:p>
        </p:txBody>
      </p:sp>
      <p:sp>
        <p:nvSpPr>
          <p:cNvPr id="4" name="Slide Number Placeholder 3"/>
          <p:cNvSpPr>
            <a:spLocks noGrp="1"/>
          </p:cNvSpPr>
          <p:nvPr>
            <p:ph type="sldNum" sz="quarter" idx="12"/>
          </p:nvPr>
        </p:nvSpPr>
        <p:spPr/>
        <p:txBody>
          <a:bodyPr/>
          <a:lstStyle/>
          <a:p>
            <a:fld id="{106BED6A-76D1-48F6-AD62-2B6C443CFDDC}" type="slidenum">
              <a:rPr lang="en-US" smtClean="0"/>
              <a:t>13</a:t>
            </a:fld>
            <a:endParaRPr lang="en-US"/>
          </a:p>
        </p:txBody>
      </p:sp>
      <p:pic>
        <p:nvPicPr>
          <p:cNvPr id="3074" name="Picture 2" descr="Hard disk | Definition &amp; Facts | Britannic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21356" y="2212258"/>
            <a:ext cx="4151070" cy="3460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6778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Mechanism of hard disk</a:t>
            </a:r>
          </a:p>
        </p:txBody>
      </p:sp>
      <p:sp>
        <p:nvSpPr>
          <p:cNvPr id="4" name="Slide Number Placeholder 3"/>
          <p:cNvSpPr>
            <a:spLocks noGrp="1"/>
          </p:cNvSpPr>
          <p:nvPr>
            <p:ph type="sldNum" sz="quarter" idx="12"/>
          </p:nvPr>
        </p:nvSpPr>
        <p:spPr/>
        <p:txBody>
          <a:bodyPr/>
          <a:lstStyle/>
          <a:p>
            <a:fld id="{106BED6A-76D1-48F6-AD62-2B6C443CFDDC}" type="slidenum">
              <a:rPr lang="en-US" smtClean="0"/>
              <a:t>14</a:t>
            </a:fld>
            <a:endParaRPr lang="en-US"/>
          </a:p>
        </p:txBody>
      </p:sp>
      <p:pic>
        <p:nvPicPr>
          <p:cNvPr id="4098" name="Picture 2" descr="Operating Systems: Mass-Storage Structur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198384" y="2107700"/>
            <a:ext cx="5878869" cy="4313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92820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Floppy disk</a:t>
            </a:r>
          </a:p>
        </p:txBody>
      </p:sp>
      <p:sp>
        <p:nvSpPr>
          <p:cNvPr id="3" name="Content Placeholder 2"/>
          <p:cNvSpPr>
            <a:spLocks noGrp="1"/>
          </p:cNvSpPr>
          <p:nvPr>
            <p:ph idx="1"/>
          </p:nvPr>
        </p:nvSpPr>
        <p:spPr>
          <a:xfrm>
            <a:off x="1659118" y="2133599"/>
            <a:ext cx="5693789" cy="3861847"/>
          </a:xfrm>
        </p:spPr>
        <p:txBody>
          <a:bodyPr/>
          <a:lstStyle/>
          <a:p>
            <a:pPr algn="just"/>
            <a:r>
              <a:rPr lang="en-US" dirty="0"/>
              <a:t>A floppy disk is a type of storage media that reads data storage information, also known as a floppy diskette, floppy, or floppy disk that is used to store electronic data, like a computer file. It was extremely expensive at early times as it was one of the first types of hardware storage created in 1967 by IBM, which could read/write a portable device. The program could be able to install from one floppy disk if the program size was less than 1.44 MB</a:t>
            </a:r>
          </a:p>
        </p:txBody>
      </p:sp>
      <p:sp>
        <p:nvSpPr>
          <p:cNvPr id="4" name="Slide Number Placeholder 3"/>
          <p:cNvSpPr>
            <a:spLocks noGrp="1"/>
          </p:cNvSpPr>
          <p:nvPr>
            <p:ph type="sldNum" sz="quarter" idx="12"/>
          </p:nvPr>
        </p:nvSpPr>
        <p:spPr/>
        <p:txBody>
          <a:bodyPr/>
          <a:lstStyle/>
          <a:p>
            <a:fld id="{106BED6A-76D1-48F6-AD62-2B6C443CFDDC}" type="slidenum">
              <a:rPr lang="en-US" smtClean="0"/>
              <a:t>15</a:t>
            </a:fld>
            <a:endParaRPr lang="en-US"/>
          </a:p>
        </p:txBody>
      </p:sp>
      <p:pic>
        <p:nvPicPr>
          <p:cNvPr id="1028" name="Picture 4" descr="Floppy disk - Wikiped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82844" y="2692570"/>
            <a:ext cx="3736926" cy="2229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56874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Compact Disk(CD)</a:t>
            </a:r>
          </a:p>
        </p:txBody>
      </p:sp>
      <p:sp>
        <p:nvSpPr>
          <p:cNvPr id="3" name="Content Placeholder 2"/>
          <p:cNvSpPr>
            <a:spLocks noGrp="1"/>
          </p:cNvSpPr>
          <p:nvPr>
            <p:ph idx="1"/>
          </p:nvPr>
        </p:nvSpPr>
        <p:spPr>
          <a:xfrm>
            <a:off x="1311579" y="2133599"/>
            <a:ext cx="6748339" cy="4493443"/>
          </a:xfrm>
        </p:spPr>
        <p:txBody>
          <a:bodyPr>
            <a:normAutofit/>
          </a:bodyPr>
          <a:lstStyle/>
          <a:p>
            <a:pPr algn="just"/>
            <a:r>
              <a:rPr lang="en-US" b="1" dirty="0"/>
              <a:t>CD</a:t>
            </a:r>
            <a:r>
              <a:rPr lang="en-US" dirty="0"/>
              <a:t> stands for </a:t>
            </a:r>
            <a:r>
              <a:rPr lang="en-US" b="1" dirty="0"/>
              <a:t>Compact Disk</a:t>
            </a:r>
            <a:r>
              <a:rPr lang="en-US" dirty="0"/>
              <a:t>. CD is an optical storage device used in computers for the permanent storage of data and information. </a:t>
            </a:r>
          </a:p>
          <a:p>
            <a:pPr algn="just"/>
            <a:r>
              <a:rPr lang="en-US" dirty="0"/>
              <a:t>CD makes use of laser light to read and write the data. Where the intended portion of the CD reflects the laser beam which is then detected by a photodetector. The most common variants of CD are </a:t>
            </a:r>
            <a:r>
              <a:rPr lang="en-US" b="1" dirty="0"/>
              <a:t>– CD–ROM, CD-R (Recordable),</a:t>
            </a:r>
            <a:r>
              <a:rPr lang="en-US" dirty="0"/>
              <a:t> and </a:t>
            </a:r>
            <a:r>
              <a:rPr lang="en-US" b="1" dirty="0"/>
              <a:t>CD-RW (Re-Writable).</a:t>
            </a:r>
          </a:p>
          <a:p>
            <a:pPr algn="just"/>
            <a:r>
              <a:rPr lang="en-US" dirty="0"/>
              <a:t>A standard compact disc measures 4.7 inches, or 120 millimeters (mm), across, is 1.2 mm thick, weighs between 15 grams and 20 grams, and has a capacity of </a:t>
            </a:r>
            <a:r>
              <a:rPr lang="en-US" b="1" dirty="0"/>
              <a:t>80 minutes of audio, or 650 megabytes (MB) to 700 MB of data</a:t>
            </a:r>
            <a:r>
              <a:rPr lang="en-US" dirty="0"/>
              <a:t>.</a:t>
            </a:r>
          </a:p>
        </p:txBody>
      </p:sp>
      <p:sp>
        <p:nvSpPr>
          <p:cNvPr id="4" name="Slide Number Placeholder 3"/>
          <p:cNvSpPr>
            <a:spLocks noGrp="1"/>
          </p:cNvSpPr>
          <p:nvPr>
            <p:ph type="sldNum" sz="quarter" idx="12"/>
          </p:nvPr>
        </p:nvSpPr>
        <p:spPr/>
        <p:txBody>
          <a:bodyPr/>
          <a:lstStyle/>
          <a:p>
            <a:fld id="{106BED6A-76D1-48F6-AD62-2B6C443CFDDC}" type="slidenum">
              <a:rPr lang="en-US" smtClean="0"/>
              <a:t>16</a:t>
            </a:fld>
            <a:endParaRPr lang="en-US"/>
          </a:p>
        </p:txBody>
      </p:sp>
      <p:pic>
        <p:nvPicPr>
          <p:cNvPr id="2050" name="Picture 2" descr="CD Cover Examp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08535" y="2779891"/>
            <a:ext cx="3949306" cy="2621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44859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Digital Versatile Disk(DVD)</a:t>
            </a:r>
          </a:p>
        </p:txBody>
      </p:sp>
      <p:sp>
        <p:nvSpPr>
          <p:cNvPr id="3" name="Content Placeholder 2"/>
          <p:cNvSpPr>
            <a:spLocks noGrp="1"/>
          </p:cNvSpPr>
          <p:nvPr>
            <p:ph idx="1"/>
          </p:nvPr>
        </p:nvSpPr>
        <p:spPr>
          <a:xfrm>
            <a:off x="2089591" y="1905000"/>
            <a:ext cx="5847778" cy="3777622"/>
          </a:xfrm>
        </p:spPr>
        <p:txBody>
          <a:bodyPr>
            <a:normAutofit fontScale="92500" lnSpcReduction="10000"/>
          </a:bodyPr>
          <a:lstStyle/>
          <a:p>
            <a:pPr algn="just"/>
            <a:r>
              <a:rPr lang="en-US" dirty="0"/>
              <a:t>DVD stands for Digital Versatile Disk. It is also an optical storage device that is used as the secondary storage media in computers. </a:t>
            </a:r>
          </a:p>
          <a:p>
            <a:pPr algn="just"/>
            <a:r>
              <a:rPr lang="en-US" dirty="0"/>
              <a:t>The construction and operation of DVDs are almost similar to that of CDs. The major difference is that a typical DVD can acquire about 7 times more amount of data as compared to a CD. DVD size ranges from 4.7 GB to 17 GB.</a:t>
            </a:r>
          </a:p>
          <a:p>
            <a:pPr algn="just"/>
            <a:r>
              <a:rPr lang="en-US" dirty="0"/>
              <a:t>The main reasons behind the larger storage capacity of a DVD as compared to a CD are that the DVD provides dense packing of the data bits and uses a two-sided disc. Just like CD, DVD is also available in three common variants, i.e.</a:t>
            </a:r>
            <a:r>
              <a:rPr lang="en-US" b="1" dirty="0"/>
              <a:t> DVD-ROM, DVD-R, and DVD-RW.</a:t>
            </a:r>
          </a:p>
          <a:p>
            <a:pPr algn="just"/>
            <a:endParaRPr lang="en-US" dirty="0"/>
          </a:p>
        </p:txBody>
      </p:sp>
      <p:sp>
        <p:nvSpPr>
          <p:cNvPr id="4" name="Slide Number Placeholder 3"/>
          <p:cNvSpPr>
            <a:spLocks noGrp="1"/>
          </p:cNvSpPr>
          <p:nvPr>
            <p:ph type="sldNum" sz="quarter" idx="12"/>
          </p:nvPr>
        </p:nvSpPr>
        <p:spPr/>
        <p:txBody>
          <a:bodyPr/>
          <a:lstStyle/>
          <a:p>
            <a:fld id="{106BED6A-76D1-48F6-AD62-2B6C443CFDDC}" type="slidenum">
              <a:rPr lang="en-US" smtClean="0"/>
              <a:t>17</a:t>
            </a:fld>
            <a:endParaRPr lang="en-US"/>
          </a:p>
        </p:txBody>
      </p:sp>
      <p:pic>
        <p:nvPicPr>
          <p:cNvPr id="4098" name="Picture 2" descr="20+ CD DVD Artwork Examp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07169" y="1820470"/>
            <a:ext cx="3385980" cy="3442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0343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USB flash drive</a:t>
            </a:r>
          </a:p>
        </p:txBody>
      </p:sp>
      <p:sp>
        <p:nvSpPr>
          <p:cNvPr id="3" name="Content Placeholder 2"/>
          <p:cNvSpPr>
            <a:spLocks noGrp="1"/>
          </p:cNvSpPr>
          <p:nvPr>
            <p:ph idx="1"/>
          </p:nvPr>
        </p:nvSpPr>
        <p:spPr>
          <a:xfrm>
            <a:off x="2589212" y="2133600"/>
            <a:ext cx="4801402" cy="3777622"/>
          </a:xfrm>
        </p:spPr>
        <p:txBody>
          <a:bodyPr/>
          <a:lstStyle/>
          <a:p>
            <a:pPr algn="just"/>
            <a:r>
              <a:rPr lang="en-US" dirty="0"/>
              <a:t>A USB flash drive -- also known as a USB stick, USB thumb drive or pen drive -- is a plug-and-play portable storage device that uses </a:t>
            </a:r>
            <a:r>
              <a:rPr lang="en-US" u="sng" dirty="0"/>
              <a:t>flash memory</a:t>
            </a:r>
            <a:r>
              <a:rPr lang="en-US" dirty="0"/>
              <a:t> and is lightweight enough to attach to a keychain. A USB flash drive can be used in place of a </a:t>
            </a:r>
            <a:r>
              <a:rPr lang="en-US" u="sng" dirty="0"/>
              <a:t>compact disc</a:t>
            </a:r>
            <a:r>
              <a:rPr lang="en-US" dirty="0"/>
              <a:t>. When a user plugs the flash memory device into the USB </a:t>
            </a:r>
            <a:r>
              <a:rPr lang="en-US" u="sng" dirty="0"/>
              <a:t>port</a:t>
            </a:r>
            <a:r>
              <a:rPr lang="en-US" dirty="0"/>
              <a:t>, the computer's operating system (</a:t>
            </a:r>
            <a:r>
              <a:rPr lang="en-US" u="sng" dirty="0"/>
              <a:t>OS</a:t>
            </a:r>
            <a:r>
              <a:rPr lang="en-US" dirty="0"/>
              <a:t>) recognizes the device as a </a:t>
            </a:r>
            <a:r>
              <a:rPr lang="en-US" u="sng" dirty="0"/>
              <a:t>removable drive</a:t>
            </a:r>
            <a:r>
              <a:rPr lang="en-US" dirty="0"/>
              <a:t> and assigns it a drive letter.</a:t>
            </a:r>
          </a:p>
        </p:txBody>
      </p:sp>
      <p:sp>
        <p:nvSpPr>
          <p:cNvPr id="4" name="Slide Number Placeholder 3"/>
          <p:cNvSpPr>
            <a:spLocks noGrp="1"/>
          </p:cNvSpPr>
          <p:nvPr>
            <p:ph type="sldNum" sz="quarter" idx="12"/>
          </p:nvPr>
        </p:nvSpPr>
        <p:spPr/>
        <p:txBody>
          <a:bodyPr/>
          <a:lstStyle/>
          <a:p>
            <a:fld id="{106BED6A-76D1-48F6-AD62-2B6C443CFDDC}" type="slidenum">
              <a:rPr lang="en-US" smtClean="0"/>
              <a:t>18</a:t>
            </a:fld>
            <a:endParaRPr lang="en-US"/>
          </a:p>
        </p:txBody>
      </p:sp>
      <p:pic>
        <p:nvPicPr>
          <p:cNvPr id="3074" name="Picture 2" descr="What Is Flash Memory and How Does It 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59897" y="2304854"/>
            <a:ext cx="4312144" cy="2874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299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Magneto Optical Disk</a:t>
            </a:r>
          </a:p>
        </p:txBody>
      </p:sp>
      <p:sp>
        <p:nvSpPr>
          <p:cNvPr id="3" name="Content Placeholder 2"/>
          <p:cNvSpPr>
            <a:spLocks noGrp="1"/>
          </p:cNvSpPr>
          <p:nvPr>
            <p:ph idx="1"/>
          </p:nvPr>
        </p:nvSpPr>
        <p:spPr>
          <a:xfrm>
            <a:off x="1404594" y="2133600"/>
            <a:ext cx="5986020" cy="3777622"/>
          </a:xfrm>
        </p:spPr>
        <p:txBody>
          <a:bodyPr>
            <a:normAutofit/>
          </a:bodyPr>
          <a:lstStyle/>
          <a:p>
            <a:pPr marL="0" marR="0">
              <a:lnSpc>
                <a:spcPct val="107000"/>
              </a:lnSpc>
              <a:spcBef>
                <a:spcPts val="0"/>
              </a:spcBef>
              <a:spcAft>
                <a:spcPts val="0"/>
              </a:spcAft>
            </a:pPr>
            <a:r>
              <a:rPr lang="en-US" sz="1800" dirty="0">
                <a:solidFill>
                  <a:srgbClr val="1A1A1A"/>
                </a:solidFill>
                <a:effectLst/>
                <a:latin typeface="Georgia" panose="02040502050405020303" pitchFamily="18" charset="0"/>
                <a:ea typeface="Times New Roman" panose="02020603050405020304" pitchFamily="18" charset="0"/>
                <a:cs typeface="Times New Roman" panose="02020603050405020304" pitchFamily="18" charset="0"/>
              </a:rPr>
              <a:t>Magneto-optical discs are a hybrid storage medium.</a:t>
            </a:r>
          </a:p>
          <a:p>
            <a:pPr marL="0" marR="0" indent="0">
              <a:lnSpc>
                <a:spcPct val="107000"/>
              </a:lnSpc>
              <a:spcBef>
                <a:spcPts val="0"/>
              </a:spcBef>
              <a:spcAft>
                <a:spcPts val="0"/>
              </a:spcAft>
              <a:buNone/>
            </a:pPr>
            <a:endParaRPr lang="en-US" sz="1800" dirty="0">
              <a:solidFill>
                <a:srgbClr val="1A1A1A"/>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dirty="0">
                <a:solidFill>
                  <a:srgbClr val="1A1A1A"/>
                </a:solidFill>
                <a:effectLst/>
                <a:latin typeface="Georgia" panose="02040502050405020303" pitchFamily="18" charset="0"/>
                <a:ea typeface="Times New Roman" panose="02020603050405020304" pitchFamily="18" charset="0"/>
                <a:cs typeface="Times New Roman" panose="02020603050405020304" pitchFamily="18" charset="0"/>
              </a:rPr>
              <a:t> In reading, spots with different directions of magnetization give different polarization in the reflected light of a low-power laser beam. </a:t>
            </a:r>
          </a:p>
          <a:p>
            <a:pPr marL="0" marR="0" indent="0">
              <a:lnSpc>
                <a:spcPct val="107000"/>
              </a:lnSpc>
              <a:spcBef>
                <a:spcPts val="0"/>
              </a:spcBef>
              <a:spcAft>
                <a:spcPts val="0"/>
              </a:spcAft>
              <a:buNone/>
            </a:pPr>
            <a:endParaRPr lang="en-US" sz="1800" dirty="0">
              <a:solidFill>
                <a:srgbClr val="1A1A1A"/>
              </a:solidFill>
              <a:effectLst/>
              <a:latin typeface="Georgia" panose="02040502050405020303" pitchFamily="18" charset="0"/>
              <a:ea typeface="Times New Roman" panose="02020603050405020304" pitchFamily="18" charset="0"/>
              <a:cs typeface="Times New Roman" panose="02020603050405020304" pitchFamily="18" charset="0"/>
            </a:endParaRPr>
          </a:p>
          <a:p>
            <a:pPr marL="0" marR="0">
              <a:lnSpc>
                <a:spcPct val="107000"/>
              </a:lnSpc>
              <a:spcBef>
                <a:spcPts val="0"/>
              </a:spcBef>
              <a:spcAft>
                <a:spcPts val="0"/>
              </a:spcAft>
            </a:pPr>
            <a:r>
              <a:rPr lang="en-US" sz="1800" dirty="0">
                <a:solidFill>
                  <a:srgbClr val="1A1A1A"/>
                </a:solidFill>
                <a:effectLst/>
                <a:latin typeface="Georgia" panose="02040502050405020303" pitchFamily="18" charset="0"/>
                <a:ea typeface="Times New Roman" panose="02020603050405020304" pitchFamily="18" charset="0"/>
                <a:cs typeface="Times New Roman" panose="02020603050405020304" pitchFamily="18" charset="0"/>
              </a:rPr>
              <a:t>In writing, every spot on the disk is first heated by a strong laser beam and then cooled under a </a:t>
            </a:r>
            <a:r>
              <a:rPr lang="en-US" sz="1800" u="sng" dirty="0">
                <a:solidFill>
                  <a:srgbClr val="0000FF"/>
                </a:solidFill>
                <a:effectLst/>
                <a:latin typeface="Georgia" panose="02040502050405020303" pitchFamily="18" charset="0"/>
                <a:ea typeface="Times New Roman" panose="02020603050405020304" pitchFamily="18" charset="0"/>
                <a:cs typeface="Times New Roman" panose="02020603050405020304" pitchFamily="18" charset="0"/>
                <a:hlinkClick r:id="rId2"/>
              </a:rPr>
              <a:t>magnetic field</a:t>
            </a:r>
            <a:r>
              <a:rPr lang="en-US" sz="1800" dirty="0">
                <a:solidFill>
                  <a:srgbClr val="1A1A1A"/>
                </a:solidFill>
                <a:effectLst/>
                <a:latin typeface="Georgia" panose="02040502050405020303" pitchFamily="18" charset="0"/>
                <a:ea typeface="Times New Roman" panose="02020603050405020304" pitchFamily="18" charset="0"/>
                <a:cs typeface="Times New Roman" panose="02020603050405020304" pitchFamily="18" charset="0"/>
              </a:rPr>
              <a:t>, magnetizing every spot in one direction, to store all 0 s. The writing process then reverses the direction of the magnetic field to store 1 s where desired.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endParaRPr lang="en-US" dirty="0"/>
          </a:p>
        </p:txBody>
      </p:sp>
      <p:sp>
        <p:nvSpPr>
          <p:cNvPr id="4" name="Slide Number Placeholder 3"/>
          <p:cNvSpPr>
            <a:spLocks noGrp="1"/>
          </p:cNvSpPr>
          <p:nvPr>
            <p:ph type="sldNum" sz="quarter" idx="12"/>
          </p:nvPr>
        </p:nvSpPr>
        <p:spPr/>
        <p:txBody>
          <a:bodyPr/>
          <a:lstStyle/>
          <a:p>
            <a:fld id="{106BED6A-76D1-48F6-AD62-2B6C443CFDDC}" type="slidenum">
              <a:rPr lang="en-US" smtClean="0"/>
              <a:t>19</a:t>
            </a:fld>
            <a:endParaRPr lang="en-US"/>
          </a:p>
        </p:txBody>
      </p:sp>
      <p:pic>
        <p:nvPicPr>
          <p:cNvPr id="6" name="Picture 5">
            <a:extLst>
              <a:ext uri="{FF2B5EF4-FFF2-40B4-BE49-F238E27FC236}">
                <a16:creationId xmlns:a16="http://schemas.microsoft.com/office/drawing/2014/main" id="{A7EF7702-CD24-7091-E43D-A2BC86780E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61517" y="2133600"/>
            <a:ext cx="4032383" cy="2404451"/>
          </a:xfrm>
          <a:prstGeom prst="rect">
            <a:avLst/>
          </a:prstGeom>
        </p:spPr>
      </p:pic>
    </p:spTree>
    <p:extLst>
      <p:ext uri="{BB962C8B-B14F-4D97-AF65-F5344CB8AC3E}">
        <p14:creationId xmlns:p14="http://schemas.microsoft.com/office/powerpoint/2010/main" val="42561026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Computer uses its memory?</a:t>
            </a:r>
          </a:p>
        </p:txBody>
      </p:sp>
      <p:sp>
        <p:nvSpPr>
          <p:cNvPr id="3" name="Content Placeholder 2"/>
          <p:cNvSpPr>
            <a:spLocks noGrp="1"/>
          </p:cNvSpPr>
          <p:nvPr>
            <p:ph idx="1"/>
          </p:nvPr>
        </p:nvSpPr>
        <p:spPr>
          <a:xfrm>
            <a:off x="2589212" y="2133600"/>
            <a:ext cx="8713526" cy="3777622"/>
          </a:xfrm>
        </p:spPr>
        <p:txBody>
          <a:bodyPr>
            <a:normAutofit fontScale="85000" lnSpcReduction="20000"/>
          </a:bodyPr>
          <a:lstStyle/>
          <a:p>
            <a:pPr algn="just"/>
            <a:r>
              <a:rPr lang="en-US" dirty="0"/>
              <a:t>The computer starts using the memory from the moment the computer is switched on, till the time it is switched off. The list of steps that the computer performs from the time it is switched on are:</a:t>
            </a:r>
          </a:p>
          <a:p>
            <a:pPr algn="just"/>
            <a:endParaRPr lang="en-US" dirty="0"/>
          </a:p>
          <a:p>
            <a:pPr algn="just">
              <a:buFont typeface="+mj-lt"/>
              <a:buAutoNum type="arabicPeriod"/>
            </a:pPr>
            <a:r>
              <a:rPr lang="en-US" dirty="0"/>
              <a:t>Turn the computer on.</a:t>
            </a:r>
          </a:p>
          <a:p>
            <a:pPr algn="just">
              <a:buFont typeface="+mj-lt"/>
              <a:buAutoNum type="arabicPeriod"/>
            </a:pPr>
            <a:r>
              <a:rPr lang="en-US" dirty="0"/>
              <a:t>The computer loads data from ROM. It makes sure that all the major components of the computer are functioning properly.</a:t>
            </a:r>
          </a:p>
          <a:p>
            <a:pPr algn="just">
              <a:buFont typeface="+mj-lt"/>
              <a:buAutoNum type="arabicPeriod"/>
            </a:pPr>
            <a:r>
              <a:rPr lang="en-US" dirty="0"/>
              <a:t> The computer loads the BIOS from ROM. The BIOS provides the most basic information about storage devices, boot sequence, security, plug and play capability and other items.</a:t>
            </a:r>
          </a:p>
          <a:p>
            <a:pPr algn="just">
              <a:buFont typeface="+mj-lt"/>
              <a:buAutoNum type="arabicPeriod"/>
            </a:pPr>
            <a:r>
              <a:rPr lang="en-US" dirty="0"/>
              <a:t>The computer loads the OS from the hard drive into the system’s RAM. CPU has immediate access to the OS as the critical parts of the OS are maintained in RAM as long as the computer is on. This enhances the performance and functionality of the overall system.</a:t>
            </a:r>
          </a:p>
          <a:p>
            <a:pPr algn="just">
              <a:buFont typeface="+mj-lt"/>
              <a:buAutoNum type="arabicPeriod"/>
            </a:pPr>
            <a:r>
              <a:rPr lang="en-US" dirty="0"/>
              <a:t>Now the system is ready for use.</a:t>
            </a:r>
          </a:p>
          <a:p>
            <a:pPr algn="just"/>
            <a:endParaRPr lang="en-US" dirty="0"/>
          </a:p>
        </p:txBody>
      </p:sp>
      <p:sp>
        <p:nvSpPr>
          <p:cNvPr id="4" name="Slide Number Placeholder 3"/>
          <p:cNvSpPr>
            <a:spLocks noGrp="1"/>
          </p:cNvSpPr>
          <p:nvPr>
            <p:ph type="sldNum" sz="quarter" idx="12"/>
          </p:nvPr>
        </p:nvSpPr>
        <p:spPr/>
        <p:txBody>
          <a:bodyPr/>
          <a:lstStyle/>
          <a:p>
            <a:fld id="{106BED6A-76D1-48F6-AD62-2B6C443CFDDC}" type="slidenum">
              <a:rPr lang="en-US" smtClean="0"/>
              <a:t>20</a:t>
            </a:fld>
            <a:endParaRPr lang="en-US"/>
          </a:p>
        </p:txBody>
      </p:sp>
    </p:spTree>
    <p:extLst>
      <p:ext uri="{BB962C8B-B14F-4D97-AF65-F5344CB8AC3E}">
        <p14:creationId xmlns:p14="http://schemas.microsoft.com/office/powerpoint/2010/main" val="11234058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Computer uses its memory?</a:t>
            </a:r>
          </a:p>
        </p:txBody>
      </p:sp>
      <p:sp>
        <p:nvSpPr>
          <p:cNvPr id="3" name="Content Placeholder 2"/>
          <p:cNvSpPr>
            <a:spLocks noGrp="1"/>
          </p:cNvSpPr>
          <p:nvPr>
            <p:ph idx="1"/>
          </p:nvPr>
        </p:nvSpPr>
        <p:spPr>
          <a:xfrm>
            <a:off x="2589212" y="2133600"/>
            <a:ext cx="8713526" cy="3777622"/>
          </a:xfrm>
        </p:spPr>
        <p:txBody>
          <a:bodyPr>
            <a:normAutofit fontScale="85000" lnSpcReduction="20000"/>
          </a:bodyPr>
          <a:lstStyle/>
          <a:p>
            <a:pPr algn="just">
              <a:buFont typeface="+mj-lt"/>
              <a:buAutoNum type="arabicPeriod" startAt="6"/>
            </a:pPr>
            <a:r>
              <a:rPr lang="en-US" dirty="0"/>
              <a:t> When you load or open an application it is loaded in the RAM. Since the CPU looks for information in the RAM, any data and instructions that are required for processing (read, write or update) is brought into RAM. To conserve RAM usage, many applications load only the essential parts of the program initially and then load other pieces as needed. Any files that are opened for use in that application are also loaded into RAM.</a:t>
            </a:r>
          </a:p>
          <a:p>
            <a:pPr algn="just">
              <a:buFont typeface="+mj-lt"/>
              <a:buAutoNum type="arabicPeriod" startAt="6"/>
            </a:pPr>
            <a:r>
              <a:rPr lang="en-US" dirty="0"/>
              <a:t>The CPU requests the data it needs from RAM, processes it and writes new data back to RAM in a continuous cycle. The shuffling of data between the CPU and RAM happens millions of times every second.</a:t>
            </a:r>
          </a:p>
          <a:p>
            <a:pPr algn="just">
              <a:buFont typeface="+mj-lt"/>
              <a:buAutoNum type="arabicPeriod" startAt="6"/>
            </a:pPr>
            <a:r>
              <a:rPr lang="en-US" dirty="0"/>
              <a:t> When you save a file and close the application, the file is written to the secondary memory as specified by you. The application and any accompanying files usually get deleted from RAM to make space for new data.</a:t>
            </a:r>
          </a:p>
          <a:p>
            <a:pPr algn="just">
              <a:buFont typeface="+mj-lt"/>
              <a:buAutoNum type="arabicPeriod" startAt="6"/>
            </a:pPr>
            <a:r>
              <a:rPr lang="en-US" dirty="0"/>
              <a:t>If the files are not saved to a storage device before being closed, they are lost.</a:t>
            </a:r>
          </a:p>
          <a:p>
            <a:pPr algn="just">
              <a:buFont typeface="+mj-lt"/>
              <a:buAutoNum type="arabicPeriod" startAt="6"/>
            </a:pPr>
            <a:r>
              <a:rPr lang="en-US" dirty="0"/>
              <a:t>Sometimes, when you write a program and the power goes off, your program is lost if you have not saved it. This is because your program was in the RAM and was not saved on the secondary memory; the content of the RAM gets erased when the power is switched off.</a:t>
            </a:r>
          </a:p>
        </p:txBody>
      </p:sp>
      <p:sp>
        <p:nvSpPr>
          <p:cNvPr id="4" name="Slide Number Placeholder 3"/>
          <p:cNvSpPr>
            <a:spLocks noGrp="1"/>
          </p:cNvSpPr>
          <p:nvPr>
            <p:ph type="sldNum" sz="quarter" idx="12"/>
          </p:nvPr>
        </p:nvSpPr>
        <p:spPr/>
        <p:txBody>
          <a:bodyPr/>
          <a:lstStyle/>
          <a:p>
            <a:fld id="{106BED6A-76D1-48F6-AD62-2B6C443CFDDC}" type="slidenum">
              <a:rPr lang="en-US" smtClean="0"/>
              <a:t>21</a:t>
            </a:fld>
            <a:endParaRPr lang="en-US"/>
          </a:p>
        </p:txBody>
      </p:sp>
    </p:spTree>
    <p:extLst>
      <p:ext uri="{BB962C8B-B14F-4D97-AF65-F5344CB8AC3E}">
        <p14:creationId xmlns:p14="http://schemas.microsoft.com/office/powerpoint/2010/main" val="2513606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Question 6:</a:t>
            </a:r>
            <a:br>
              <a:rPr lang="en-US" b="1" dirty="0"/>
            </a:br>
            <a:endParaRPr lang="en-US" b="1" dirty="0"/>
          </a:p>
        </p:txBody>
      </p:sp>
      <p:sp>
        <p:nvSpPr>
          <p:cNvPr id="3" name="Content Placeholder 2"/>
          <p:cNvSpPr>
            <a:spLocks noGrp="1"/>
          </p:cNvSpPr>
          <p:nvPr>
            <p:ph idx="1"/>
          </p:nvPr>
        </p:nvSpPr>
        <p:spPr/>
        <p:txBody>
          <a:bodyPr>
            <a:normAutofit/>
          </a:bodyPr>
          <a:lstStyle/>
          <a:p>
            <a:pPr algn="just"/>
            <a:r>
              <a:rPr lang="en-US" sz="2400" dirty="0"/>
              <a:t>As we know there are various types of Secondary storage device, Which Secondary storage device you use the most and why?</a:t>
            </a:r>
          </a:p>
        </p:txBody>
      </p:sp>
      <p:sp>
        <p:nvSpPr>
          <p:cNvPr id="4" name="Slide Number Placeholder 3"/>
          <p:cNvSpPr>
            <a:spLocks noGrp="1"/>
          </p:cNvSpPr>
          <p:nvPr>
            <p:ph type="sldNum" sz="quarter" idx="12"/>
          </p:nvPr>
        </p:nvSpPr>
        <p:spPr/>
        <p:txBody>
          <a:bodyPr/>
          <a:lstStyle/>
          <a:p>
            <a:fld id="{106BED6A-76D1-48F6-AD62-2B6C443CFDDC}" type="slidenum">
              <a:rPr lang="en-US" smtClean="0"/>
              <a:t>22</a:t>
            </a:fld>
            <a:endParaRPr lang="en-US"/>
          </a:p>
        </p:txBody>
      </p:sp>
    </p:spTree>
    <p:extLst>
      <p:ext uri="{BB962C8B-B14F-4D97-AF65-F5344CB8AC3E}">
        <p14:creationId xmlns:p14="http://schemas.microsoft.com/office/powerpoint/2010/main" val="13314395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B658C3-D022-F048-A152-397F51E2C256}"/>
              </a:ext>
            </a:extLst>
          </p:cNvPr>
          <p:cNvSpPr>
            <a:spLocks noGrp="1"/>
          </p:cNvSpPr>
          <p:nvPr>
            <p:ph idx="1"/>
          </p:nvPr>
        </p:nvSpPr>
        <p:spPr>
          <a:xfrm>
            <a:off x="1712519" y="2246721"/>
            <a:ext cx="8915400" cy="3777622"/>
          </a:xfrm>
        </p:spPr>
        <p:txBody>
          <a:bodyPr>
            <a:normAutofit/>
          </a:bodyPr>
          <a:lstStyle/>
          <a:p>
            <a:pPr marL="0" indent="0" algn="ctr">
              <a:buNone/>
            </a:pPr>
            <a:r>
              <a:rPr lang="en-US" sz="8000" b="1" dirty="0">
                <a:latin typeface="Bahnschrift" panose="020B0502040204020203" pitchFamily="34" charset="0"/>
              </a:rPr>
              <a:t>END</a:t>
            </a:r>
          </a:p>
        </p:txBody>
      </p:sp>
      <p:sp>
        <p:nvSpPr>
          <p:cNvPr id="4" name="Slide Number Placeholder 3">
            <a:extLst>
              <a:ext uri="{FF2B5EF4-FFF2-40B4-BE49-F238E27FC236}">
                <a16:creationId xmlns:a16="http://schemas.microsoft.com/office/drawing/2014/main" id="{D736808F-D87A-890F-59A7-80B8C0BAF424}"/>
              </a:ext>
            </a:extLst>
          </p:cNvPr>
          <p:cNvSpPr>
            <a:spLocks noGrp="1"/>
          </p:cNvSpPr>
          <p:nvPr>
            <p:ph type="sldNum" sz="quarter" idx="12"/>
          </p:nvPr>
        </p:nvSpPr>
        <p:spPr/>
        <p:txBody>
          <a:bodyPr/>
          <a:lstStyle/>
          <a:p>
            <a:fld id="{BA7A6E9C-5E3E-4EF1-A1F5-09F1FAA1BC14}" type="slidenum">
              <a:rPr lang="en-US" smtClean="0"/>
              <a:t>23</a:t>
            </a:fld>
            <a:endParaRPr lang="en-US"/>
          </a:p>
        </p:txBody>
      </p:sp>
    </p:spTree>
    <p:extLst>
      <p:ext uri="{BB962C8B-B14F-4D97-AF65-F5344CB8AC3E}">
        <p14:creationId xmlns:p14="http://schemas.microsoft.com/office/powerpoint/2010/main" val="109316624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7955</TotalTime>
  <Words>2183</Words>
  <Application>Microsoft Office PowerPoint</Application>
  <PresentationFormat>Widescreen</PresentationFormat>
  <Paragraphs>151</Paragraphs>
  <Slides>23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Arial Rounded MT Bold</vt:lpstr>
      <vt:lpstr>Bahnschrift</vt:lpstr>
      <vt:lpstr>Bahnschrift Light</vt:lpstr>
      <vt:lpstr>Bahnschrift SemiBold SemiConden</vt:lpstr>
      <vt:lpstr>Calibri</vt:lpstr>
      <vt:lpstr>Century Gothic</vt:lpstr>
      <vt:lpstr>Georgia</vt:lpstr>
      <vt:lpstr>Wingdings 3</vt:lpstr>
      <vt:lpstr>Wisp</vt:lpstr>
      <vt:lpstr>Unit 3 Computer Memory</vt:lpstr>
      <vt:lpstr>Syllabus</vt:lpstr>
      <vt:lpstr>Introduction</vt:lpstr>
      <vt:lpstr>Memory Hierarchy</vt:lpstr>
      <vt:lpstr>Cache Memory</vt:lpstr>
      <vt:lpstr>Cache Memory</vt:lpstr>
      <vt:lpstr>Primary Memory</vt:lpstr>
      <vt:lpstr>RAM</vt:lpstr>
      <vt:lpstr>Read Only Memory(ROM)</vt:lpstr>
      <vt:lpstr>Types of Read-Only Memory (ROM) </vt:lpstr>
      <vt:lpstr>Secondary Memory/Auxiliary memory</vt:lpstr>
      <vt:lpstr>Magnetic Tape</vt:lpstr>
      <vt:lpstr>Magnetic Disk : Hard Disk</vt:lpstr>
      <vt:lpstr>Mechanism of hard disk</vt:lpstr>
      <vt:lpstr>Floppy disk</vt:lpstr>
      <vt:lpstr>Compact Disk(CD)</vt:lpstr>
      <vt:lpstr>Digital Versatile Disk(DVD)</vt:lpstr>
      <vt:lpstr>USB flash drive</vt:lpstr>
      <vt:lpstr>Magneto Optical Disk</vt:lpstr>
      <vt:lpstr>How Computer uses its memory?</vt:lpstr>
      <vt:lpstr>How Computer uses its memory?</vt:lpstr>
      <vt:lpstr>Question 6: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 Introduction to Computer</dc:title>
  <dc:creator>Hp</dc:creator>
  <cp:lastModifiedBy>Yachu</cp:lastModifiedBy>
  <cp:revision>165</cp:revision>
  <dcterms:created xsi:type="dcterms:W3CDTF">2022-12-19T23:12:59Z</dcterms:created>
  <dcterms:modified xsi:type="dcterms:W3CDTF">2023-12-13T12:12:07Z</dcterms:modified>
</cp:coreProperties>
</file>