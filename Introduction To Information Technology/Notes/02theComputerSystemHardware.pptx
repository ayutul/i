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8" r:id="rId3"/>
    <p:sldId id="257" r:id="rId4"/>
    <p:sldId id="298" r:id="rId5"/>
    <p:sldId id="303" r:id="rId6"/>
    <p:sldId id="304" r:id="rId7"/>
    <p:sldId id="259" r:id="rId8"/>
    <p:sldId id="260" r:id="rId9"/>
    <p:sldId id="300" r:id="rId10"/>
    <p:sldId id="302" r:id="rId11"/>
    <p:sldId id="301" r:id="rId12"/>
    <p:sldId id="305" r:id="rId13"/>
    <p:sldId id="306" r:id="rId14"/>
    <p:sldId id="307" r:id="rId15"/>
    <p:sldId id="308" r:id="rId16"/>
    <p:sldId id="310" r:id="rId17"/>
    <p:sldId id="311" r:id="rId18"/>
    <p:sldId id="312" r:id="rId19"/>
    <p:sldId id="313" r:id="rId20"/>
    <p:sldId id="314" r:id="rId21"/>
    <p:sldId id="309" r:id="rId22"/>
    <p:sldId id="315" r:id="rId23"/>
    <p:sldId id="31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883" autoAdjust="0"/>
  </p:normalViewPr>
  <p:slideViewPr>
    <p:cSldViewPr snapToGrid="0">
      <p:cViewPr varScale="1">
        <p:scale>
          <a:sx n="81" d="100"/>
          <a:sy n="81" d="100"/>
        </p:scale>
        <p:origin x="7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4A006D-C36D-4C0E-B9F8-EE11F4CB1163}" type="datetimeFigureOut">
              <a:rPr lang="en-US" smtClean="0"/>
              <a:t>12/12/2023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6907B-A815-4CA1-AF05-DA566111AA83}" type="slidenum">
              <a:rPr lang="en-US" smtClean="0"/>
              <a:t>‹#›</a:t>
            </a:fld>
            <a:endParaRPr lang="en-US"/>
          </a:p>
        </p:txBody>
      </p:sp>
    </p:spTree>
    <p:extLst>
      <p:ext uri="{BB962C8B-B14F-4D97-AF65-F5344CB8AC3E}">
        <p14:creationId xmlns:p14="http://schemas.microsoft.com/office/powerpoint/2010/main" val="312053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1526FE-7AD0-45B0-AFA7-6FC8B0DFF9EF}" type="datetime1">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590219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5BD8AC-2CBF-4F84-A7A2-C45D6281DD87}" type="datetime1">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3329857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68AA524-57E3-463D-BAAF-87C7F387CE50}" type="datetime1">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144363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873E5E-E5A2-4530-92A0-88E9239549A5}" type="datetime1">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1820606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66B041-817D-4E17-9ECC-A168C8B85804}" type="datetime1">
              <a:rPr lang="en-US" smtClean="0"/>
              <a:t>12/12/2023</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39445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607E92-3DD8-4FF1-83AB-C857D0C9E69B}" type="datetime1">
              <a:rPr lang="en-US" smtClean="0"/>
              <a:t>12/12/2023</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263463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DD6C24-4F6A-4794-9F0D-DF464AFE5571}" type="datetime1">
              <a:rPr lang="en-US" smtClean="0"/>
              <a:t>12/12/2023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398726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60FDF4D-6BF1-451F-8D49-F70ED428DBC6}" type="datetime1">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513732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E2FF42E-8012-4EBD-893B-6F7152EAE7F7}" type="datetime1">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336123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573234D-03DA-427F-9068-ECE9ECD2EF9D}" type="datetime1">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3581762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6257D91-9581-4D46-B133-7E6B2449AA9C}" type="datetime1">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7A6E9C-5E3E-4EF1-A1F5-09F1FAA1BC14}"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70883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8A52A87F-2F7E-4E9F-9EFA-0F209A017A4B}" type="datetime1">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898283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21B14DB8-1EA7-40CA-8E9F-315E53B91170}" type="datetime1">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7A6E9C-5E3E-4EF1-A1F5-09F1FAA1BC14}"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00394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CDA589CB-5CA8-4453-88FB-82530E5298D5}" type="datetime1">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633799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833124-BBD5-4F37-8B32-40CA21547E8F}" type="datetime1">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7386594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474803-261B-4166-A0F4-4684E1E9E251}" type="datetime1">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91986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E00DB90-7F20-4B8A-87F4-4E51D150ADA9}" type="datetime1">
              <a:rPr lang="en-US" smtClean="0"/>
              <a:t>12/12/2023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A7A6E9C-5E3E-4EF1-A1F5-09F1FAA1BC14}" type="slidenum">
              <a:rPr lang="en-US" smtClean="0"/>
              <a:t>‹#›</a:t>
            </a:fld>
            <a:endParaRPr lang="en-US"/>
          </a:p>
        </p:txBody>
      </p:sp>
    </p:spTree>
    <p:extLst>
      <p:ext uri="{BB962C8B-B14F-4D97-AF65-F5344CB8AC3E}">
        <p14:creationId xmlns:p14="http://schemas.microsoft.com/office/powerpoint/2010/main" val="30090897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Unit 2</a:t>
            </a:r>
            <a:br>
              <a:rPr lang="en-US" dirty="0"/>
            </a:br>
            <a:r>
              <a:rPr lang="en-US" dirty="0"/>
              <a:t>The Computer System hardware</a:t>
            </a:r>
          </a:p>
        </p:txBody>
      </p:sp>
      <p:sp>
        <p:nvSpPr>
          <p:cNvPr id="4" name="Slide Number Placeholder 3"/>
          <p:cNvSpPr>
            <a:spLocks noGrp="1"/>
          </p:cNvSpPr>
          <p:nvPr>
            <p:ph type="sldNum" sz="quarter" idx="12"/>
          </p:nvPr>
        </p:nvSpPr>
        <p:spPr/>
        <p:txBody>
          <a:bodyPr/>
          <a:lstStyle/>
          <a:p>
            <a:fld id="{BA7A6E9C-5E3E-4EF1-A1F5-09F1FAA1BC14}" type="slidenum">
              <a:rPr lang="en-US" smtClean="0"/>
              <a:t>1</a:t>
            </a:fld>
            <a:endParaRPr lang="en-US"/>
          </a:p>
        </p:txBody>
      </p:sp>
    </p:spTree>
    <p:extLst>
      <p:ext uri="{BB962C8B-B14F-4D97-AF65-F5344CB8AC3E}">
        <p14:creationId xmlns:p14="http://schemas.microsoft.com/office/powerpoint/2010/main" val="3934559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93D61-8E3C-C05F-6133-FA44BA89C96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BEE4E30E-D11B-421F-1357-E558B667DE20}"/>
              </a:ext>
            </a:extLst>
          </p:cNvPr>
          <p:cNvSpPr>
            <a:spLocks noGrp="1"/>
          </p:cNvSpPr>
          <p:nvPr>
            <p:ph idx="1"/>
          </p:nvPr>
        </p:nvSpPr>
        <p:spPr>
          <a:xfrm>
            <a:off x="2589212" y="1508289"/>
            <a:ext cx="8915400" cy="5349711"/>
          </a:xfrm>
        </p:spPr>
        <p:txBody>
          <a:bodyPr>
            <a:normAutofit/>
          </a:bodyPr>
          <a:lstStyle/>
          <a:p>
            <a:r>
              <a:rPr lang="en-US" sz="2800" dirty="0"/>
              <a:t>Introduction  </a:t>
            </a:r>
          </a:p>
          <a:p>
            <a:r>
              <a:rPr lang="en-US" sz="2800" dirty="0"/>
              <a:t>Central Processing Unit </a:t>
            </a:r>
          </a:p>
          <a:p>
            <a:r>
              <a:rPr lang="en-US" sz="2800" dirty="0"/>
              <a:t> Memory Unit </a:t>
            </a:r>
          </a:p>
          <a:p>
            <a:r>
              <a:rPr lang="en-US" sz="2800" dirty="0"/>
              <a:t>Instruction Format </a:t>
            </a:r>
          </a:p>
          <a:p>
            <a:r>
              <a:rPr lang="en-US" sz="2800" dirty="0"/>
              <a:t>Instruction Set </a:t>
            </a:r>
          </a:p>
          <a:p>
            <a:r>
              <a:rPr lang="en-US" sz="2800" dirty="0"/>
              <a:t>Instruction Cycle </a:t>
            </a:r>
          </a:p>
          <a:p>
            <a:r>
              <a:rPr lang="en-US" sz="2800" dirty="0"/>
              <a:t> Microprocessor </a:t>
            </a:r>
          </a:p>
          <a:p>
            <a:r>
              <a:rPr lang="en-US" sz="2800" dirty="0"/>
              <a:t>Interconnecting the Units of a Computer </a:t>
            </a:r>
          </a:p>
          <a:p>
            <a:r>
              <a:rPr lang="en-US" sz="2800" dirty="0"/>
              <a:t>Inside a Computer Cabinet </a:t>
            </a:r>
          </a:p>
        </p:txBody>
      </p:sp>
      <p:sp>
        <p:nvSpPr>
          <p:cNvPr id="4" name="Slide Number Placeholder 3">
            <a:extLst>
              <a:ext uri="{FF2B5EF4-FFF2-40B4-BE49-F238E27FC236}">
                <a16:creationId xmlns:a16="http://schemas.microsoft.com/office/drawing/2014/main" id="{C5C861FF-6202-B0F7-6B71-A23DA6DB4455}"/>
              </a:ext>
            </a:extLst>
          </p:cNvPr>
          <p:cNvSpPr>
            <a:spLocks noGrp="1"/>
          </p:cNvSpPr>
          <p:nvPr>
            <p:ph type="sldNum" sz="quarter" idx="12"/>
          </p:nvPr>
        </p:nvSpPr>
        <p:spPr/>
        <p:txBody>
          <a:bodyPr/>
          <a:lstStyle/>
          <a:p>
            <a:fld id="{BA7A6E9C-5E3E-4EF1-A1F5-09F1FAA1BC14}" type="slidenum">
              <a:rPr lang="en-US" smtClean="0"/>
              <a:t>2</a:t>
            </a:fld>
            <a:endParaRPr lang="en-US"/>
          </a:p>
        </p:txBody>
      </p:sp>
    </p:spTree>
    <p:extLst>
      <p:ext uri="{BB962C8B-B14F-4D97-AF65-F5344CB8AC3E}">
        <p14:creationId xmlns:p14="http://schemas.microsoft.com/office/powerpoint/2010/main" val="3553354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p>
        </p:txBody>
      </p:sp>
      <p:sp>
        <p:nvSpPr>
          <p:cNvPr id="3" name="Content Placeholder 2"/>
          <p:cNvSpPr>
            <a:spLocks noGrp="1"/>
          </p:cNvSpPr>
          <p:nvPr>
            <p:ph idx="1"/>
          </p:nvPr>
        </p:nvSpPr>
        <p:spPr>
          <a:xfrm>
            <a:off x="838199" y="1825624"/>
            <a:ext cx="11067855" cy="3990713"/>
          </a:xfrm>
        </p:spPr>
        <p:txBody>
          <a:bodyPr>
            <a:normAutofit fontScale="92500" lnSpcReduction="10000"/>
          </a:bodyPr>
          <a:lstStyle/>
          <a:p>
            <a:pPr marL="0" indent="0" algn="just">
              <a:buNone/>
            </a:pPr>
            <a:r>
              <a:rPr lang="en-US" sz="2400" b="1" dirty="0">
                <a:solidFill>
                  <a:schemeClr val="accent4"/>
                </a:solidFill>
              </a:rPr>
              <a:t>Computer architecture </a:t>
            </a:r>
            <a:r>
              <a:rPr lang="en-US" sz="2400" dirty="0"/>
              <a:t>refers to the structure and behavior of the computer. It includes the specifications of the components, for example, instruction format, instruction set and techniques for addressing memory, and how they connect to the other components. </a:t>
            </a:r>
          </a:p>
          <a:p>
            <a:pPr marL="0" indent="0" algn="just">
              <a:buNone/>
            </a:pPr>
            <a:endParaRPr lang="en-US" sz="2400" dirty="0"/>
          </a:p>
          <a:p>
            <a:pPr marL="0" indent="0" algn="just">
              <a:buNone/>
            </a:pPr>
            <a:r>
              <a:rPr lang="en-US" sz="2400" b="1" dirty="0">
                <a:solidFill>
                  <a:schemeClr val="accent3"/>
                </a:solidFill>
              </a:rPr>
              <a:t>Computer Organization </a:t>
            </a:r>
            <a:r>
              <a:rPr lang="en-US" sz="2400" dirty="0"/>
              <a:t>focuses on the organizational structure. It deals with how the hardware components operate and the way they are connected to form the computer. </a:t>
            </a:r>
          </a:p>
          <a:p>
            <a:pPr marL="0" indent="0" algn="just">
              <a:buNone/>
            </a:pPr>
            <a:endParaRPr lang="en-US" sz="2400" dirty="0"/>
          </a:p>
          <a:p>
            <a:pPr marL="0" indent="0" algn="just">
              <a:buNone/>
            </a:pPr>
            <a:r>
              <a:rPr lang="en-US" sz="2400" b="1" dirty="0"/>
              <a:t>Computer Design </a:t>
            </a:r>
            <a:r>
              <a:rPr lang="en-US" sz="2400" dirty="0"/>
              <a:t>focuses on the hardware to be used and the interconnection of parts.</a:t>
            </a:r>
          </a:p>
        </p:txBody>
      </p:sp>
      <p:sp>
        <p:nvSpPr>
          <p:cNvPr id="4" name="Slide Number Placeholder 3"/>
          <p:cNvSpPr>
            <a:spLocks noGrp="1"/>
          </p:cNvSpPr>
          <p:nvPr>
            <p:ph type="sldNum" sz="quarter" idx="12"/>
          </p:nvPr>
        </p:nvSpPr>
        <p:spPr/>
        <p:txBody>
          <a:bodyPr/>
          <a:lstStyle/>
          <a:p>
            <a:fld id="{BA7A6E9C-5E3E-4EF1-A1F5-09F1FAA1BC14}" type="slidenum">
              <a:rPr lang="en-US" smtClean="0"/>
              <a:t>3</a:t>
            </a:fld>
            <a:endParaRPr lang="en-US"/>
          </a:p>
        </p:txBody>
      </p:sp>
    </p:spTree>
    <p:extLst>
      <p:ext uri="{BB962C8B-B14F-4D97-AF65-F5344CB8AC3E}">
        <p14:creationId xmlns:p14="http://schemas.microsoft.com/office/powerpoint/2010/main" val="1338291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Architecture/Organization/Anatomy of computer/Interconnecting parts of Computer</a:t>
            </a:r>
          </a:p>
        </p:txBody>
      </p:sp>
      <p:pic>
        <p:nvPicPr>
          <p:cNvPr id="2050" name="Picture 2" descr="File:Cpu diagram.pn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062614" y="2099312"/>
            <a:ext cx="7561393" cy="437374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106BED6A-76D1-48F6-AD62-2B6C443CFDDC}" type="slidenum">
              <a:rPr lang="en-US" smtClean="0"/>
              <a:t>4</a:t>
            </a:fld>
            <a:endParaRPr lang="en-US"/>
          </a:p>
        </p:txBody>
      </p:sp>
    </p:spTree>
    <p:extLst>
      <p:ext uri="{BB962C8B-B14F-4D97-AF65-F5344CB8AC3E}">
        <p14:creationId xmlns:p14="http://schemas.microsoft.com/office/powerpoint/2010/main" val="4235760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Input Unit</a:t>
            </a:r>
          </a:p>
        </p:txBody>
      </p:sp>
      <p:sp>
        <p:nvSpPr>
          <p:cNvPr id="3" name="Content Placeholder 2"/>
          <p:cNvSpPr>
            <a:spLocks noGrp="1"/>
          </p:cNvSpPr>
          <p:nvPr>
            <p:ph idx="1"/>
          </p:nvPr>
        </p:nvSpPr>
        <p:spPr/>
        <p:txBody>
          <a:bodyPr>
            <a:normAutofit/>
          </a:bodyPr>
          <a:lstStyle/>
          <a:p>
            <a:pPr algn="just"/>
            <a:r>
              <a:rPr lang="en-US" sz="2400" dirty="0">
                <a:latin typeface="Bahnschrift SemiBold SemiConden" panose="020B0502040204020203" pitchFamily="34" charset="0"/>
              </a:rPr>
              <a:t>It accepts data and instruction from the outside world.</a:t>
            </a:r>
          </a:p>
          <a:p>
            <a:pPr algn="just"/>
            <a:r>
              <a:rPr lang="en-US" sz="2400" dirty="0">
                <a:latin typeface="Bahnschrift SemiBold SemiConden" panose="020B0502040204020203" pitchFamily="34" charset="0"/>
              </a:rPr>
              <a:t>It converts these data and instructions into computer understandable form binary form</a:t>
            </a:r>
          </a:p>
          <a:p>
            <a:pPr algn="just"/>
            <a:r>
              <a:rPr lang="en-US" sz="2400" dirty="0">
                <a:latin typeface="Bahnschrift SemiBold SemiConden" panose="020B0502040204020203" pitchFamily="34" charset="0"/>
              </a:rPr>
              <a:t>It supplies the converted data and instruction to the computer system for further processing</a:t>
            </a:r>
          </a:p>
          <a:p>
            <a:pPr algn="just"/>
            <a:r>
              <a:rPr lang="en-US" sz="2400" dirty="0">
                <a:latin typeface="Bahnschrift SemiBold SemiConden" panose="020B0502040204020203" pitchFamily="34" charset="0"/>
              </a:rPr>
              <a:t>Keyboard, Mouse , Scanner, Microphone etc.</a:t>
            </a:r>
          </a:p>
        </p:txBody>
      </p:sp>
      <p:sp>
        <p:nvSpPr>
          <p:cNvPr id="4" name="Slide Number Placeholder 3"/>
          <p:cNvSpPr>
            <a:spLocks noGrp="1"/>
          </p:cNvSpPr>
          <p:nvPr>
            <p:ph type="sldNum" sz="quarter" idx="12"/>
          </p:nvPr>
        </p:nvSpPr>
        <p:spPr/>
        <p:txBody>
          <a:bodyPr/>
          <a:lstStyle/>
          <a:p>
            <a:fld id="{106BED6A-76D1-48F6-AD62-2B6C443CFDDC}" type="slidenum">
              <a:rPr lang="en-US" smtClean="0"/>
              <a:t>5</a:t>
            </a:fld>
            <a:endParaRPr lang="en-US"/>
          </a:p>
        </p:txBody>
      </p:sp>
    </p:spTree>
    <p:extLst>
      <p:ext uri="{BB962C8B-B14F-4D97-AF65-F5344CB8AC3E}">
        <p14:creationId xmlns:p14="http://schemas.microsoft.com/office/powerpoint/2010/main" val="1494059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Memory Unit</a:t>
            </a:r>
          </a:p>
        </p:txBody>
      </p:sp>
      <p:sp>
        <p:nvSpPr>
          <p:cNvPr id="3" name="Content Placeholder 2"/>
          <p:cNvSpPr>
            <a:spLocks noGrp="1"/>
          </p:cNvSpPr>
          <p:nvPr>
            <p:ph idx="1"/>
          </p:nvPr>
        </p:nvSpPr>
        <p:spPr/>
        <p:txBody>
          <a:bodyPr/>
          <a:lstStyle/>
          <a:p>
            <a:pPr marL="0" indent="0" algn="just">
              <a:buNone/>
            </a:pPr>
            <a:r>
              <a:rPr lang="en-US" sz="2800" dirty="0">
                <a:latin typeface="Bahnschrift SemiBold SemiConden" panose="020B0502040204020203" pitchFamily="34" charset="0"/>
              </a:rPr>
              <a:t>Primary Memory</a:t>
            </a:r>
          </a:p>
          <a:p>
            <a:pPr algn="just"/>
            <a:r>
              <a:rPr lang="en-US" dirty="0"/>
              <a:t>When we enter the data into the computer using an input device, the entered information immediately gets saved in the memory unit of the Central Processing Unit (CPU). </a:t>
            </a:r>
          </a:p>
          <a:p>
            <a:pPr algn="just"/>
            <a:r>
              <a:rPr lang="en-US" dirty="0"/>
              <a:t>Similarly, when the output of our command is processed by the CPU is saved in the memory unit before giving the output to the user.</a:t>
            </a:r>
          </a:p>
          <a:p>
            <a:pPr marL="0" indent="0" algn="just">
              <a:buNone/>
            </a:pPr>
            <a:r>
              <a:rPr lang="en-US" sz="2800" dirty="0">
                <a:latin typeface="Bahnschrift SemiBold SemiConden" panose="020B0502040204020203" pitchFamily="34" charset="0"/>
              </a:rPr>
              <a:t>Secondary Memory</a:t>
            </a:r>
            <a:endParaRPr lang="en-US" sz="2800" dirty="0">
              <a:latin typeface="+mj-lt"/>
            </a:endParaRPr>
          </a:p>
          <a:p>
            <a:pPr algn="just"/>
            <a:r>
              <a:rPr lang="en-US" dirty="0">
                <a:latin typeface="+mj-lt"/>
              </a:rPr>
              <a:t>It stores the raw data for future processing and processing information for future retrieval</a:t>
            </a:r>
          </a:p>
          <a:p>
            <a:pPr marL="0" indent="0" algn="just">
              <a:buNone/>
            </a:pPr>
            <a:endParaRPr lang="en-US" dirty="0"/>
          </a:p>
        </p:txBody>
      </p:sp>
      <p:sp>
        <p:nvSpPr>
          <p:cNvPr id="4" name="Slide Number Placeholder 3"/>
          <p:cNvSpPr>
            <a:spLocks noGrp="1"/>
          </p:cNvSpPr>
          <p:nvPr>
            <p:ph type="sldNum" sz="quarter" idx="12"/>
          </p:nvPr>
        </p:nvSpPr>
        <p:spPr/>
        <p:txBody>
          <a:bodyPr/>
          <a:lstStyle/>
          <a:p>
            <a:fld id="{106BED6A-76D1-48F6-AD62-2B6C443CFDDC}" type="slidenum">
              <a:rPr lang="en-US" smtClean="0"/>
              <a:t>6</a:t>
            </a:fld>
            <a:endParaRPr lang="en-US"/>
          </a:p>
        </p:txBody>
      </p:sp>
    </p:spTree>
    <p:extLst>
      <p:ext uri="{BB962C8B-B14F-4D97-AF65-F5344CB8AC3E}">
        <p14:creationId xmlns:p14="http://schemas.microsoft.com/office/powerpoint/2010/main" val="1963434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4C195-4D67-8193-EEEB-FB385FD32BEE}"/>
              </a:ext>
            </a:extLst>
          </p:cNvPr>
          <p:cNvSpPr>
            <a:spLocks noGrp="1"/>
          </p:cNvSpPr>
          <p:nvPr>
            <p:ph type="title"/>
          </p:nvPr>
        </p:nvSpPr>
        <p:spPr/>
        <p:txBody>
          <a:bodyPr/>
          <a:lstStyle/>
          <a:p>
            <a:r>
              <a:rPr lang="en-US" dirty="0"/>
              <a:t>Central Processing Unit</a:t>
            </a:r>
          </a:p>
        </p:txBody>
      </p:sp>
      <p:sp>
        <p:nvSpPr>
          <p:cNvPr id="3" name="Content Placeholder 2">
            <a:extLst>
              <a:ext uri="{FF2B5EF4-FFF2-40B4-BE49-F238E27FC236}">
                <a16:creationId xmlns:a16="http://schemas.microsoft.com/office/drawing/2014/main" id="{05049B0C-8C9D-175F-DE9D-417A76597966}"/>
              </a:ext>
            </a:extLst>
          </p:cNvPr>
          <p:cNvSpPr>
            <a:spLocks noGrp="1"/>
          </p:cNvSpPr>
          <p:nvPr>
            <p:ph idx="1"/>
          </p:nvPr>
        </p:nvSpPr>
        <p:spPr>
          <a:xfrm>
            <a:off x="2589212" y="2133600"/>
            <a:ext cx="5329302" cy="3777622"/>
          </a:xfrm>
        </p:spPr>
        <p:txBody>
          <a:bodyPr>
            <a:normAutofit fontScale="92500" lnSpcReduction="10000"/>
          </a:bodyPr>
          <a:lstStyle/>
          <a:p>
            <a:r>
              <a:rPr lang="en-US" dirty="0"/>
              <a:t>CPU is component that is actually responsible for interpreting and executing most of the commands from the computer hardware and software and also controls the operation of all other components such as memory and input and output devices.</a:t>
            </a:r>
          </a:p>
          <a:p>
            <a:r>
              <a:rPr lang="en-US" dirty="0"/>
              <a:t>Function of CPU are :</a:t>
            </a:r>
          </a:p>
          <a:p>
            <a:pPr lvl="1"/>
            <a:r>
              <a:rPr lang="en-US" dirty="0"/>
              <a:t>Reads instructions from memory</a:t>
            </a:r>
          </a:p>
          <a:p>
            <a:pPr lvl="1"/>
            <a:r>
              <a:rPr lang="en-US" dirty="0"/>
              <a:t>Communicate with all peripherals using the system bus</a:t>
            </a:r>
          </a:p>
          <a:p>
            <a:pPr lvl="1"/>
            <a:r>
              <a:rPr lang="en-US" dirty="0"/>
              <a:t>It controls the sequence of instructions</a:t>
            </a:r>
          </a:p>
          <a:p>
            <a:pPr lvl="1"/>
            <a:r>
              <a:rPr lang="en-US" dirty="0"/>
              <a:t>Performs the computing tasks specified in program</a:t>
            </a:r>
          </a:p>
        </p:txBody>
      </p:sp>
      <p:sp>
        <p:nvSpPr>
          <p:cNvPr id="4" name="Slide Number Placeholder 3">
            <a:extLst>
              <a:ext uri="{FF2B5EF4-FFF2-40B4-BE49-F238E27FC236}">
                <a16:creationId xmlns:a16="http://schemas.microsoft.com/office/drawing/2014/main" id="{8F252271-FEB4-D701-E111-5ADF8834C24B}"/>
              </a:ext>
            </a:extLst>
          </p:cNvPr>
          <p:cNvSpPr>
            <a:spLocks noGrp="1"/>
          </p:cNvSpPr>
          <p:nvPr>
            <p:ph type="sldNum" sz="quarter" idx="12"/>
          </p:nvPr>
        </p:nvSpPr>
        <p:spPr/>
        <p:txBody>
          <a:bodyPr/>
          <a:lstStyle/>
          <a:p>
            <a:fld id="{BA7A6E9C-5E3E-4EF1-A1F5-09F1FAA1BC14}" type="slidenum">
              <a:rPr lang="en-US" smtClean="0"/>
              <a:t>7</a:t>
            </a:fld>
            <a:endParaRPr lang="en-US"/>
          </a:p>
        </p:txBody>
      </p:sp>
      <p:pic>
        <p:nvPicPr>
          <p:cNvPr id="5" name="Picture 2" descr="CPU upgrade – how to install your new processor | PCGamesN">
            <a:extLst>
              <a:ext uri="{FF2B5EF4-FFF2-40B4-BE49-F238E27FC236}">
                <a16:creationId xmlns:a16="http://schemas.microsoft.com/office/drawing/2014/main" id="{BA462E5D-6985-4A3A-C25E-0BC3C528D5F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18514" y="1596420"/>
            <a:ext cx="3874417" cy="2499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698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076FA-9CC1-20C1-1634-9973AC858593}"/>
              </a:ext>
            </a:extLst>
          </p:cNvPr>
          <p:cNvSpPr>
            <a:spLocks noGrp="1"/>
          </p:cNvSpPr>
          <p:nvPr>
            <p:ph type="title"/>
          </p:nvPr>
        </p:nvSpPr>
        <p:spPr/>
        <p:txBody>
          <a:bodyPr/>
          <a:lstStyle/>
          <a:p>
            <a:r>
              <a:rPr lang="en-US" dirty="0"/>
              <a:t>Three components of CPU</a:t>
            </a:r>
          </a:p>
        </p:txBody>
      </p:sp>
      <p:sp>
        <p:nvSpPr>
          <p:cNvPr id="3" name="Content Placeholder 2">
            <a:extLst>
              <a:ext uri="{FF2B5EF4-FFF2-40B4-BE49-F238E27FC236}">
                <a16:creationId xmlns:a16="http://schemas.microsoft.com/office/drawing/2014/main" id="{5076A976-4C25-232B-0B36-CEB4657C351F}"/>
              </a:ext>
            </a:extLst>
          </p:cNvPr>
          <p:cNvSpPr>
            <a:spLocks noGrp="1"/>
          </p:cNvSpPr>
          <p:nvPr>
            <p:ph idx="1"/>
          </p:nvPr>
        </p:nvSpPr>
        <p:spPr/>
        <p:txBody>
          <a:bodyPr/>
          <a:lstStyle/>
          <a:p>
            <a:r>
              <a:rPr lang="en-US" dirty="0"/>
              <a:t>Arithmetic and logical unit</a:t>
            </a:r>
          </a:p>
          <a:p>
            <a:r>
              <a:rPr lang="en-US" dirty="0"/>
              <a:t>Control Unit</a:t>
            </a:r>
          </a:p>
          <a:p>
            <a:r>
              <a:rPr lang="en-US" dirty="0"/>
              <a:t>Registers</a:t>
            </a:r>
          </a:p>
        </p:txBody>
      </p:sp>
      <p:sp>
        <p:nvSpPr>
          <p:cNvPr id="4" name="Slide Number Placeholder 3">
            <a:extLst>
              <a:ext uri="{FF2B5EF4-FFF2-40B4-BE49-F238E27FC236}">
                <a16:creationId xmlns:a16="http://schemas.microsoft.com/office/drawing/2014/main" id="{0CB792BE-410B-8D4D-1FA6-CC276B35EF5D}"/>
              </a:ext>
            </a:extLst>
          </p:cNvPr>
          <p:cNvSpPr>
            <a:spLocks noGrp="1"/>
          </p:cNvSpPr>
          <p:nvPr>
            <p:ph type="sldNum" sz="quarter" idx="12"/>
          </p:nvPr>
        </p:nvSpPr>
        <p:spPr/>
        <p:txBody>
          <a:bodyPr/>
          <a:lstStyle/>
          <a:p>
            <a:fld id="{BA7A6E9C-5E3E-4EF1-A1F5-09F1FAA1BC14}" type="slidenum">
              <a:rPr lang="en-US" smtClean="0"/>
              <a:t>8</a:t>
            </a:fld>
            <a:endParaRPr lang="en-US"/>
          </a:p>
        </p:txBody>
      </p:sp>
    </p:spTree>
    <p:extLst>
      <p:ext uri="{BB962C8B-B14F-4D97-AF65-F5344CB8AC3E}">
        <p14:creationId xmlns:p14="http://schemas.microsoft.com/office/powerpoint/2010/main" val="893340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Arithmetic &amp; Logical Unit</a:t>
            </a:r>
          </a:p>
        </p:txBody>
      </p:sp>
      <p:sp>
        <p:nvSpPr>
          <p:cNvPr id="3" name="Content Placeholder 2"/>
          <p:cNvSpPr>
            <a:spLocks noGrp="1"/>
          </p:cNvSpPr>
          <p:nvPr>
            <p:ph idx="1"/>
          </p:nvPr>
        </p:nvSpPr>
        <p:spPr/>
        <p:txBody>
          <a:bodyPr/>
          <a:lstStyle/>
          <a:p>
            <a:pPr algn="just"/>
            <a:r>
              <a:rPr lang="en-US" dirty="0"/>
              <a:t>As the name suggests, all the mathematical calculations or arithmetic operations(addition, subtraction, multiplication, Division) and Logical operations like AND,OR, NOT operations are performed in the Arithmetic and Logical Unit of the CPU. </a:t>
            </a:r>
          </a:p>
          <a:p>
            <a:pPr algn="just"/>
            <a:r>
              <a:rPr lang="en-US" dirty="0"/>
              <a:t>It can also perform actions like a comparison of data and decision-making actions. </a:t>
            </a:r>
          </a:p>
        </p:txBody>
      </p:sp>
      <p:sp>
        <p:nvSpPr>
          <p:cNvPr id="4" name="Slide Number Placeholder 3"/>
          <p:cNvSpPr>
            <a:spLocks noGrp="1"/>
          </p:cNvSpPr>
          <p:nvPr>
            <p:ph type="sldNum" sz="quarter" idx="12"/>
          </p:nvPr>
        </p:nvSpPr>
        <p:spPr/>
        <p:txBody>
          <a:bodyPr/>
          <a:lstStyle/>
          <a:p>
            <a:fld id="{106BED6A-76D1-48F6-AD62-2B6C443CFDDC}" type="slidenum">
              <a:rPr lang="en-US" smtClean="0"/>
              <a:t>9</a:t>
            </a:fld>
            <a:endParaRPr lang="en-US"/>
          </a:p>
        </p:txBody>
      </p:sp>
    </p:spTree>
    <p:extLst>
      <p:ext uri="{BB962C8B-B14F-4D97-AF65-F5344CB8AC3E}">
        <p14:creationId xmlns:p14="http://schemas.microsoft.com/office/powerpoint/2010/main" val="2884691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Control Unit</a:t>
            </a:r>
          </a:p>
        </p:txBody>
      </p:sp>
      <p:sp>
        <p:nvSpPr>
          <p:cNvPr id="3" name="Content Placeholder 2"/>
          <p:cNvSpPr>
            <a:spLocks noGrp="1"/>
          </p:cNvSpPr>
          <p:nvPr>
            <p:ph idx="1"/>
          </p:nvPr>
        </p:nvSpPr>
        <p:spPr/>
        <p:txBody>
          <a:bodyPr>
            <a:normAutofit/>
          </a:bodyPr>
          <a:lstStyle/>
          <a:p>
            <a:pPr algn="just"/>
            <a:r>
              <a:rPr lang="en-US" dirty="0"/>
              <a:t>This is the core unit which manages the entire functioning of the computer device. It is one of the most essential components of the computer system. </a:t>
            </a:r>
          </a:p>
          <a:p>
            <a:pPr algn="just"/>
            <a:r>
              <a:rPr lang="en-US" dirty="0"/>
              <a:t>The Control Unit collects the data entered using the input unit, leads it on for processing and once that is done, receives the output and presents it to the user. It can be said to the center of all processing actions taking place inside a computer device. </a:t>
            </a:r>
          </a:p>
          <a:p>
            <a:pPr algn="just"/>
            <a:r>
              <a:rPr lang="en-US" dirty="0"/>
              <a:t>Basically, the instructions taken, interpretation of entered data, issuing signals to execute the data and then finally retrieving the data is all done in the Control Unit. </a:t>
            </a:r>
          </a:p>
        </p:txBody>
      </p:sp>
      <p:sp>
        <p:nvSpPr>
          <p:cNvPr id="4" name="Slide Number Placeholder 3"/>
          <p:cNvSpPr>
            <a:spLocks noGrp="1"/>
          </p:cNvSpPr>
          <p:nvPr>
            <p:ph type="sldNum" sz="quarter" idx="12"/>
          </p:nvPr>
        </p:nvSpPr>
        <p:spPr/>
        <p:txBody>
          <a:bodyPr/>
          <a:lstStyle/>
          <a:p>
            <a:fld id="{106BED6A-76D1-48F6-AD62-2B6C443CFDDC}" type="slidenum">
              <a:rPr lang="en-US" smtClean="0"/>
              <a:t>10</a:t>
            </a:fld>
            <a:endParaRPr lang="en-US"/>
          </a:p>
        </p:txBody>
      </p:sp>
    </p:spTree>
    <p:extLst>
      <p:ext uri="{BB962C8B-B14F-4D97-AF65-F5344CB8AC3E}">
        <p14:creationId xmlns:p14="http://schemas.microsoft.com/office/powerpoint/2010/main" val="3151419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Registers</a:t>
            </a:r>
          </a:p>
        </p:txBody>
      </p:sp>
      <p:sp>
        <p:nvSpPr>
          <p:cNvPr id="3" name="Content Placeholder 2"/>
          <p:cNvSpPr>
            <a:spLocks noGrp="1"/>
          </p:cNvSpPr>
          <p:nvPr>
            <p:ph idx="1"/>
          </p:nvPr>
        </p:nvSpPr>
        <p:spPr/>
        <p:txBody>
          <a:bodyPr>
            <a:normAutofit lnSpcReduction="10000"/>
          </a:bodyPr>
          <a:lstStyle/>
          <a:p>
            <a:pPr algn="just"/>
            <a:r>
              <a:rPr lang="en-US" dirty="0"/>
              <a:t>Registers are the high speed temporary storage locations in the CPU made from electronic devices such as transistors, flip flops etc. </a:t>
            </a:r>
          </a:p>
          <a:p>
            <a:pPr algn="just"/>
            <a:r>
              <a:rPr lang="en-US" dirty="0"/>
              <a:t>Registers are primarily used to store data temporarily during the execution of program and are accessible to the user through instruction.</a:t>
            </a:r>
          </a:p>
          <a:p>
            <a:pPr algn="just"/>
            <a:r>
              <a:rPr lang="en-US" dirty="0"/>
              <a:t>Registers that are required for instruction execution are:</a:t>
            </a:r>
          </a:p>
          <a:p>
            <a:pPr lvl="1" algn="just"/>
            <a:r>
              <a:rPr lang="en-US" dirty="0"/>
              <a:t>Program Counter(PC): contains the address of the next instruction to be fetched</a:t>
            </a:r>
          </a:p>
          <a:p>
            <a:pPr lvl="1" algn="just"/>
            <a:r>
              <a:rPr lang="en-US" dirty="0"/>
              <a:t>Instruction Register(IR): contains the instruction to be fetched next</a:t>
            </a:r>
          </a:p>
          <a:p>
            <a:pPr lvl="1" algn="just"/>
            <a:r>
              <a:rPr lang="en-US" dirty="0"/>
              <a:t>Memory Address Registers(MAR): Contain the address of actual data to be fetched next</a:t>
            </a:r>
          </a:p>
          <a:p>
            <a:pPr lvl="1" algn="just"/>
            <a:r>
              <a:rPr lang="en-US" dirty="0"/>
              <a:t>Memory Buffer Register(MBR): it contains actual data to be fetched next</a:t>
            </a:r>
          </a:p>
          <a:p>
            <a:pPr lvl="1" algn="just"/>
            <a:r>
              <a:rPr lang="en-US" dirty="0"/>
              <a:t>Accumulator(ACC): An Accumulator is general purpose register used for storing temporary results and results produced by ALU</a:t>
            </a:r>
          </a:p>
        </p:txBody>
      </p:sp>
      <p:sp>
        <p:nvSpPr>
          <p:cNvPr id="4" name="Slide Number Placeholder 3"/>
          <p:cNvSpPr>
            <a:spLocks noGrp="1"/>
          </p:cNvSpPr>
          <p:nvPr>
            <p:ph type="sldNum" sz="quarter" idx="12"/>
          </p:nvPr>
        </p:nvSpPr>
        <p:spPr/>
        <p:txBody>
          <a:bodyPr/>
          <a:lstStyle/>
          <a:p>
            <a:fld id="{106BED6A-76D1-48F6-AD62-2B6C443CFDDC}" type="slidenum">
              <a:rPr lang="en-US" smtClean="0"/>
              <a:t>11</a:t>
            </a:fld>
            <a:endParaRPr lang="en-US"/>
          </a:p>
        </p:txBody>
      </p:sp>
    </p:spTree>
    <p:extLst>
      <p:ext uri="{BB962C8B-B14F-4D97-AF65-F5344CB8AC3E}">
        <p14:creationId xmlns:p14="http://schemas.microsoft.com/office/powerpoint/2010/main" val="2075536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Output Unit</a:t>
            </a:r>
          </a:p>
        </p:txBody>
      </p:sp>
      <p:sp>
        <p:nvSpPr>
          <p:cNvPr id="3" name="Content Placeholder 2"/>
          <p:cNvSpPr>
            <a:spLocks noGrp="1"/>
          </p:cNvSpPr>
          <p:nvPr>
            <p:ph idx="1"/>
          </p:nvPr>
        </p:nvSpPr>
        <p:spPr/>
        <p:txBody>
          <a:bodyPr>
            <a:normAutofit/>
          </a:bodyPr>
          <a:lstStyle/>
          <a:p>
            <a:pPr algn="just"/>
            <a:r>
              <a:rPr lang="en-US" sz="2400" dirty="0">
                <a:latin typeface="Bahnschrift SemiBold SemiConden" panose="020B0502040204020203" pitchFamily="34" charset="0"/>
              </a:rPr>
              <a:t>Accept the result produce by the computer which is in electric binary signals.</a:t>
            </a:r>
          </a:p>
          <a:p>
            <a:pPr algn="just"/>
            <a:r>
              <a:rPr lang="en-US" sz="2400" dirty="0">
                <a:latin typeface="Bahnschrift SemiBold SemiConden" panose="020B0502040204020203" pitchFamily="34" charset="0"/>
              </a:rPr>
              <a:t>It then converts the result into human readable form.</a:t>
            </a:r>
          </a:p>
          <a:p>
            <a:pPr algn="just"/>
            <a:r>
              <a:rPr lang="en-US" sz="2400" dirty="0">
                <a:latin typeface="Bahnschrift SemiBold SemiConden" panose="020B0502040204020203" pitchFamily="34" charset="0"/>
              </a:rPr>
              <a:t>Finally, it supplies the converted results to the user</a:t>
            </a:r>
          </a:p>
          <a:p>
            <a:pPr algn="just"/>
            <a:r>
              <a:rPr lang="en-US" sz="2400" dirty="0">
                <a:latin typeface="Bahnschrift SemiBold SemiConden" panose="020B0502040204020203" pitchFamily="34" charset="0"/>
              </a:rPr>
              <a:t>Output devices: Speakers, Monitor, Printer, Plotters </a:t>
            </a:r>
            <a:r>
              <a:rPr lang="en-US" sz="2400" dirty="0" err="1">
                <a:latin typeface="Bahnschrift SemiBold SemiConden" panose="020B0502040204020203" pitchFamily="34" charset="0"/>
              </a:rPr>
              <a:t>etc</a:t>
            </a:r>
            <a:endParaRPr lang="en-US" sz="2400" dirty="0">
              <a:latin typeface="Bahnschrift SemiBold SemiConden" panose="020B0502040204020203" pitchFamily="34" charset="0"/>
            </a:endParaRPr>
          </a:p>
        </p:txBody>
      </p:sp>
      <p:sp>
        <p:nvSpPr>
          <p:cNvPr id="4" name="Slide Number Placeholder 3"/>
          <p:cNvSpPr>
            <a:spLocks noGrp="1"/>
          </p:cNvSpPr>
          <p:nvPr>
            <p:ph type="sldNum" sz="quarter" idx="12"/>
          </p:nvPr>
        </p:nvSpPr>
        <p:spPr/>
        <p:txBody>
          <a:bodyPr/>
          <a:lstStyle/>
          <a:p>
            <a:fld id="{106BED6A-76D1-48F6-AD62-2B6C443CFDDC}" type="slidenum">
              <a:rPr lang="en-US" smtClean="0"/>
              <a:t>12</a:t>
            </a:fld>
            <a:endParaRPr lang="en-US"/>
          </a:p>
        </p:txBody>
      </p:sp>
    </p:spTree>
    <p:extLst>
      <p:ext uri="{BB962C8B-B14F-4D97-AF65-F5344CB8AC3E}">
        <p14:creationId xmlns:p14="http://schemas.microsoft.com/office/powerpoint/2010/main" val="3664290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14FD-33B8-11CA-C140-D739E2626806}"/>
              </a:ext>
            </a:extLst>
          </p:cNvPr>
          <p:cNvSpPr>
            <a:spLocks noGrp="1"/>
          </p:cNvSpPr>
          <p:nvPr>
            <p:ph type="title"/>
          </p:nvPr>
        </p:nvSpPr>
        <p:spPr/>
        <p:txBody>
          <a:bodyPr/>
          <a:lstStyle/>
          <a:p>
            <a:r>
              <a:rPr lang="en-US" dirty="0"/>
              <a:t>Microprocessor</a:t>
            </a:r>
          </a:p>
        </p:txBody>
      </p:sp>
      <p:sp>
        <p:nvSpPr>
          <p:cNvPr id="4" name="Slide Number Placeholder 3">
            <a:extLst>
              <a:ext uri="{FF2B5EF4-FFF2-40B4-BE49-F238E27FC236}">
                <a16:creationId xmlns:a16="http://schemas.microsoft.com/office/drawing/2014/main" id="{FBC6C93B-C888-BD66-DF30-11A7691799E6}"/>
              </a:ext>
            </a:extLst>
          </p:cNvPr>
          <p:cNvSpPr>
            <a:spLocks noGrp="1"/>
          </p:cNvSpPr>
          <p:nvPr>
            <p:ph type="sldNum" sz="quarter" idx="12"/>
          </p:nvPr>
        </p:nvSpPr>
        <p:spPr/>
        <p:txBody>
          <a:bodyPr/>
          <a:lstStyle/>
          <a:p>
            <a:fld id="{BA7A6E9C-5E3E-4EF1-A1F5-09F1FAA1BC14}" type="slidenum">
              <a:rPr lang="en-US" smtClean="0"/>
              <a:t>13</a:t>
            </a:fld>
            <a:endParaRPr lang="en-US"/>
          </a:p>
        </p:txBody>
      </p:sp>
      <p:sp>
        <p:nvSpPr>
          <p:cNvPr id="6" name="Content Placeholder 5">
            <a:extLst>
              <a:ext uri="{FF2B5EF4-FFF2-40B4-BE49-F238E27FC236}">
                <a16:creationId xmlns:a16="http://schemas.microsoft.com/office/drawing/2014/main" id="{63AE5D4E-EC9E-E3A2-5CF7-39117D6B3E2F}"/>
              </a:ext>
            </a:extLst>
          </p:cNvPr>
          <p:cNvSpPr>
            <a:spLocks noGrp="1"/>
          </p:cNvSpPr>
          <p:nvPr>
            <p:ph idx="1"/>
          </p:nvPr>
        </p:nvSpPr>
        <p:spPr>
          <a:xfrm>
            <a:off x="2589212" y="2133599"/>
            <a:ext cx="5027646" cy="4418029"/>
          </a:xfrm>
        </p:spPr>
        <p:txBody>
          <a:bodyPr>
            <a:normAutofit fontScale="85000" lnSpcReduction="10000"/>
          </a:bodyPr>
          <a:lstStyle/>
          <a:p>
            <a:r>
              <a:rPr lang="en-US" dirty="0"/>
              <a:t>Microprocessor is multipurpose, programmable, clock driven, register based semiconductor device consisting of electronic logic circuit manufactured using either LSI or VLSI technique</a:t>
            </a:r>
          </a:p>
          <a:p>
            <a:r>
              <a:rPr lang="en-US" dirty="0"/>
              <a:t>Integrated Single Chip</a:t>
            </a:r>
          </a:p>
          <a:p>
            <a:endParaRPr lang="en-US" dirty="0"/>
          </a:p>
          <a:p>
            <a:pPr marL="0" indent="0">
              <a:buNone/>
            </a:pPr>
            <a:r>
              <a:rPr lang="en-US" b="1" dirty="0"/>
              <a:t>Clock Speed</a:t>
            </a:r>
          </a:p>
          <a:p>
            <a:r>
              <a:rPr lang="en-US" dirty="0"/>
              <a:t>It represents how many cycles per second processor can execute. Measured in GHz</a:t>
            </a:r>
          </a:p>
          <a:p>
            <a:pPr marL="0" indent="0">
              <a:buNone/>
            </a:pPr>
            <a:r>
              <a:rPr lang="en-US" b="1" dirty="0"/>
              <a:t>Word Length</a:t>
            </a:r>
          </a:p>
          <a:p>
            <a:r>
              <a:rPr lang="en-US" dirty="0"/>
              <a:t>Word length of the processor in a computer refers to the maximum number of bits it can take as input.</a:t>
            </a:r>
          </a:p>
          <a:p>
            <a:r>
              <a:rPr lang="en-US" dirty="0"/>
              <a:t>It is number of bits processed by a computer CPU in single pass</a:t>
            </a:r>
          </a:p>
          <a:p>
            <a:r>
              <a:rPr lang="en-US" dirty="0"/>
              <a:t>8,16,32,64 bits and so on.</a:t>
            </a:r>
          </a:p>
          <a:p>
            <a:endParaRPr lang="en-US" dirty="0"/>
          </a:p>
        </p:txBody>
      </p:sp>
      <p:pic>
        <p:nvPicPr>
          <p:cNvPr id="7" name="Picture 4" descr="Computer CPU | HowStuffWorks">
            <a:extLst>
              <a:ext uri="{FF2B5EF4-FFF2-40B4-BE49-F238E27FC236}">
                <a16:creationId xmlns:a16="http://schemas.microsoft.com/office/drawing/2014/main" id="{0613B35D-6F51-4274-8F20-DBD95E2780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4140" y="2133600"/>
            <a:ext cx="4284062" cy="2403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0007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14FD-33B8-11CA-C140-D739E2626806}"/>
              </a:ext>
            </a:extLst>
          </p:cNvPr>
          <p:cNvSpPr>
            <a:spLocks noGrp="1"/>
          </p:cNvSpPr>
          <p:nvPr>
            <p:ph type="title"/>
          </p:nvPr>
        </p:nvSpPr>
        <p:spPr/>
        <p:txBody>
          <a:bodyPr/>
          <a:lstStyle/>
          <a:p>
            <a:r>
              <a:rPr lang="en-US" dirty="0"/>
              <a:t>Instruction Format</a:t>
            </a:r>
          </a:p>
        </p:txBody>
      </p:sp>
      <p:sp>
        <p:nvSpPr>
          <p:cNvPr id="4" name="Slide Number Placeholder 3">
            <a:extLst>
              <a:ext uri="{FF2B5EF4-FFF2-40B4-BE49-F238E27FC236}">
                <a16:creationId xmlns:a16="http://schemas.microsoft.com/office/drawing/2014/main" id="{FBC6C93B-C888-BD66-DF30-11A7691799E6}"/>
              </a:ext>
            </a:extLst>
          </p:cNvPr>
          <p:cNvSpPr>
            <a:spLocks noGrp="1"/>
          </p:cNvSpPr>
          <p:nvPr>
            <p:ph type="sldNum" sz="quarter" idx="12"/>
          </p:nvPr>
        </p:nvSpPr>
        <p:spPr/>
        <p:txBody>
          <a:bodyPr/>
          <a:lstStyle/>
          <a:p>
            <a:fld id="{BA7A6E9C-5E3E-4EF1-A1F5-09F1FAA1BC14}" type="slidenum">
              <a:rPr lang="en-US" smtClean="0"/>
              <a:t>14</a:t>
            </a:fld>
            <a:endParaRPr lang="en-US"/>
          </a:p>
        </p:txBody>
      </p:sp>
      <p:sp>
        <p:nvSpPr>
          <p:cNvPr id="6" name="Content Placeholder 5">
            <a:extLst>
              <a:ext uri="{FF2B5EF4-FFF2-40B4-BE49-F238E27FC236}">
                <a16:creationId xmlns:a16="http://schemas.microsoft.com/office/drawing/2014/main" id="{63AE5D4E-EC9E-E3A2-5CF7-39117D6B3E2F}"/>
              </a:ext>
            </a:extLst>
          </p:cNvPr>
          <p:cNvSpPr>
            <a:spLocks noGrp="1"/>
          </p:cNvSpPr>
          <p:nvPr>
            <p:ph idx="1"/>
          </p:nvPr>
        </p:nvSpPr>
        <p:spPr>
          <a:xfrm>
            <a:off x="2589212" y="1310327"/>
            <a:ext cx="8678228" cy="5118758"/>
          </a:xfrm>
        </p:spPr>
        <p:txBody>
          <a:bodyPr>
            <a:normAutofit/>
          </a:bodyPr>
          <a:lstStyle/>
          <a:p>
            <a:r>
              <a:rPr lang="en-US" b="0" i="0" dirty="0">
                <a:solidFill>
                  <a:srgbClr val="36393E"/>
                </a:solidFill>
                <a:effectLst/>
                <a:latin typeface="Muli"/>
              </a:rPr>
              <a:t>Instruction format in computer architecture refer to the way instructions are encoded and represented in Machine Language to be executed in ALU of CPU.</a:t>
            </a:r>
          </a:p>
          <a:p>
            <a:pPr algn="l"/>
            <a:r>
              <a:rPr lang="en-US" b="0" i="0" dirty="0">
                <a:solidFill>
                  <a:srgbClr val="000000"/>
                </a:solidFill>
                <a:effectLst/>
                <a:latin typeface="Muli"/>
              </a:rPr>
              <a:t>The instruction format grouped partitioned in multiple fields. Each field of the machine provides specific information</a:t>
            </a:r>
          </a:p>
          <a:p>
            <a:pPr marL="0" indent="0" algn="l">
              <a:buNone/>
            </a:pPr>
            <a:r>
              <a:rPr lang="en-US" b="0" i="0" dirty="0">
                <a:solidFill>
                  <a:srgbClr val="000000"/>
                </a:solidFill>
                <a:effectLst/>
                <a:latin typeface="Muli"/>
              </a:rPr>
              <a:t>		</a:t>
            </a:r>
          </a:p>
          <a:p>
            <a:pPr marL="0" indent="0" algn="l">
              <a:buNone/>
            </a:pPr>
            <a:endParaRPr lang="en-US" dirty="0">
              <a:solidFill>
                <a:srgbClr val="000000"/>
              </a:solidFill>
              <a:latin typeface="Muli"/>
            </a:endParaRPr>
          </a:p>
          <a:p>
            <a:pPr marL="0" indent="0" algn="l">
              <a:buNone/>
            </a:pPr>
            <a:endParaRPr lang="en-US" b="0" i="0" dirty="0">
              <a:solidFill>
                <a:srgbClr val="000000"/>
              </a:solidFill>
              <a:effectLst/>
              <a:latin typeface="Muli"/>
            </a:endParaRPr>
          </a:p>
          <a:p>
            <a:pPr marL="0" indent="0" algn="l">
              <a:buNone/>
            </a:pPr>
            <a:r>
              <a:rPr lang="en-US" b="1" i="0" dirty="0">
                <a:solidFill>
                  <a:srgbClr val="000000"/>
                </a:solidFill>
                <a:effectLst/>
                <a:latin typeface="Muli"/>
              </a:rPr>
              <a:t>Mode</a:t>
            </a:r>
            <a:r>
              <a:rPr lang="en-US" b="0" i="0" dirty="0">
                <a:solidFill>
                  <a:srgbClr val="000000"/>
                </a:solidFill>
                <a:effectLst/>
                <a:latin typeface="Muli"/>
              </a:rPr>
              <a:t> </a:t>
            </a:r>
            <a:r>
              <a:rPr lang="en-US" dirty="0">
                <a:solidFill>
                  <a:srgbClr val="000000"/>
                </a:solidFill>
                <a:latin typeface="Muli"/>
              </a:rPr>
              <a:t>: it mode of addressing of operand, that specifies whether the operand hold actual value stored in memory </a:t>
            </a:r>
            <a:r>
              <a:rPr lang="en-US">
                <a:solidFill>
                  <a:srgbClr val="000000"/>
                </a:solidFill>
                <a:latin typeface="Muli"/>
              </a:rPr>
              <a:t>or  address at </a:t>
            </a:r>
            <a:r>
              <a:rPr lang="en-US" dirty="0">
                <a:solidFill>
                  <a:srgbClr val="000000"/>
                </a:solidFill>
                <a:latin typeface="Muli"/>
              </a:rPr>
              <a:t>which actual data is stored</a:t>
            </a:r>
            <a:endParaRPr lang="en-US" dirty="0">
              <a:solidFill>
                <a:srgbClr val="36393E"/>
              </a:solidFill>
              <a:latin typeface="Muli"/>
            </a:endParaRPr>
          </a:p>
          <a:p>
            <a:pPr marL="0" indent="0" algn="l">
              <a:buNone/>
            </a:pPr>
            <a:r>
              <a:rPr lang="en-US" b="1" i="0" dirty="0">
                <a:solidFill>
                  <a:schemeClr val="tx1"/>
                </a:solidFill>
                <a:effectLst/>
                <a:latin typeface="Muli"/>
              </a:rPr>
              <a:t>Operation Code: </a:t>
            </a:r>
            <a:r>
              <a:rPr lang="en-US" b="0" i="0" dirty="0">
                <a:solidFill>
                  <a:schemeClr val="tx1"/>
                </a:solidFill>
                <a:effectLst/>
                <a:latin typeface="Muli"/>
              </a:rPr>
              <a:t>it </a:t>
            </a:r>
            <a:r>
              <a:rPr lang="en-US" dirty="0">
                <a:solidFill>
                  <a:schemeClr val="tx1"/>
                </a:solidFill>
                <a:latin typeface="Muli"/>
              </a:rPr>
              <a:t>holds the operation to be performed on operand like add, subtract, multiply, shift, complement </a:t>
            </a:r>
            <a:r>
              <a:rPr lang="en-US" dirty="0" err="1">
                <a:solidFill>
                  <a:schemeClr val="tx1"/>
                </a:solidFill>
                <a:latin typeface="Muli"/>
              </a:rPr>
              <a:t>etc</a:t>
            </a:r>
            <a:endParaRPr lang="en-US" dirty="0">
              <a:solidFill>
                <a:schemeClr val="tx1"/>
              </a:solidFill>
              <a:latin typeface="Muli"/>
            </a:endParaRPr>
          </a:p>
          <a:p>
            <a:pPr marL="0" indent="0" algn="l">
              <a:buNone/>
            </a:pPr>
            <a:r>
              <a:rPr lang="en-US" b="1" i="0" dirty="0">
                <a:solidFill>
                  <a:schemeClr val="tx1"/>
                </a:solidFill>
                <a:effectLst/>
                <a:latin typeface="Muli"/>
              </a:rPr>
              <a:t>Operand: </a:t>
            </a:r>
            <a:r>
              <a:rPr lang="en-US" b="0" i="0" dirty="0">
                <a:solidFill>
                  <a:schemeClr val="tx1"/>
                </a:solidFill>
                <a:effectLst/>
                <a:latin typeface="Muli"/>
              </a:rPr>
              <a:t>it can be actual data or address of data on memory or address of address of actual data</a:t>
            </a:r>
          </a:p>
        </p:txBody>
      </p:sp>
      <p:graphicFrame>
        <p:nvGraphicFramePr>
          <p:cNvPr id="8" name="Table 7">
            <a:extLst>
              <a:ext uri="{FF2B5EF4-FFF2-40B4-BE49-F238E27FC236}">
                <a16:creationId xmlns:a16="http://schemas.microsoft.com/office/drawing/2014/main" id="{D213F171-5239-F419-5D18-1872C9F4EA04}"/>
              </a:ext>
            </a:extLst>
          </p:cNvPr>
          <p:cNvGraphicFramePr>
            <a:graphicFrameLocks noGrp="1"/>
          </p:cNvGraphicFramePr>
          <p:nvPr>
            <p:extLst>
              <p:ext uri="{D42A27DB-BD31-4B8C-83A1-F6EECF244321}">
                <p14:modId xmlns:p14="http://schemas.microsoft.com/office/powerpoint/2010/main" val="3370241746"/>
              </p:ext>
            </p:extLst>
          </p:nvPr>
        </p:nvGraphicFramePr>
        <p:xfrm>
          <a:off x="2772886" y="2959301"/>
          <a:ext cx="8128000" cy="556472"/>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4240049970"/>
                    </a:ext>
                  </a:extLst>
                </a:gridCol>
                <a:gridCol w="1625600">
                  <a:extLst>
                    <a:ext uri="{9D8B030D-6E8A-4147-A177-3AD203B41FA5}">
                      <a16:colId xmlns:a16="http://schemas.microsoft.com/office/drawing/2014/main" val="1652871058"/>
                    </a:ext>
                  </a:extLst>
                </a:gridCol>
                <a:gridCol w="1625600">
                  <a:extLst>
                    <a:ext uri="{9D8B030D-6E8A-4147-A177-3AD203B41FA5}">
                      <a16:colId xmlns:a16="http://schemas.microsoft.com/office/drawing/2014/main" val="4004513344"/>
                    </a:ext>
                  </a:extLst>
                </a:gridCol>
                <a:gridCol w="1625600">
                  <a:extLst>
                    <a:ext uri="{9D8B030D-6E8A-4147-A177-3AD203B41FA5}">
                      <a16:colId xmlns:a16="http://schemas.microsoft.com/office/drawing/2014/main" val="2076683601"/>
                    </a:ext>
                  </a:extLst>
                </a:gridCol>
                <a:gridCol w="1625600">
                  <a:extLst>
                    <a:ext uri="{9D8B030D-6E8A-4147-A177-3AD203B41FA5}">
                      <a16:colId xmlns:a16="http://schemas.microsoft.com/office/drawing/2014/main" val="3470308032"/>
                    </a:ext>
                  </a:extLst>
                </a:gridCol>
              </a:tblGrid>
              <a:tr h="556472">
                <a:tc>
                  <a:txBody>
                    <a:bodyPr/>
                    <a:lstStyle/>
                    <a:p>
                      <a:pPr algn="ctr"/>
                      <a:r>
                        <a:rPr lang="en-US" sz="1500" dirty="0">
                          <a:solidFill>
                            <a:schemeClr val="tx1"/>
                          </a:solidFill>
                        </a:rPr>
                        <a:t>Mode </a:t>
                      </a: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dirty="0">
                          <a:solidFill>
                            <a:schemeClr val="tx1"/>
                          </a:solidFill>
                        </a:rPr>
                        <a:t>Operation Code</a:t>
                      </a: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dirty="0">
                          <a:solidFill>
                            <a:schemeClr val="tx1"/>
                          </a:solidFill>
                        </a:rPr>
                        <a:t>Operand 1</a:t>
                      </a: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dirty="0">
                          <a:solidFill>
                            <a:schemeClr val="tx1"/>
                          </a:solidFill>
                        </a:rPr>
                        <a:t>Operand 2</a:t>
                      </a: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dirty="0">
                          <a:solidFill>
                            <a:schemeClr val="tx1"/>
                          </a:solidFill>
                        </a:rPr>
                        <a:t>Operand 3</a:t>
                      </a:r>
                    </a:p>
                  </a:txBody>
                  <a:tcPr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53792710"/>
                  </a:ext>
                </a:extLst>
              </a:tr>
            </a:tbl>
          </a:graphicData>
        </a:graphic>
      </p:graphicFrame>
      <p:sp>
        <p:nvSpPr>
          <p:cNvPr id="9" name="TextBox 8">
            <a:extLst>
              <a:ext uri="{FF2B5EF4-FFF2-40B4-BE49-F238E27FC236}">
                <a16:creationId xmlns:a16="http://schemas.microsoft.com/office/drawing/2014/main" id="{610EABF8-7AA9-93F6-ABDF-2A6A79CEC413}"/>
              </a:ext>
            </a:extLst>
          </p:cNvPr>
          <p:cNvSpPr txBox="1"/>
          <p:nvPr/>
        </p:nvSpPr>
        <p:spPr>
          <a:xfrm>
            <a:off x="4197668" y="3631833"/>
            <a:ext cx="5405120" cy="307777"/>
          </a:xfrm>
          <a:prstGeom prst="rect">
            <a:avLst/>
          </a:prstGeom>
          <a:noFill/>
        </p:spPr>
        <p:txBody>
          <a:bodyPr wrap="square" rtlCol="0">
            <a:spAutoFit/>
          </a:bodyPr>
          <a:lstStyle/>
          <a:p>
            <a:pPr algn="ctr"/>
            <a:r>
              <a:rPr lang="en-US" sz="1400" dirty="0">
                <a:solidFill>
                  <a:schemeClr val="accent1"/>
                </a:solidFill>
              </a:rPr>
              <a:t>3 address instruction format</a:t>
            </a:r>
          </a:p>
        </p:txBody>
      </p:sp>
    </p:spTree>
    <p:extLst>
      <p:ext uri="{BB962C8B-B14F-4D97-AF65-F5344CB8AC3E}">
        <p14:creationId xmlns:p14="http://schemas.microsoft.com/office/powerpoint/2010/main" val="4008507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14FD-33B8-11CA-C140-D739E2626806}"/>
              </a:ext>
            </a:extLst>
          </p:cNvPr>
          <p:cNvSpPr>
            <a:spLocks noGrp="1"/>
          </p:cNvSpPr>
          <p:nvPr>
            <p:ph type="title"/>
          </p:nvPr>
        </p:nvSpPr>
        <p:spPr/>
        <p:txBody>
          <a:bodyPr/>
          <a:lstStyle/>
          <a:p>
            <a:r>
              <a:rPr lang="en-US" dirty="0"/>
              <a:t>Instruction Format</a:t>
            </a:r>
          </a:p>
        </p:txBody>
      </p:sp>
      <p:sp>
        <p:nvSpPr>
          <p:cNvPr id="4" name="Slide Number Placeholder 3">
            <a:extLst>
              <a:ext uri="{FF2B5EF4-FFF2-40B4-BE49-F238E27FC236}">
                <a16:creationId xmlns:a16="http://schemas.microsoft.com/office/drawing/2014/main" id="{FBC6C93B-C888-BD66-DF30-11A7691799E6}"/>
              </a:ext>
            </a:extLst>
          </p:cNvPr>
          <p:cNvSpPr>
            <a:spLocks noGrp="1"/>
          </p:cNvSpPr>
          <p:nvPr>
            <p:ph type="sldNum" sz="quarter" idx="12"/>
          </p:nvPr>
        </p:nvSpPr>
        <p:spPr/>
        <p:txBody>
          <a:bodyPr/>
          <a:lstStyle/>
          <a:p>
            <a:fld id="{BA7A6E9C-5E3E-4EF1-A1F5-09F1FAA1BC14}" type="slidenum">
              <a:rPr lang="en-US" smtClean="0"/>
              <a:t>15</a:t>
            </a:fld>
            <a:endParaRPr lang="en-US"/>
          </a:p>
        </p:txBody>
      </p:sp>
      <p:graphicFrame>
        <p:nvGraphicFramePr>
          <p:cNvPr id="8" name="Table 7">
            <a:extLst>
              <a:ext uri="{FF2B5EF4-FFF2-40B4-BE49-F238E27FC236}">
                <a16:creationId xmlns:a16="http://schemas.microsoft.com/office/drawing/2014/main" id="{D213F171-5239-F419-5D18-1872C9F4EA04}"/>
              </a:ext>
            </a:extLst>
          </p:cNvPr>
          <p:cNvGraphicFramePr>
            <a:graphicFrameLocks noGrp="1"/>
          </p:cNvGraphicFramePr>
          <p:nvPr>
            <p:extLst>
              <p:ext uri="{D42A27DB-BD31-4B8C-83A1-F6EECF244321}">
                <p14:modId xmlns:p14="http://schemas.microsoft.com/office/powerpoint/2010/main" val="3730824869"/>
              </p:ext>
            </p:extLst>
          </p:nvPr>
        </p:nvGraphicFramePr>
        <p:xfrm>
          <a:off x="3366042" y="2248822"/>
          <a:ext cx="6502400" cy="601288"/>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4240049970"/>
                    </a:ext>
                  </a:extLst>
                </a:gridCol>
                <a:gridCol w="1625600">
                  <a:extLst>
                    <a:ext uri="{9D8B030D-6E8A-4147-A177-3AD203B41FA5}">
                      <a16:colId xmlns:a16="http://schemas.microsoft.com/office/drawing/2014/main" val="1652871058"/>
                    </a:ext>
                  </a:extLst>
                </a:gridCol>
                <a:gridCol w="1625600">
                  <a:extLst>
                    <a:ext uri="{9D8B030D-6E8A-4147-A177-3AD203B41FA5}">
                      <a16:colId xmlns:a16="http://schemas.microsoft.com/office/drawing/2014/main" val="4004513344"/>
                    </a:ext>
                  </a:extLst>
                </a:gridCol>
                <a:gridCol w="1625600">
                  <a:extLst>
                    <a:ext uri="{9D8B030D-6E8A-4147-A177-3AD203B41FA5}">
                      <a16:colId xmlns:a16="http://schemas.microsoft.com/office/drawing/2014/main" val="2076683601"/>
                    </a:ext>
                  </a:extLst>
                </a:gridCol>
              </a:tblGrid>
              <a:tr h="586929">
                <a:tc>
                  <a:txBody>
                    <a:bodyPr/>
                    <a:lstStyle/>
                    <a:p>
                      <a:pPr algn="ctr"/>
                      <a:r>
                        <a:rPr lang="en-US" sz="1700" dirty="0">
                          <a:solidFill>
                            <a:schemeClr val="tx1"/>
                          </a:solidFill>
                        </a:rPr>
                        <a:t>Mode </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700" dirty="0">
                          <a:solidFill>
                            <a:schemeClr val="tx1"/>
                          </a:solidFill>
                        </a:rPr>
                        <a:t>Operation Code</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700" dirty="0">
                          <a:solidFill>
                            <a:schemeClr val="tx1"/>
                          </a:solidFill>
                        </a:rPr>
                        <a:t>Operand 1</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700" dirty="0">
                          <a:solidFill>
                            <a:schemeClr val="tx1"/>
                          </a:solidFill>
                        </a:rPr>
                        <a:t>Operand 2</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53792710"/>
                  </a:ext>
                </a:extLst>
              </a:tr>
            </a:tbl>
          </a:graphicData>
        </a:graphic>
      </p:graphicFrame>
      <p:sp>
        <p:nvSpPr>
          <p:cNvPr id="9" name="TextBox 8">
            <a:extLst>
              <a:ext uri="{FF2B5EF4-FFF2-40B4-BE49-F238E27FC236}">
                <a16:creationId xmlns:a16="http://schemas.microsoft.com/office/drawing/2014/main" id="{610EABF8-7AA9-93F6-ABDF-2A6A79CEC413}"/>
              </a:ext>
            </a:extLst>
          </p:cNvPr>
          <p:cNvSpPr txBox="1"/>
          <p:nvPr/>
        </p:nvSpPr>
        <p:spPr>
          <a:xfrm>
            <a:off x="4197668" y="2778065"/>
            <a:ext cx="5405120" cy="370840"/>
          </a:xfrm>
          <a:prstGeom prst="rect">
            <a:avLst/>
          </a:prstGeom>
          <a:noFill/>
        </p:spPr>
        <p:txBody>
          <a:bodyPr wrap="square" rtlCol="0">
            <a:spAutoFit/>
          </a:bodyPr>
          <a:lstStyle/>
          <a:p>
            <a:pPr algn="ctr"/>
            <a:r>
              <a:rPr lang="en-US" dirty="0"/>
              <a:t>2 address instruction format</a:t>
            </a:r>
          </a:p>
        </p:txBody>
      </p:sp>
      <p:graphicFrame>
        <p:nvGraphicFramePr>
          <p:cNvPr id="3" name="Table 2">
            <a:extLst>
              <a:ext uri="{FF2B5EF4-FFF2-40B4-BE49-F238E27FC236}">
                <a16:creationId xmlns:a16="http://schemas.microsoft.com/office/drawing/2014/main" id="{BE416C10-F785-D627-0DE7-986044B095FB}"/>
              </a:ext>
            </a:extLst>
          </p:cNvPr>
          <p:cNvGraphicFramePr>
            <a:graphicFrameLocks noGrp="1"/>
          </p:cNvGraphicFramePr>
          <p:nvPr>
            <p:extLst>
              <p:ext uri="{D42A27DB-BD31-4B8C-83A1-F6EECF244321}">
                <p14:modId xmlns:p14="http://schemas.microsoft.com/office/powerpoint/2010/main" val="3937322984"/>
              </p:ext>
            </p:extLst>
          </p:nvPr>
        </p:nvGraphicFramePr>
        <p:xfrm>
          <a:off x="4178842" y="3709096"/>
          <a:ext cx="4876800" cy="601288"/>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4240049970"/>
                    </a:ext>
                  </a:extLst>
                </a:gridCol>
                <a:gridCol w="1625600">
                  <a:extLst>
                    <a:ext uri="{9D8B030D-6E8A-4147-A177-3AD203B41FA5}">
                      <a16:colId xmlns:a16="http://schemas.microsoft.com/office/drawing/2014/main" val="1652871058"/>
                    </a:ext>
                  </a:extLst>
                </a:gridCol>
                <a:gridCol w="1625600">
                  <a:extLst>
                    <a:ext uri="{9D8B030D-6E8A-4147-A177-3AD203B41FA5}">
                      <a16:colId xmlns:a16="http://schemas.microsoft.com/office/drawing/2014/main" val="4004513344"/>
                    </a:ext>
                  </a:extLst>
                </a:gridCol>
              </a:tblGrid>
              <a:tr h="586929">
                <a:tc>
                  <a:txBody>
                    <a:bodyPr/>
                    <a:lstStyle/>
                    <a:p>
                      <a:pPr algn="ctr"/>
                      <a:r>
                        <a:rPr lang="en-US" sz="1700" dirty="0">
                          <a:solidFill>
                            <a:schemeClr val="tx1"/>
                          </a:solidFill>
                        </a:rPr>
                        <a:t>Mode </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700" dirty="0">
                          <a:solidFill>
                            <a:schemeClr val="tx1"/>
                          </a:solidFill>
                        </a:rPr>
                        <a:t>Operation Code</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700" dirty="0">
                          <a:solidFill>
                            <a:schemeClr val="tx1"/>
                          </a:solidFill>
                        </a:rPr>
                        <a:t>Operand </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53792710"/>
                  </a:ext>
                </a:extLst>
              </a:tr>
            </a:tbl>
          </a:graphicData>
        </a:graphic>
      </p:graphicFrame>
      <p:sp>
        <p:nvSpPr>
          <p:cNvPr id="5" name="TextBox 4">
            <a:extLst>
              <a:ext uri="{FF2B5EF4-FFF2-40B4-BE49-F238E27FC236}">
                <a16:creationId xmlns:a16="http://schemas.microsoft.com/office/drawing/2014/main" id="{4AC530FB-ED67-5263-1595-E3693D62B780}"/>
              </a:ext>
            </a:extLst>
          </p:cNvPr>
          <p:cNvSpPr txBox="1"/>
          <p:nvPr/>
        </p:nvSpPr>
        <p:spPr>
          <a:xfrm>
            <a:off x="4225766" y="4330029"/>
            <a:ext cx="5405120" cy="370840"/>
          </a:xfrm>
          <a:prstGeom prst="rect">
            <a:avLst/>
          </a:prstGeom>
          <a:noFill/>
        </p:spPr>
        <p:txBody>
          <a:bodyPr wrap="square" rtlCol="0">
            <a:spAutoFit/>
          </a:bodyPr>
          <a:lstStyle/>
          <a:p>
            <a:pPr algn="ctr"/>
            <a:r>
              <a:rPr lang="en-US" dirty="0"/>
              <a:t>1 address instruction format</a:t>
            </a:r>
          </a:p>
        </p:txBody>
      </p:sp>
    </p:spTree>
    <p:extLst>
      <p:ext uri="{BB962C8B-B14F-4D97-AF65-F5344CB8AC3E}">
        <p14:creationId xmlns:p14="http://schemas.microsoft.com/office/powerpoint/2010/main" val="2090543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14FD-33B8-11CA-C140-D739E2626806}"/>
              </a:ext>
            </a:extLst>
          </p:cNvPr>
          <p:cNvSpPr>
            <a:spLocks noGrp="1"/>
          </p:cNvSpPr>
          <p:nvPr>
            <p:ph type="title"/>
          </p:nvPr>
        </p:nvSpPr>
        <p:spPr/>
        <p:txBody>
          <a:bodyPr/>
          <a:lstStyle/>
          <a:p>
            <a:r>
              <a:rPr lang="en-US" dirty="0"/>
              <a:t>Instruction Format</a:t>
            </a:r>
          </a:p>
        </p:txBody>
      </p:sp>
      <p:sp>
        <p:nvSpPr>
          <p:cNvPr id="4" name="Slide Number Placeholder 3">
            <a:extLst>
              <a:ext uri="{FF2B5EF4-FFF2-40B4-BE49-F238E27FC236}">
                <a16:creationId xmlns:a16="http://schemas.microsoft.com/office/drawing/2014/main" id="{FBC6C93B-C888-BD66-DF30-11A7691799E6}"/>
              </a:ext>
            </a:extLst>
          </p:cNvPr>
          <p:cNvSpPr>
            <a:spLocks noGrp="1"/>
          </p:cNvSpPr>
          <p:nvPr>
            <p:ph type="sldNum" sz="quarter" idx="12"/>
          </p:nvPr>
        </p:nvSpPr>
        <p:spPr/>
        <p:txBody>
          <a:bodyPr/>
          <a:lstStyle/>
          <a:p>
            <a:fld id="{BA7A6E9C-5E3E-4EF1-A1F5-09F1FAA1BC14}" type="slidenum">
              <a:rPr lang="en-US" smtClean="0"/>
              <a:t>16</a:t>
            </a:fld>
            <a:endParaRPr lang="en-US"/>
          </a:p>
        </p:txBody>
      </p:sp>
      <p:sp>
        <p:nvSpPr>
          <p:cNvPr id="6" name="TextBox 5">
            <a:extLst>
              <a:ext uri="{FF2B5EF4-FFF2-40B4-BE49-F238E27FC236}">
                <a16:creationId xmlns:a16="http://schemas.microsoft.com/office/drawing/2014/main" id="{3A01A269-A611-9BAC-BDD6-B98A88813AD2}"/>
              </a:ext>
            </a:extLst>
          </p:cNvPr>
          <p:cNvSpPr txBox="1"/>
          <p:nvPr/>
        </p:nvSpPr>
        <p:spPr>
          <a:xfrm>
            <a:off x="2384981" y="1905000"/>
            <a:ext cx="7663991" cy="3970318"/>
          </a:xfrm>
          <a:prstGeom prst="rect">
            <a:avLst/>
          </a:prstGeom>
          <a:noFill/>
        </p:spPr>
        <p:txBody>
          <a:bodyPr wrap="square" rtlCol="0">
            <a:spAutoFit/>
          </a:bodyPr>
          <a:lstStyle/>
          <a:p>
            <a:r>
              <a:rPr lang="en-US" b="1" dirty="0"/>
              <a:t>Evaluate C=A+B in 3 address instruction assembly language notation</a:t>
            </a:r>
          </a:p>
          <a:p>
            <a:r>
              <a:rPr lang="en-US" dirty="0"/>
              <a:t>ADD 	C,A,B</a:t>
            </a:r>
          </a:p>
          <a:p>
            <a:endParaRPr lang="en-US" dirty="0"/>
          </a:p>
          <a:p>
            <a:r>
              <a:rPr lang="en-US" b="1" dirty="0"/>
              <a:t>Evaluate C=A+B in 2 address instruction</a:t>
            </a:r>
            <a:endParaRPr lang="en-US" dirty="0"/>
          </a:p>
          <a:p>
            <a:r>
              <a:rPr lang="en-US" dirty="0"/>
              <a:t>MOV 	C,A</a:t>
            </a:r>
          </a:p>
          <a:p>
            <a:r>
              <a:rPr lang="en-US" dirty="0"/>
              <a:t>ADD	C,B</a:t>
            </a:r>
          </a:p>
          <a:p>
            <a:endParaRPr lang="en-US" dirty="0"/>
          </a:p>
          <a:p>
            <a:r>
              <a:rPr lang="en-US" b="1" dirty="0"/>
              <a:t>Evaluate C=A+B in 1 address instruction</a:t>
            </a:r>
          </a:p>
          <a:p>
            <a:r>
              <a:rPr lang="en-US" dirty="0"/>
              <a:t>LOAD 	A</a:t>
            </a:r>
          </a:p>
          <a:p>
            <a:r>
              <a:rPr lang="en-US" dirty="0"/>
              <a:t>ADD 	B</a:t>
            </a:r>
          </a:p>
          <a:p>
            <a:r>
              <a:rPr lang="en-US" dirty="0"/>
              <a:t>STORE 	C</a:t>
            </a:r>
          </a:p>
          <a:p>
            <a:endParaRPr lang="en-US" b="1" dirty="0"/>
          </a:p>
          <a:p>
            <a:endParaRPr lang="en-US" dirty="0"/>
          </a:p>
        </p:txBody>
      </p:sp>
    </p:spTree>
    <p:extLst>
      <p:ext uri="{BB962C8B-B14F-4D97-AF65-F5344CB8AC3E}">
        <p14:creationId xmlns:p14="http://schemas.microsoft.com/office/powerpoint/2010/main" val="1759720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14FD-33B8-11CA-C140-D739E2626806}"/>
              </a:ext>
            </a:extLst>
          </p:cNvPr>
          <p:cNvSpPr>
            <a:spLocks noGrp="1"/>
          </p:cNvSpPr>
          <p:nvPr>
            <p:ph type="title"/>
          </p:nvPr>
        </p:nvSpPr>
        <p:spPr/>
        <p:txBody>
          <a:bodyPr/>
          <a:lstStyle/>
          <a:p>
            <a:r>
              <a:rPr lang="en-US" dirty="0"/>
              <a:t>Instruction Format</a:t>
            </a:r>
          </a:p>
        </p:txBody>
      </p:sp>
      <p:sp>
        <p:nvSpPr>
          <p:cNvPr id="4" name="Slide Number Placeholder 3">
            <a:extLst>
              <a:ext uri="{FF2B5EF4-FFF2-40B4-BE49-F238E27FC236}">
                <a16:creationId xmlns:a16="http://schemas.microsoft.com/office/drawing/2014/main" id="{FBC6C93B-C888-BD66-DF30-11A7691799E6}"/>
              </a:ext>
            </a:extLst>
          </p:cNvPr>
          <p:cNvSpPr>
            <a:spLocks noGrp="1"/>
          </p:cNvSpPr>
          <p:nvPr>
            <p:ph type="sldNum" sz="quarter" idx="12"/>
          </p:nvPr>
        </p:nvSpPr>
        <p:spPr/>
        <p:txBody>
          <a:bodyPr/>
          <a:lstStyle/>
          <a:p>
            <a:fld id="{BA7A6E9C-5E3E-4EF1-A1F5-09F1FAA1BC14}" type="slidenum">
              <a:rPr lang="en-US" smtClean="0"/>
              <a:t>17</a:t>
            </a:fld>
            <a:endParaRPr lang="en-US"/>
          </a:p>
        </p:txBody>
      </p:sp>
      <p:sp>
        <p:nvSpPr>
          <p:cNvPr id="6" name="TextBox 5">
            <a:extLst>
              <a:ext uri="{FF2B5EF4-FFF2-40B4-BE49-F238E27FC236}">
                <a16:creationId xmlns:a16="http://schemas.microsoft.com/office/drawing/2014/main" id="{3A01A269-A611-9BAC-BDD6-B98A88813AD2}"/>
              </a:ext>
            </a:extLst>
          </p:cNvPr>
          <p:cNvSpPr txBox="1"/>
          <p:nvPr/>
        </p:nvSpPr>
        <p:spPr>
          <a:xfrm>
            <a:off x="2384981" y="1905000"/>
            <a:ext cx="7663991" cy="7571303"/>
          </a:xfrm>
          <a:prstGeom prst="rect">
            <a:avLst/>
          </a:prstGeom>
          <a:noFill/>
        </p:spPr>
        <p:txBody>
          <a:bodyPr wrap="square" rtlCol="0">
            <a:spAutoFit/>
          </a:bodyPr>
          <a:lstStyle/>
          <a:p>
            <a:r>
              <a:rPr lang="en-US" b="1" dirty="0"/>
              <a:t>Evaluate X=(A+B)*(C+D) in 3 address instruction in assembly language notation</a:t>
            </a:r>
          </a:p>
          <a:p>
            <a:r>
              <a:rPr lang="en-US" dirty="0"/>
              <a:t>ADD	 R1,A,B</a:t>
            </a:r>
          </a:p>
          <a:p>
            <a:r>
              <a:rPr lang="en-US" dirty="0"/>
              <a:t>ADD	 R2,C,D</a:t>
            </a:r>
          </a:p>
          <a:p>
            <a:r>
              <a:rPr lang="en-US" dirty="0"/>
              <a:t>MUL 	 X,R1,R2</a:t>
            </a:r>
          </a:p>
          <a:p>
            <a:endParaRPr lang="en-US" dirty="0"/>
          </a:p>
          <a:p>
            <a:r>
              <a:rPr lang="en-US" b="1" dirty="0"/>
              <a:t>Evaluate X=(A+B)*(C+D) in 2 address instruction in assembly language notation</a:t>
            </a:r>
            <a:endParaRPr lang="en-US" dirty="0"/>
          </a:p>
          <a:p>
            <a:r>
              <a:rPr lang="en-US" dirty="0"/>
              <a:t>MOV 	R1,A</a:t>
            </a:r>
          </a:p>
          <a:p>
            <a:r>
              <a:rPr lang="en-US" dirty="0"/>
              <a:t>ADD	 R1,B</a:t>
            </a:r>
          </a:p>
          <a:p>
            <a:r>
              <a:rPr lang="en-US" dirty="0"/>
              <a:t>MOV 	R2,C</a:t>
            </a:r>
          </a:p>
          <a:p>
            <a:r>
              <a:rPr lang="en-US" dirty="0"/>
              <a:t>ADD 	R2,D</a:t>
            </a:r>
          </a:p>
          <a:p>
            <a:r>
              <a:rPr lang="en-US" dirty="0"/>
              <a:t>MOV	X,R1</a:t>
            </a:r>
          </a:p>
          <a:p>
            <a:r>
              <a:rPr lang="en-US" dirty="0"/>
              <a:t>MUL 	X,R2</a:t>
            </a:r>
          </a:p>
          <a:p>
            <a:endParaRPr lang="en-US" dirty="0"/>
          </a:p>
          <a:p>
            <a:endParaRPr lang="en-US" dirty="0"/>
          </a:p>
          <a:p>
            <a:r>
              <a:rPr lang="en-US" b="1" dirty="0"/>
              <a:t>Evaluate X=(A+B)*(C+D) in 1 address instruction in assembly language notation</a:t>
            </a:r>
          </a:p>
          <a:p>
            <a:r>
              <a:rPr lang="en-US" dirty="0"/>
              <a:t>LOAD	A</a:t>
            </a:r>
          </a:p>
          <a:p>
            <a:r>
              <a:rPr lang="en-US" dirty="0"/>
              <a:t>ADD 	B</a:t>
            </a:r>
          </a:p>
          <a:p>
            <a:r>
              <a:rPr lang="en-US" dirty="0"/>
              <a:t>STORE	T</a:t>
            </a:r>
          </a:p>
          <a:p>
            <a:r>
              <a:rPr lang="en-US" dirty="0"/>
              <a:t>LOAD	C</a:t>
            </a:r>
          </a:p>
          <a:p>
            <a:r>
              <a:rPr lang="en-US" dirty="0"/>
              <a:t>ADD 	D</a:t>
            </a:r>
          </a:p>
          <a:p>
            <a:r>
              <a:rPr lang="en-US" dirty="0"/>
              <a:t>MUL 	T</a:t>
            </a:r>
          </a:p>
          <a:p>
            <a:r>
              <a:rPr lang="en-US" dirty="0"/>
              <a:t>STORE 	X</a:t>
            </a:r>
          </a:p>
          <a:p>
            <a:endParaRPr lang="en-US" b="1" dirty="0"/>
          </a:p>
          <a:p>
            <a:endParaRPr lang="en-US" dirty="0"/>
          </a:p>
        </p:txBody>
      </p:sp>
      <p:sp>
        <p:nvSpPr>
          <p:cNvPr id="5" name="Rectangle 2">
            <a:extLst>
              <a:ext uri="{FF2B5EF4-FFF2-40B4-BE49-F238E27FC236}">
                <a16:creationId xmlns:a16="http://schemas.microsoft.com/office/drawing/2014/main" id="{316F2DD3-C5DA-E9BE-65BD-B2E2861AC18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273239"/>
                </a:solidFill>
                <a:effectLst/>
                <a:latin typeface="Consolas" panose="020B0609020204030204" pitchFamily="49" charset="0"/>
              </a:rPr>
              <a:t>X = (A+B)*(C+D)</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93068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14FD-33B8-11CA-C140-D739E2626806}"/>
              </a:ext>
            </a:extLst>
          </p:cNvPr>
          <p:cNvSpPr>
            <a:spLocks noGrp="1"/>
          </p:cNvSpPr>
          <p:nvPr>
            <p:ph type="title"/>
          </p:nvPr>
        </p:nvSpPr>
        <p:spPr/>
        <p:txBody>
          <a:bodyPr/>
          <a:lstStyle/>
          <a:p>
            <a:r>
              <a:rPr lang="en-US" dirty="0"/>
              <a:t>Instruction Set</a:t>
            </a:r>
          </a:p>
        </p:txBody>
      </p:sp>
      <p:sp>
        <p:nvSpPr>
          <p:cNvPr id="4" name="Slide Number Placeholder 3">
            <a:extLst>
              <a:ext uri="{FF2B5EF4-FFF2-40B4-BE49-F238E27FC236}">
                <a16:creationId xmlns:a16="http://schemas.microsoft.com/office/drawing/2014/main" id="{FBC6C93B-C888-BD66-DF30-11A7691799E6}"/>
              </a:ext>
            </a:extLst>
          </p:cNvPr>
          <p:cNvSpPr>
            <a:spLocks noGrp="1"/>
          </p:cNvSpPr>
          <p:nvPr>
            <p:ph type="sldNum" sz="quarter" idx="12"/>
          </p:nvPr>
        </p:nvSpPr>
        <p:spPr/>
        <p:txBody>
          <a:bodyPr/>
          <a:lstStyle/>
          <a:p>
            <a:fld id="{BA7A6E9C-5E3E-4EF1-A1F5-09F1FAA1BC14}" type="slidenum">
              <a:rPr lang="en-US" smtClean="0"/>
              <a:t>18</a:t>
            </a:fld>
            <a:endParaRPr lang="en-US"/>
          </a:p>
        </p:txBody>
      </p:sp>
      <p:sp>
        <p:nvSpPr>
          <p:cNvPr id="6" name="Content Placeholder 5">
            <a:extLst>
              <a:ext uri="{FF2B5EF4-FFF2-40B4-BE49-F238E27FC236}">
                <a16:creationId xmlns:a16="http://schemas.microsoft.com/office/drawing/2014/main" id="{63AE5D4E-EC9E-E3A2-5CF7-39117D6B3E2F}"/>
              </a:ext>
            </a:extLst>
          </p:cNvPr>
          <p:cNvSpPr>
            <a:spLocks noGrp="1"/>
          </p:cNvSpPr>
          <p:nvPr>
            <p:ph idx="1"/>
          </p:nvPr>
        </p:nvSpPr>
        <p:spPr>
          <a:xfrm>
            <a:off x="1951348" y="1470581"/>
            <a:ext cx="9813304" cy="5081047"/>
          </a:xfrm>
        </p:spPr>
        <p:txBody>
          <a:bodyPr>
            <a:normAutofit fontScale="92500" lnSpcReduction="10000"/>
          </a:bodyPr>
          <a:lstStyle/>
          <a:p>
            <a:r>
              <a:rPr lang="en-US" b="0" i="0" dirty="0">
                <a:solidFill>
                  <a:schemeClr val="tx1"/>
                </a:solidFill>
                <a:effectLst/>
                <a:latin typeface="Muli"/>
              </a:rPr>
              <a:t>It is the collection of machine language instructions that a particular processor understands and executes. Assembly language mnemonics are used to represents the instruction</a:t>
            </a:r>
          </a:p>
          <a:p>
            <a:r>
              <a:rPr lang="en-US" dirty="0">
                <a:solidFill>
                  <a:schemeClr val="tx1"/>
                </a:solidFill>
                <a:latin typeface="Muli"/>
              </a:rPr>
              <a:t>It is machine dependent . i.e. different processor have different instruction sets</a:t>
            </a:r>
            <a:endParaRPr lang="en-US" b="0" i="0" dirty="0">
              <a:solidFill>
                <a:schemeClr val="tx1"/>
              </a:solidFill>
              <a:effectLst/>
              <a:latin typeface="Muli"/>
            </a:endParaRPr>
          </a:p>
          <a:p>
            <a:pPr marL="0" indent="0">
              <a:buNone/>
            </a:pPr>
            <a:r>
              <a:rPr lang="en-US" dirty="0">
                <a:solidFill>
                  <a:schemeClr val="tx1"/>
                </a:solidFill>
                <a:latin typeface="Muli"/>
              </a:rPr>
              <a:t>Following types of instructions:</a:t>
            </a:r>
            <a:br>
              <a:rPr lang="en-US" dirty="0">
                <a:solidFill>
                  <a:schemeClr val="tx1"/>
                </a:solidFill>
                <a:latin typeface="Muli"/>
              </a:rPr>
            </a:br>
            <a:r>
              <a:rPr lang="en-US" b="1" dirty="0">
                <a:solidFill>
                  <a:schemeClr val="tx1"/>
                </a:solidFill>
                <a:latin typeface="Muli"/>
              </a:rPr>
              <a:t>1. Arithmetic Instructions</a:t>
            </a:r>
            <a:r>
              <a:rPr lang="en-US" dirty="0">
                <a:solidFill>
                  <a:schemeClr val="tx1"/>
                </a:solidFill>
                <a:latin typeface="Muli"/>
              </a:rPr>
              <a:t>: ADD, SUB, MUL, DIV</a:t>
            </a:r>
          </a:p>
          <a:p>
            <a:pPr marL="0" indent="0">
              <a:buNone/>
            </a:pPr>
            <a:r>
              <a:rPr lang="en-US" b="1" dirty="0">
                <a:solidFill>
                  <a:schemeClr val="tx1"/>
                </a:solidFill>
                <a:latin typeface="Muli"/>
              </a:rPr>
              <a:t>2. Logical Instructions:  </a:t>
            </a:r>
            <a:r>
              <a:rPr lang="en-US" dirty="0">
                <a:solidFill>
                  <a:schemeClr val="tx1"/>
                </a:solidFill>
                <a:latin typeface="Muli"/>
              </a:rPr>
              <a:t>&gt;, &lt;, =</a:t>
            </a:r>
          </a:p>
          <a:p>
            <a:pPr marL="0" indent="0">
              <a:buNone/>
            </a:pPr>
            <a:r>
              <a:rPr lang="en-US" b="1" dirty="0">
                <a:solidFill>
                  <a:schemeClr val="tx1"/>
                </a:solidFill>
                <a:latin typeface="Muli"/>
              </a:rPr>
              <a:t>3. Data Transfer Instruction</a:t>
            </a:r>
          </a:p>
          <a:p>
            <a:pPr algn="l">
              <a:buFont typeface="Arial" panose="020B0604020202020204" pitchFamily="34" charset="0"/>
              <a:buChar char="•"/>
            </a:pPr>
            <a:r>
              <a:rPr lang="en-US" b="1" i="0" dirty="0">
                <a:solidFill>
                  <a:srgbClr val="000000"/>
                </a:solidFill>
                <a:effectLst/>
                <a:latin typeface="inherit"/>
              </a:rPr>
              <a:t>MOV</a:t>
            </a:r>
            <a:r>
              <a:rPr lang="en-US" b="0" i="0" dirty="0">
                <a:solidFill>
                  <a:srgbClr val="000000"/>
                </a:solidFill>
                <a:effectLst/>
                <a:latin typeface="Verdana" panose="020B0604030504040204" pitchFamily="34" charset="0"/>
              </a:rPr>
              <a:t> − </a:t>
            </a:r>
            <a:r>
              <a:rPr lang="en-US" sz="1700" b="0" i="0" dirty="0">
                <a:solidFill>
                  <a:srgbClr val="000000"/>
                </a:solidFill>
                <a:effectLst/>
                <a:latin typeface="Verdana" panose="020B0604030504040204" pitchFamily="34" charset="0"/>
              </a:rPr>
              <a:t>Used to copy the byte or word from the provided source to the provided destination.</a:t>
            </a:r>
          </a:p>
          <a:p>
            <a:pPr algn="l">
              <a:buFont typeface="Arial" panose="020B0604020202020204" pitchFamily="34" charset="0"/>
              <a:buChar char="•"/>
            </a:pPr>
            <a:r>
              <a:rPr lang="en-US" b="1" i="0" dirty="0">
                <a:solidFill>
                  <a:srgbClr val="000000"/>
                </a:solidFill>
                <a:effectLst/>
                <a:latin typeface="inherit"/>
              </a:rPr>
              <a:t>PPUSH</a:t>
            </a:r>
            <a:r>
              <a:rPr lang="en-US" b="0" i="0" dirty="0">
                <a:solidFill>
                  <a:srgbClr val="000000"/>
                </a:solidFill>
                <a:effectLst/>
                <a:latin typeface="Verdana" panose="020B0604030504040204" pitchFamily="34" charset="0"/>
              </a:rPr>
              <a:t> − Used to put a word at the top of the stack.</a:t>
            </a:r>
          </a:p>
          <a:p>
            <a:pPr algn="l">
              <a:buFont typeface="Arial" panose="020B0604020202020204" pitchFamily="34" charset="0"/>
              <a:buChar char="•"/>
            </a:pPr>
            <a:r>
              <a:rPr lang="en-US" b="1" i="0" dirty="0">
                <a:solidFill>
                  <a:srgbClr val="000000"/>
                </a:solidFill>
                <a:effectLst/>
                <a:latin typeface="inherit"/>
              </a:rPr>
              <a:t>POP</a:t>
            </a:r>
            <a:r>
              <a:rPr lang="en-US" b="0" i="0" dirty="0">
                <a:solidFill>
                  <a:srgbClr val="000000"/>
                </a:solidFill>
                <a:effectLst/>
                <a:latin typeface="Verdana" panose="020B0604030504040204" pitchFamily="34" charset="0"/>
              </a:rPr>
              <a:t> − Used to get a word from the top of the stack to the provided location.</a:t>
            </a:r>
          </a:p>
          <a:p>
            <a:pPr algn="l">
              <a:buFont typeface="Arial" panose="020B0604020202020204" pitchFamily="34" charset="0"/>
              <a:buChar char="•"/>
            </a:pPr>
            <a:r>
              <a:rPr lang="en-US" b="1" i="0" dirty="0">
                <a:solidFill>
                  <a:srgbClr val="000000"/>
                </a:solidFill>
                <a:effectLst/>
                <a:latin typeface="inherit"/>
              </a:rPr>
              <a:t>PUSHA</a:t>
            </a:r>
            <a:r>
              <a:rPr lang="en-US" b="0" i="0" dirty="0">
                <a:solidFill>
                  <a:srgbClr val="000000"/>
                </a:solidFill>
                <a:effectLst/>
                <a:latin typeface="Verdana" panose="020B0604030504040204" pitchFamily="34" charset="0"/>
              </a:rPr>
              <a:t> − Used to put all the registers into the stack.</a:t>
            </a:r>
          </a:p>
          <a:p>
            <a:pPr algn="l">
              <a:buFont typeface="Arial" panose="020B0604020202020204" pitchFamily="34" charset="0"/>
              <a:buChar char="•"/>
            </a:pPr>
            <a:r>
              <a:rPr lang="en-US" b="1" i="0" dirty="0">
                <a:solidFill>
                  <a:srgbClr val="000000"/>
                </a:solidFill>
                <a:effectLst/>
                <a:latin typeface="inherit"/>
              </a:rPr>
              <a:t>POPA</a:t>
            </a:r>
            <a:r>
              <a:rPr lang="en-US" b="0" i="0" dirty="0">
                <a:solidFill>
                  <a:srgbClr val="000000"/>
                </a:solidFill>
                <a:effectLst/>
                <a:latin typeface="Verdana" panose="020B0604030504040204" pitchFamily="34" charset="0"/>
              </a:rPr>
              <a:t> − Used to get words from the stack to all registers.</a:t>
            </a:r>
          </a:p>
          <a:p>
            <a:pPr algn="l">
              <a:buFont typeface="Arial" panose="020B0604020202020204" pitchFamily="34" charset="0"/>
              <a:buChar char="•"/>
            </a:pPr>
            <a:r>
              <a:rPr lang="en-US" b="1" i="0" dirty="0">
                <a:solidFill>
                  <a:srgbClr val="000000"/>
                </a:solidFill>
                <a:effectLst/>
                <a:latin typeface="inherit"/>
              </a:rPr>
              <a:t>XCHG</a:t>
            </a:r>
            <a:r>
              <a:rPr lang="en-US" b="0" i="0" dirty="0">
                <a:solidFill>
                  <a:srgbClr val="000000"/>
                </a:solidFill>
                <a:effectLst/>
                <a:latin typeface="Verdana" panose="020B0604030504040204" pitchFamily="34" charset="0"/>
              </a:rPr>
              <a:t> − Used to exchange the data from two locations.</a:t>
            </a:r>
          </a:p>
          <a:p>
            <a:pPr algn="l">
              <a:buFont typeface="Arial" panose="020B0604020202020204" pitchFamily="34" charset="0"/>
              <a:buChar char="•"/>
            </a:pPr>
            <a:r>
              <a:rPr lang="en-US" b="1" i="0" dirty="0">
                <a:solidFill>
                  <a:srgbClr val="000000"/>
                </a:solidFill>
                <a:effectLst/>
                <a:latin typeface="inherit"/>
              </a:rPr>
              <a:t>XLAT</a:t>
            </a:r>
            <a:r>
              <a:rPr lang="en-US" b="0" i="0" dirty="0">
                <a:solidFill>
                  <a:srgbClr val="000000"/>
                </a:solidFill>
                <a:effectLst/>
                <a:latin typeface="Verdana" panose="020B0604030504040204" pitchFamily="34" charset="0"/>
              </a:rPr>
              <a:t> − Used to translate a byte in AL using a table in the memory.</a:t>
            </a:r>
          </a:p>
          <a:p>
            <a:pPr marL="0" indent="0">
              <a:buNone/>
            </a:pPr>
            <a:endParaRPr lang="en-US" dirty="0">
              <a:solidFill>
                <a:schemeClr val="tx1"/>
              </a:solidFill>
              <a:latin typeface="Muli"/>
            </a:endParaRPr>
          </a:p>
          <a:p>
            <a:pPr marL="0" indent="0">
              <a:buNone/>
            </a:pPr>
            <a:endParaRPr lang="en-US" dirty="0">
              <a:solidFill>
                <a:schemeClr val="tx1"/>
              </a:solidFill>
              <a:latin typeface="Muli"/>
            </a:endParaRPr>
          </a:p>
        </p:txBody>
      </p:sp>
    </p:spTree>
    <p:extLst>
      <p:ext uri="{BB962C8B-B14F-4D97-AF65-F5344CB8AC3E}">
        <p14:creationId xmlns:p14="http://schemas.microsoft.com/office/powerpoint/2010/main" val="2478679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14FD-33B8-11CA-C140-D739E2626806}"/>
              </a:ext>
            </a:extLst>
          </p:cNvPr>
          <p:cNvSpPr>
            <a:spLocks noGrp="1"/>
          </p:cNvSpPr>
          <p:nvPr>
            <p:ph type="title"/>
          </p:nvPr>
        </p:nvSpPr>
        <p:spPr/>
        <p:txBody>
          <a:bodyPr/>
          <a:lstStyle/>
          <a:p>
            <a:r>
              <a:rPr lang="en-US" dirty="0"/>
              <a:t>Instruction Set</a:t>
            </a:r>
          </a:p>
        </p:txBody>
      </p:sp>
      <p:sp>
        <p:nvSpPr>
          <p:cNvPr id="4" name="Slide Number Placeholder 3">
            <a:extLst>
              <a:ext uri="{FF2B5EF4-FFF2-40B4-BE49-F238E27FC236}">
                <a16:creationId xmlns:a16="http://schemas.microsoft.com/office/drawing/2014/main" id="{FBC6C93B-C888-BD66-DF30-11A7691799E6}"/>
              </a:ext>
            </a:extLst>
          </p:cNvPr>
          <p:cNvSpPr>
            <a:spLocks noGrp="1"/>
          </p:cNvSpPr>
          <p:nvPr>
            <p:ph type="sldNum" sz="quarter" idx="12"/>
          </p:nvPr>
        </p:nvSpPr>
        <p:spPr/>
        <p:txBody>
          <a:bodyPr/>
          <a:lstStyle/>
          <a:p>
            <a:fld id="{BA7A6E9C-5E3E-4EF1-A1F5-09F1FAA1BC14}" type="slidenum">
              <a:rPr lang="en-US" smtClean="0"/>
              <a:t>19</a:t>
            </a:fld>
            <a:endParaRPr lang="en-US"/>
          </a:p>
        </p:txBody>
      </p:sp>
      <p:sp>
        <p:nvSpPr>
          <p:cNvPr id="6" name="Content Placeholder 5">
            <a:extLst>
              <a:ext uri="{FF2B5EF4-FFF2-40B4-BE49-F238E27FC236}">
                <a16:creationId xmlns:a16="http://schemas.microsoft.com/office/drawing/2014/main" id="{63AE5D4E-EC9E-E3A2-5CF7-39117D6B3E2F}"/>
              </a:ext>
            </a:extLst>
          </p:cNvPr>
          <p:cNvSpPr>
            <a:spLocks noGrp="1"/>
          </p:cNvSpPr>
          <p:nvPr>
            <p:ph idx="1"/>
          </p:nvPr>
        </p:nvSpPr>
        <p:spPr>
          <a:xfrm>
            <a:off x="2589212" y="2133599"/>
            <a:ext cx="8678228" cy="4418029"/>
          </a:xfrm>
        </p:spPr>
        <p:txBody>
          <a:bodyPr>
            <a:normAutofit/>
          </a:bodyPr>
          <a:lstStyle/>
          <a:p>
            <a:pPr marL="0" indent="0">
              <a:buNone/>
            </a:pPr>
            <a:r>
              <a:rPr lang="en-US" b="1" dirty="0">
                <a:solidFill>
                  <a:schemeClr val="tx1"/>
                </a:solidFill>
                <a:latin typeface="Muli"/>
              </a:rPr>
              <a:t>4. I/O instruction:</a:t>
            </a:r>
          </a:p>
          <a:p>
            <a:pPr algn="l">
              <a:buFont typeface="Arial" panose="020B0604020202020204" pitchFamily="34" charset="0"/>
              <a:buChar char="•"/>
            </a:pPr>
            <a:r>
              <a:rPr lang="en-US" b="1" i="0" dirty="0">
                <a:solidFill>
                  <a:srgbClr val="000000"/>
                </a:solidFill>
                <a:effectLst/>
                <a:latin typeface="inherit"/>
              </a:rPr>
              <a:t>IN</a:t>
            </a:r>
            <a:r>
              <a:rPr lang="en-US" b="0" i="0" dirty="0">
                <a:solidFill>
                  <a:srgbClr val="000000"/>
                </a:solidFill>
                <a:effectLst/>
                <a:latin typeface="Verdana" panose="020B0604030504040204" pitchFamily="34" charset="0"/>
              </a:rPr>
              <a:t> − Used to read a byte or word from the provided port to the accumulator.</a:t>
            </a:r>
          </a:p>
          <a:p>
            <a:pPr algn="l">
              <a:buFont typeface="Arial" panose="020B0604020202020204" pitchFamily="34" charset="0"/>
              <a:buChar char="•"/>
            </a:pPr>
            <a:r>
              <a:rPr lang="en-US" b="1" i="0" dirty="0">
                <a:solidFill>
                  <a:srgbClr val="000000"/>
                </a:solidFill>
                <a:effectLst/>
                <a:latin typeface="inherit"/>
              </a:rPr>
              <a:t>OUT</a:t>
            </a:r>
            <a:r>
              <a:rPr lang="en-US" b="0" i="0" dirty="0">
                <a:solidFill>
                  <a:srgbClr val="000000"/>
                </a:solidFill>
                <a:effectLst/>
                <a:latin typeface="Verdana" panose="020B0604030504040204" pitchFamily="34" charset="0"/>
              </a:rPr>
              <a:t> − Used to send out a byte or word from the accumulator to the provided port.</a:t>
            </a:r>
          </a:p>
          <a:p>
            <a:pPr marL="0" indent="0">
              <a:buNone/>
            </a:pPr>
            <a:r>
              <a:rPr lang="en-US" b="1" dirty="0">
                <a:solidFill>
                  <a:schemeClr val="tx1"/>
                </a:solidFill>
                <a:latin typeface="Muli"/>
              </a:rPr>
              <a:t>5. Control Instruction</a:t>
            </a:r>
          </a:p>
          <a:p>
            <a:pPr marL="0" indent="0">
              <a:buNone/>
            </a:pPr>
            <a:r>
              <a:rPr lang="en-US" dirty="0">
                <a:solidFill>
                  <a:schemeClr val="tx1"/>
                </a:solidFill>
                <a:latin typeface="Muli"/>
              </a:rPr>
              <a:t>The instruction used to change the sequence of instruction of a program are control instruction.</a:t>
            </a:r>
          </a:p>
          <a:p>
            <a:pPr marL="0" indent="0">
              <a:buNone/>
            </a:pPr>
            <a:r>
              <a:rPr lang="en-US" b="1" i="0" dirty="0">
                <a:solidFill>
                  <a:srgbClr val="000000"/>
                </a:solidFill>
                <a:effectLst/>
                <a:latin typeface="inherit"/>
              </a:rPr>
              <a:t>LOOP</a:t>
            </a:r>
            <a:r>
              <a:rPr lang="en-US" b="0" i="0" dirty="0">
                <a:solidFill>
                  <a:srgbClr val="000000"/>
                </a:solidFill>
                <a:effectLst/>
                <a:latin typeface="Verdana" panose="020B0604030504040204" pitchFamily="34" charset="0"/>
              </a:rPr>
              <a:t> − Used to loop a group of instructions until the condition satisfies.</a:t>
            </a:r>
          </a:p>
          <a:p>
            <a:pPr marL="0" indent="0">
              <a:buNone/>
            </a:pPr>
            <a:r>
              <a:rPr lang="en-US" b="1" i="0" dirty="0">
                <a:solidFill>
                  <a:srgbClr val="000000"/>
                </a:solidFill>
                <a:effectLst/>
                <a:latin typeface="inherit"/>
              </a:rPr>
              <a:t>INT</a:t>
            </a:r>
            <a:r>
              <a:rPr lang="en-US" b="0" i="0" dirty="0">
                <a:solidFill>
                  <a:srgbClr val="000000"/>
                </a:solidFill>
                <a:effectLst/>
                <a:latin typeface="Verdana" panose="020B0604030504040204" pitchFamily="34" charset="0"/>
              </a:rPr>
              <a:t> − Used to interrupt the program during execution and calling service specified.</a:t>
            </a:r>
          </a:p>
          <a:p>
            <a:pPr marL="0" indent="0">
              <a:buNone/>
            </a:pPr>
            <a:endParaRPr lang="en-US" dirty="0">
              <a:solidFill>
                <a:schemeClr val="tx1"/>
              </a:solidFill>
              <a:latin typeface="Muli"/>
            </a:endParaRPr>
          </a:p>
          <a:p>
            <a:pPr marL="0" indent="0">
              <a:buNone/>
            </a:pPr>
            <a:endParaRPr lang="en-US" dirty="0">
              <a:solidFill>
                <a:schemeClr val="tx1"/>
              </a:solidFill>
              <a:latin typeface="Muli"/>
            </a:endParaRPr>
          </a:p>
        </p:txBody>
      </p:sp>
    </p:spTree>
    <p:extLst>
      <p:ext uri="{BB962C8B-B14F-4D97-AF65-F5344CB8AC3E}">
        <p14:creationId xmlns:p14="http://schemas.microsoft.com/office/powerpoint/2010/main" val="1227079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14FD-33B8-11CA-C140-D739E2626806}"/>
              </a:ext>
            </a:extLst>
          </p:cNvPr>
          <p:cNvSpPr>
            <a:spLocks noGrp="1"/>
          </p:cNvSpPr>
          <p:nvPr>
            <p:ph type="title"/>
          </p:nvPr>
        </p:nvSpPr>
        <p:spPr/>
        <p:txBody>
          <a:bodyPr/>
          <a:lstStyle/>
          <a:p>
            <a:r>
              <a:rPr lang="en-US" dirty="0"/>
              <a:t>Instruction Cycle</a:t>
            </a:r>
          </a:p>
        </p:txBody>
      </p:sp>
      <p:sp>
        <p:nvSpPr>
          <p:cNvPr id="4" name="Slide Number Placeholder 3">
            <a:extLst>
              <a:ext uri="{FF2B5EF4-FFF2-40B4-BE49-F238E27FC236}">
                <a16:creationId xmlns:a16="http://schemas.microsoft.com/office/drawing/2014/main" id="{FBC6C93B-C888-BD66-DF30-11A7691799E6}"/>
              </a:ext>
            </a:extLst>
          </p:cNvPr>
          <p:cNvSpPr>
            <a:spLocks noGrp="1"/>
          </p:cNvSpPr>
          <p:nvPr>
            <p:ph type="sldNum" sz="quarter" idx="12"/>
          </p:nvPr>
        </p:nvSpPr>
        <p:spPr/>
        <p:txBody>
          <a:bodyPr/>
          <a:lstStyle/>
          <a:p>
            <a:fld id="{BA7A6E9C-5E3E-4EF1-A1F5-09F1FAA1BC14}" type="slidenum">
              <a:rPr lang="en-US" smtClean="0"/>
              <a:t>20</a:t>
            </a:fld>
            <a:endParaRPr lang="en-US"/>
          </a:p>
        </p:txBody>
      </p:sp>
      <p:sp>
        <p:nvSpPr>
          <p:cNvPr id="6" name="Content Placeholder 5">
            <a:extLst>
              <a:ext uri="{FF2B5EF4-FFF2-40B4-BE49-F238E27FC236}">
                <a16:creationId xmlns:a16="http://schemas.microsoft.com/office/drawing/2014/main" id="{63AE5D4E-EC9E-E3A2-5CF7-39117D6B3E2F}"/>
              </a:ext>
            </a:extLst>
          </p:cNvPr>
          <p:cNvSpPr>
            <a:spLocks noGrp="1"/>
          </p:cNvSpPr>
          <p:nvPr>
            <p:ph idx="1"/>
          </p:nvPr>
        </p:nvSpPr>
        <p:spPr>
          <a:xfrm>
            <a:off x="961534" y="1517715"/>
            <a:ext cx="6730738" cy="5033913"/>
          </a:xfrm>
        </p:spPr>
        <p:txBody>
          <a:bodyPr>
            <a:normAutofit fontScale="92500" lnSpcReduction="20000"/>
          </a:bodyPr>
          <a:lstStyle/>
          <a:p>
            <a:pPr defTabSz="914400" eaLnBrk="0" fontAlgn="base" hangingPunct="0">
              <a:spcBef>
                <a:spcPct val="0"/>
              </a:spcBef>
              <a:spcAft>
                <a:spcPct val="0"/>
              </a:spcAft>
              <a:buClrTx/>
            </a:pPr>
            <a:r>
              <a:rPr kumimoji="0" lang="en-US" altLang="en-US" sz="1800" b="0" i="0" u="none" strike="noStrike" cap="none" normalizeH="0" baseline="0" dirty="0">
                <a:ln>
                  <a:noFill/>
                </a:ln>
                <a:solidFill>
                  <a:schemeClr val="accent1"/>
                </a:solidFill>
                <a:effectLst/>
                <a:latin typeface="Arial" panose="020B0604020202020204" pitchFamily="34" charset="0"/>
                <a:cs typeface="Arial" panose="020B0604020202020204" pitchFamily="34" charset="0"/>
              </a:rPr>
              <a:t>The instruction cycle (also known as the Fetch–Decode–Execute cycle or the fetch-execute cycle) is the basic operational process of a computer system.</a:t>
            </a:r>
          </a:p>
          <a:p>
            <a:pPr defTabSz="914400" eaLnBrk="0" fontAlgn="base" hangingPunct="0">
              <a:spcBef>
                <a:spcPct val="0"/>
              </a:spcBef>
              <a:spcAft>
                <a:spcPct val="0"/>
              </a:spcAft>
              <a:buClrTx/>
            </a:pPr>
            <a:endParaRPr kumimoji="0" lang="en-US" altLang="en-US" sz="1800" b="0" i="0" u="none" strike="noStrike" cap="none" normalizeH="0" baseline="0" dirty="0">
              <a:ln>
                <a:noFill/>
              </a:ln>
              <a:solidFill>
                <a:schemeClr val="accent1"/>
              </a:solidFill>
              <a:effectLst/>
              <a:latin typeface="-apple-system"/>
            </a:endParaRPr>
          </a:p>
          <a:p>
            <a:pPr defTabSz="914400" eaLnBrk="0" fontAlgn="base" hangingPunct="0">
              <a:spcBef>
                <a:spcPct val="0"/>
              </a:spcBef>
              <a:spcAft>
                <a:spcPct val="0"/>
              </a:spcAft>
              <a:buClrTx/>
            </a:pPr>
            <a:r>
              <a:rPr kumimoji="0" lang="en-US" altLang="en-US" sz="1800" b="0" i="0" u="none" strike="noStrike" cap="none" normalizeH="0" baseline="0" dirty="0">
                <a:ln>
                  <a:noFill/>
                </a:ln>
                <a:solidFill>
                  <a:schemeClr val="accent1"/>
                </a:solidFill>
                <a:effectLst/>
                <a:latin typeface="Arial" panose="020B0604020202020204" pitchFamily="34" charset="0"/>
                <a:cs typeface="Arial" panose="020B0604020202020204" pitchFamily="34" charset="0"/>
              </a:rPr>
              <a:t>The time taken for the execution of an instruction is known as Instruction Cycle</a:t>
            </a:r>
            <a:endParaRPr kumimoji="0" lang="en-US" altLang="en-US" sz="1800" b="0" i="0" u="none" strike="noStrike" cap="none" normalizeH="0" baseline="0" dirty="0">
              <a:ln>
                <a:noFill/>
              </a:ln>
              <a:solidFill>
                <a:schemeClr val="accent1"/>
              </a:solidFill>
              <a:effectLst/>
              <a:latin typeface="-apple-system"/>
            </a:endParaRPr>
          </a:p>
          <a:p>
            <a:pPr marL="0" indent="0">
              <a:buNone/>
            </a:pPr>
            <a:endParaRPr lang="en-US" b="0" i="0" dirty="0">
              <a:solidFill>
                <a:srgbClr val="374151"/>
              </a:solidFill>
              <a:effectLst/>
              <a:latin typeface="Söhne"/>
            </a:endParaRPr>
          </a:p>
          <a:p>
            <a:pPr algn="l"/>
            <a:r>
              <a:rPr lang="en-US" b="0" i="0" dirty="0">
                <a:solidFill>
                  <a:srgbClr val="374151"/>
                </a:solidFill>
                <a:effectLst/>
                <a:latin typeface="Söhne"/>
              </a:rPr>
              <a:t>The typical instruction cycle consists of the following stages:</a:t>
            </a:r>
          </a:p>
          <a:p>
            <a:pPr algn="l">
              <a:buFont typeface="+mj-lt"/>
              <a:buAutoNum type="arabicPeriod"/>
            </a:pPr>
            <a:r>
              <a:rPr lang="en-US" b="1" i="0" dirty="0">
                <a:solidFill>
                  <a:srgbClr val="374151"/>
                </a:solidFill>
                <a:effectLst/>
                <a:latin typeface="Söhne"/>
              </a:rPr>
              <a:t>Fetch:</a:t>
            </a:r>
            <a:r>
              <a:rPr lang="en-US" b="0" i="0" dirty="0">
                <a:solidFill>
                  <a:srgbClr val="374151"/>
                </a:solidFill>
                <a:effectLst/>
                <a:latin typeface="Söhne"/>
              </a:rPr>
              <a:t> The CPU retrieves the next instruction from memory. The program counter (PC) holds the address of the next instruction to be fetched.</a:t>
            </a:r>
          </a:p>
          <a:p>
            <a:pPr algn="l">
              <a:buFont typeface="+mj-lt"/>
              <a:buAutoNum type="arabicPeriod"/>
            </a:pPr>
            <a:r>
              <a:rPr lang="en-US" b="1" i="0" dirty="0">
                <a:solidFill>
                  <a:srgbClr val="374151"/>
                </a:solidFill>
                <a:effectLst/>
                <a:latin typeface="Söhne"/>
              </a:rPr>
              <a:t>Decode:</a:t>
            </a:r>
            <a:r>
              <a:rPr lang="en-US" b="0" i="0" dirty="0">
                <a:solidFill>
                  <a:srgbClr val="374151"/>
                </a:solidFill>
                <a:effectLst/>
                <a:latin typeface="Söhne"/>
              </a:rPr>
              <a:t> The fetched instruction is decoded, which means the CPU determines what operation the instruction is specifying and what operands are involved.</a:t>
            </a:r>
          </a:p>
          <a:p>
            <a:pPr algn="l">
              <a:buFont typeface="+mj-lt"/>
              <a:buAutoNum type="arabicPeriod"/>
            </a:pPr>
            <a:r>
              <a:rPr lang="en-US" b="1" i="0" dirty="0">
                <a:solidFill>
                  <a:srgbClr val="374151"/>
                </a:solidFill>
                <a:effectLst/>
                <a:latin typeface="Söhne"/>
              </a:rPr>
              <a:t>Execute:</a:t>
            </a:r>
            <a:r>
              <a:rPr lang="en-US" b="0" i="0" dirty="0">
                <a:solidFill>
                  <a:srgbClr val="374151"/>
                </a:solidFill>
                <a:effectLst/>
                <a:latin typeface="Söhne"/>
              </a:rPr>
              <a:t> The CPU performs the operation or instruction, manipulating data according to the decoded instruction.</a:t>
            </a:r>
          </a:p>
          <a:p>
            <a:pPr algn="l">
              <a:buFont typeface="+mj-lt"/>
              <a:buAutoNum type="arabicPeriod"/>
            </a:pPr>
            <a:r>
              <a:rPr lang="en-US" b="1" dirty="0">
                <a:solidFill>
                  <a:srgbClr val="374151"/>
                </a:solidFill>
                <a:latin typeface="Söhne"/>
              </a:rPr>
              <a:t>Store</a:t>
            </a:r>
            <a:r>
              <a:rPr lang="en-US" b="1" i="0" dirty="0">
                <a:solidFill>
                  <a:srgbClr val="374151"/>
                </a:solidFill>
                <a:effectLst/>
                <a:latin typeface="Söhne"/>
              </a:rPr>
              <a:t> (optional):</a:t>
            </a:r>
            <a:r>
              <a:rPr lang="en-US" b="0" i="0" dirty="0">
                <a:solidFill>
                  <a:srgbClr val="374151"/>
                </a:solidFill>
                <a:effectLst/>
                <a:latin typeface="Söhne"/>
              </a:rPr>
              <a:t> If the instruction involves storing the result of the operation back to memory or a register, this step is performed.</a:t>
            </a:r>
          </a:p>
          <a:p>
            <a:pPr marL="0" indent="0">
              <a:buNone/>
            </a:pPr>
            <a:endParaRPr lang="en-US" dirty="0">
              <a:solidFill>
                <a:schemeClr val="tx1"/>
              </a:solidFill>
              <a:latin typeface="Muli"/>
            </a:endParaRPr>
          </a:p>
        </p:txBody>
      </p:sp>
      <p:sp>
        <p:nvSpPr>
          <p:cNvPr id="9" name="Content Placeholder 5">
            <a:extLst>
              <a:ext uri="{FF2B5EF4-FFF2-40B4-BE49-F238E27FC236}">
                <a16:creationId xmlns:a16="http://schemas.microsoft.com/office/drawing/2014/main" id="{55F713CA-239C-66F8-45E1-6880B0A12BA7}"/>
              </a:ext>
            </a:extLst>
          </p:cNvPr>
          <p:cNvSpPr txBox="1">
            <a:spLocks/>
          </p:cNvSpPr>
          <p:nvPr/>
        </p:nvSpPr>
        <p:spPr>
          <a:xfrm>
            <a:off x="1665385" y="1781295"/>
            <a:ext cx="5791266" cy="441802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n-US" dirty="0">
              <a:solidFill>
                <a:schemeClr val="tx1"/>
              </a:solidFill>
              <a:latin typeface="Muli"/>
            </a:endParaRPr>
          </a:p>
          <a:p>
            <a:pPr marL="0" indent="0">
              <a:buFont typeface="Wingdings 3" charset="2"/>
              <a:buNone/>
            </a:pPr>
            <a:endParaRPr lang="en-US" dirty="0">
              <a:solidFill>
                <a:schemeClr val="tx1"/>
              </a:solidFill>
              <a:latin typeface="Muli"/>
            </a:endParaRPr>
          </a:p>
        </p:txBody>
      </p:sp>
      <p:pic>
        <p:nvPicPr>
          <p:cNvPr id="11" name="Picture 10">
            <a:extLst>
              <a:ext uri="{FF2B5EF4-FFF2-40B4-BE49-F238E27FC236}">
                <a16:creationId xmlns:a16="http://schemas.microsoft.com/office/drawing/2014/main" id="{D9D389CB-4145-68A4-BE20-506BA10DBE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190" y="2909096"/>
            <a:ext cx="3809524" cy="3057143"/>
          </a:xfrm>
          <a:prstGeom prst="rect">
            <a:avLst/>
          </a:prstGeom>
        </p:spPr>
      </p:pic>
    </p:spTree>
    <p:extLst>
      <p:ext uri="{BB962C8B-B14F-4D97-AF65-F5344CB8AC3E}">
        <p14:creationId xmlns:p14="http://schemas.microsoft.com/office/powerpoint/2010/main" val="1275684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0F33D-C370-B214-0D25-B5A94ED06DF1}"/>
              </a:ext>
            </a:extLst>
          </p:cNvPr>
          <p:cNvSpPr>
            <a:spLocks noGrp="1"/>
          </p:cNvSpPr>
          <p:nvPr>
            <p:ph type="title"/>
          </p:nvPr>
        </p:nvSpPr>
        <p:spPr/>
        <p:txBody>
          <a:bodyPr/>
          <a:lstStyle/>
          <a:p>
            <a:r>
              <a:rPr lang="en-US" dirty="0"/>
              <a:t>Inside the Computer Cabinet</a:t>
            </a:r>
          </a:p>
        </p:txBody>
      </p:sp>
      <p:sp>
        <p:nvSpPr>
          <p:cNvPr id="4" name="Slide Number Placeholder 3">
            <a:extLst>
              <a:ext uri="{FF2B5EF4-FFF2-40B4-BE49-F238E27FC236}">
                <a16:creationId xmlns:a16="http://schemas.microsoft.com/office/drawing/2014/main" id="{35A85391-801D-C043-09AE-0E86985D59C5}"/>
              </a:ext>
            </a:extLst>
          </p:cNvPr>
          <p:cNvSpPr>
            <a:spLocks noGrp="1"/>
          </p:cNvSpPr>
          <p:nvPr>
            <p:ph type="sldNum" sz="quarter" idx="12"/>
          </p:nvPr>
        </p:nvSpPr>
        <p:spPr/>
        <p:txBody>
          <a:bodyPr/>
          <a:lstStyle/>
          <a:p>
            <a:fld id="{BA7A6E9C-5E3E-4EF1-A1F5-09F1FAA1BC14}" type="slidenum">
              <a:rPr lang="en-US" smtClean="0"/>
              <a:t>21</a:t>
            </a:fld>
            <a:endParaRPr lang="en-US"/>
          </a:p>
        </p:txBody>
      </p:sp>
      <p:pic>
        <p:nvPicPr>
          <p:cNvPr id="8" name="Content Placeholder 7">
            <a:extLst>
              <a:ext uri="{FF2B5EF4-FFF2-40B4-BE49-F238E27FC236}">
                <a16:creationId xmlns:a16="http://schemas.microsoft.com/office/drawing/2014/main" id="{7EBBC3B5-DDB1-2189-CEA9-31FBD518170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3169" t="-162" r="14461" b="1"/>
          <a:stretch/>
        </p:blipFill>
        <p:spPr>
          <a:xfrm>
            <a:off x="7544032" y="1979629"/>
            <a:ext cx="4110086" cy="3733015"/>
          </a:xfrm>
        </p:spPr>
      </p:pic>
      <p:sp>
        <p:nvSpPr>
          <p:cNvPr id="9" name="Content Placeholder 5">
            <a:extLst>
              <a:ext uri="{FF2B5EF4-FFF2-40B4-BE49-F238E27FC236}">
                <a16:creationId xmlns:a16="http://schemas.microsoft.com/office/drawing/2014/main" id="{118CA1AD-43F3-FB49-C1B1-2DFC5D84B7B6}"/>
              </a:ext>
            </a:extLst>
          </p:cNvPr>
          <p:cNvSpPr txBox="1">
            <a:spLocks/>
          </p:cNvSpPr>
          <p:nvPr/>
        </p:nvSpPr>
        <p:spPr>
          <a:xfrm>
            <a:off x="921695" y="4043455"/>
            <a:ext cx="6334812" cy="20267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1800" b="0" i="0" dirty="0">
                <a:solidFill>
                  <a:srgbClr val="212529"/>
                </a:solidFill>
                <a:effectLst/>
                <a:latin typeface="Arial" panose="020B0604020202020204" pitchFamily="34" charset="0"/>
              </a:rPr>
              <a:t>The </a:t>
            </a:r>
            <a:r>
              <a:rPr lang="en-US" b="1" i="0" dirty="0">
                <a:solidFill>
                  <a:srgbClr val="212529"/>
                </a:solidFill>
                <a:effectLst/>
                <a:latin typeface="Arial" panose="020B0604020202020204" pitchFamily="34" charset="0"/>
              </a:rPr>
              <a:t>motherboard</a:t>
            </a:r>
            <a:r>
              <a:rPr lang="en-US" b="0" i="0" dirty="0">
                <a:solidFill>
                  <a:srgbClr val="212529"/>
                </a:solidFill>
                <a:effectLst/>
                <a:latin typeface="-apple-system"/>
              </a:rPr>
              <a:t> is the computer's </a:t>
            </a:r>
            <a:r>
              <a:rPr lang="en-US" b="1" i="0" dirty="0">
                <a:solidFill>
                  <a:srgbClr val="212529"/>
                </a:solidFill>
                <a:effectLst/>
                <a:latin typeface="Arial" panose="020B0604020202020204" pitchFamily="34" charset="0"/>
              </a:rPr>
              <a:t>main circuit board</a:t>
            </a:r>
            <a:r>
              <a:rPr lang="en-US" b="0" i="0" dirty="0">
                <a:solidFill>
                  <a:srgbClr val="212529"/>
                </a:solidFill>
                <a:effectLst/>
                <a:latin typeface="-apple-system"/>
              </a:rPr>
              <a:t>. It's a thin plate printed circuit board that holds the CPU, memory, connectors for the hard drive and optical drives, expansion cards to control the video and audio, and connections to your computer's ports (such as USB ports). The motherboard connects directly or indirectly to every part of the computer.</a:t>
            </a:r>
            <a:endParaRPr lang="en-US" dirty="0">
              <a:solidFill>
                <a:schemeClr val="tx1"/>
              </a:solidFill>
              <a:latin typeface="Muli"/>
            </a:endParaRPr>
          </a:p>
        </p:txBody>
      </p:sp>
      <p:sp>
        <p:nvSpPr>
          <p:cNvPr id="11" name="Content Placeholder 5">
            <a:extLst>
              <a:ext uri="{FF2B5EF4-FFF2-40B4-BE49-F238E27FC236}">
                <a16:creationId xmlns:a16="http://schemas.microsoft.com/office/drawing/2014/main" id="{BE303A70-383A-7055-5A0F-12A1DF94E4E6}"/>
              </a:ext>
            </a:extLst>
          </p:cNvPr>
          <p:cNvSpPr txBox="1">
            <a:spLocks/>
          </p:cNvSpPr>
          <p:nvPr/>
        </p:nvSpPr>
        <p:spPr>
          <a:xfrm>
            <a:off x="921695" y="1584799"/>
            <a:ext cx="6334812" cy="20267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dirty="0">
                <a:solidFill>
                  <a:srgbClr val="212529"/>
                </a:solidFill>
                <a:latin typeface="Arial" panose="020B0604020202020204" pitchFamily="34" charset="0"/>
              </a:rPr>
              <a:t>PSU</a:t>
            </a:r>
          </a:p>
          <a:p>
            <a:r>
              <a:rPr lang="en-US" dirty="0">
                <a:solidFill>
                  <a:srgbClr val="212529"/>
                </a:solidFill>
                <a:latin typeface="Arial" panose="020B0604020202020204" pitchFamily="34" charset="0"/>
              </a:rPr>
              <a:t>Motherboard</a:t>
            </a:r>
          </a:p>
          <a:p>
            <a:r>
              <a:rPr lang="en-US" dirty="0">
                <a:solidFill>
                  <a:srgbClr val="212529"/>
                </a:solidFill>
                <a:latin typeface="Arial" panose="020B0604020202020204" pitchFamily="34" charset="0"/>
              </a:rPr>
              <a:t>Memory units</a:t>
            </a:r>
          </a:p>
          <a:p>
            <a:r>
              <a:rPr lang="en-US" dirty="0">
                <a:solidFill>
                  <a:srgbClr val="212529"/>
                </a:solidFill>
                <a:latin typeface="Arial" panose="020B0604020202020204" pitchFamily="34" charset="0"/>
              </a:rPr>
              <a:t>Optical Devices</a:t>
            </a:r>
            <a:endParaRPr lang="en-US" dirty="0">
              <a:solidFill>
                <a:schemeClr val="tx1"/>
              </a:solidFill>
              <a:latin typeface="Muli"/>
            </a:endParaRPr>
          </a:p>
        </p:txBody>
      </p:sp>
    </p:spTree>
    <p:extLst>
      <p:ext uri="{BB962C8B-B14F-4D97-AF65-F5344CB8AC3E}">
        <p14:creationId xmlns:p14="http://schemas.microsoft.com/office/powerpoint/2010/main" val="1791801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0F33D-C370-B214-0D25-B5A94ED06DF1}"/>
              </a:ext>
            </a:extLst>
          </p:cNvPr>
          <p:cNvSpPr>
            <a:spLocks noGrp="1"/>
          </p:cNvSpPr>
          <p:nvPr>
            <p:ph type="title"/>
          </p:nvPr>
        </p:nvSpPr>
        <p:spPr/>
        <p:txBody>
          <a:bodyPr/>
          <a:lstStyle/>
          <a:p>
            <a:r>
              <a:rPr lang="en-US" dirty="0"/>
              <a:t>Inside the Computer Cabinet</a:t>
            </a:r>
          </a:p>
        </p:txBody>
      </p:sp>
      <p:sp>
        <p:nvSpPr>
          <p:cNvPr id="4" name="Slide Number Placeholder 3">
            <a:extLst>
              <a:ext uri="{FF2B5EF4-FFF2-40B4-BE49-F238E27FC236}">
                <a16:creationId xmlns:a16="http://schemas.microsoft.com/office/drawing/2014/main" id="{35A85391-801D-C043-09AE-0E86985D59C5}"/>
              </a:ext>
            </a:extLst>
          </p:cNvPr>
          <p:cNvSpPr>
            <a:spLocks noGrp="1"/>
          </p:cNvSpPr>
          <p:nvPr>
            <p:ph type="sldNum" sz="quarter" idx="12"/>
          </p:nvPr>
        </p:nvSpPr>
        <p:spPr/>
        <p:txBody>
          <a:bodyPr/>
          <a:lstStyle/>
          <a:p>
            <a:fld id="{BA7A6E9C-5E3E-4EF1-A1F5-09F1FAA1BC14}" type="slidenum">
              <a:rPr lang="en-US" smtClean="0"/>
              <a:t>22</a:t>
            </a:fld>
            <a:endParaRPr lang="en-US"/>
          </a:p>
        </p:txBody>
      </p:sp>
      <p:pic>
        <p:nvPicPr>
          <p:cNvPr id="5122" name="Picture 2" descr="What is the function of SATA Point? - Quora">
            <a:extLst>
              <a:ext uri="{FF2B5EF4-FFF2-40B4-BE49-F238E27FC236}">
                <a16:creationId xmlns:a16="http://schemas.microsoft.com/office/drawing/2014/main" id="{863B6AC4-435D-46FE-B8A9-5F374AE437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155" y="1789521"/>
            <a:ext cx="2628900" cy="17430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A907A6C-F1F8-F00D-617E-FB97EA066A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2460" y="1564849"/>
            <a:ext cx="7190557" cy="6471501"/>
          </a:xfrm>
          <a:prstGeom prst="rect">
            <a:avLst/>
          </a:prstGeom>
        </p:spPr>
      </p:pic>
    </p:spTree>
    <p:extLst>
      <p:ext uri="{BB962C8B-B14F-4D97-AF65-F5344CB8AC3E}">
        <p14:creationId xmlns:p14="http://schemas.microsoft.com/office/powerpoint/2010/main" val="573658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B658C3-D022-F048-A152-397F51E2C256}"/>
              </a:ext>
            </a:extLst>
          </p:cNvPr>
          <p:cNvSpPr>
            <a:spLocks noGrp="1"/>
          </p:cNvSpPr>
          <p:nvPr>
            <p:ph idx="1"/>
          </p:nvPr>
        </p:nvSpPr>
        <p:spPr>
          <a:xfrm>
            <a:off x="1712519" y="2246721"/>
            <a:ext cx="8915400" cy="3777622"/>
          </a:xfrm>
        </p:spPr>
        <p:txBody>
          <a:bodyPr>
            <a:normAutofit/>
          </a:bodyPr>
          <a:lstStyle/>
          <a:p>
            <a:pPr marL="0" indent="0" algn="ctr">
              <a:buNone/>
            </a:pPr>
            <a:r>
              <a:rPr lang="en-US" sz="8000" b="1" dirty="0">
                <a:latin typeface="Bahnschrift" panose="020B0502040204020203" pitchFamily="34" charset="0"/>
              </a:rPr>
              <a:t>END</a:t>
            </a:r>
          </a:p>
        </p:txBody>
      </p:sp>
      <p:sp>
        <p:nvSpPr>
          <p:cNvPr id="4" name="Slide Number Placeholder 3">
            <a:extLst>
              <a:ext uri="{FF2B5EF4-FFF2-40B4-BE49-F238E27FC236}">
                <a16:creationId xmlns:a16="http://schemas.microsoft.com/office/drawing/2014/main" id="{D736808F-D87A-890F-59A7-80B8C0BAF424}"/>
              </a:ext>
            </a:extLst>
          </p:cNvPr>
          <p:cNvSpPr>
            <a:spLocks noGrp="1"/>
          </p:cNvSpPr>
          <p:nvPr>
            <p:ph type="sldNum" sz="quarter" idx="12"/>
          </p:nvPr>
        </p:nvSpPr>
        <p:spPr/>
        <p:txBody>
          <a:bodyPr/>
          <a:lstStyle/>
          <a:p>
            <a:fld id="{BA7A6E9C-5E3E-4EF1-A1F5-09F1FAA1BC14}" type="slidenum">
              <a:rPr lang="en-US" smtClean="0"/>
              <a:t>23</a:t>
            </a:fld>
            <a:endParaRPr lang="en-US"/>
          </a:p>
        </p:txBody>
      </p:sp>
    </p:spTree>
    <p:extLst>
      <p:ext uri="{BB962C8B-B14F-4D97-AF65-F5344CB8AC3E}">
        <p14:creationId xmlns:p14="http://schemas.microsoft.com/office/powerpoint/2010/main" val="109316624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7759</TotalTime>
  <Words>1659</Words>
  <Application>Microsoft Office PowerPoint</Application>
  <PresentationFormat>Widescreen</PresentationFormat>
  <Paragraphs>194</Paragraphs>
  <Slides>23</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23</vt:i4>
      </vt:variant>
    </vt:vector>
  </HeadingPairs>
  <TitlesOfParts>
    <vt:vector size="36" baseType="lpstr">
      <vt:lpstr>-apple-system</vt:lpstr>
      <vt:lpstr>Arial</vt:lpstr>
      <vt:lpstr>Bahnschrift</vt:lpstr>
      <vt:lpstr>Bahnschrift SemiBold SemiConden</vt:lpstr>
      <vt:lpstr>Calibri</vt:lpstr>
      <vt:lpstr>Century Gothic</vt:lpstr>
      <vt:lpstr>Consolas</vt:lpstr>
      <vt:lpstr>inherit</vt:lpstr>
      <vt:lpstr>Muli</vt:lpstr>
      <vt:lpstr>Söhne</vt:lpstr>
      <vt:lpstr>Verdana</vt:lpstr>
      <vt:lpstr>Wingdings 3</vt:lpstr>
      <vt:lpstr>Wisp</vt:lpstr>
      <vt:lpstr>Unit 2 The Computer System hardware</vt:lpstr>
      <vt:lpstr>Syllabus</vt:lpstr>
      <vt:lpstr>Introduction</vt:lpstr>
      <vt:lpstr>Architecture/Organization/Anatomy of computer/Interconnecting parts of Computer</vt:lpstr>
      <vt:lpstr>Input Unit</vt:lpstr>
      <vt:lpstr>Memory Unit</vt:lpstr>
      <vt:lpstr>Central Processing Unit</vt:lpstr>
      <vt:lpstr>Three components of CPU</vt:lpstr>
      <vt:lpstr>Arithmetic &amp; Logical Unit</vt:lpstr>
      <vt:lpstr>Control Unit</vt:lpstr>
      <vt:lpstr>Registers</vt:lpstr>
      <vt:lpstr>Output Unit</vt:lpstr>
      <vt:lpstr>Microprocessor</vt:lpstr>
      <vt:lpstr>Instruction Format</vt:lpstr>
      <vt:lpstr>Instruction Format</vt:lpstr>
      <vt:lpstr>Instruction Format</vt:lpstr>
      <vt:lpstr>Instruction Format</vt:lpstr>
      <vt:lpstr>Instruction Set</vt:lpstr>
      <vt:lpstr>Instruction Set</vt:lpstr>
      <vt:lpstr>Instruction Cycle</vt:lpstr>
      <vt:lpstr>Inside the Computer Cabinet</vt:lpstr>
      <vt:lpstr>Inside the Computer Cabinet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Introduction to Computer</dc:title>
  <dc:creator>Hp</dc:creator>
  <cp:lastModifiedBy>Yachu</cp:lastModifiedBy>
  <cp:revision>128</cp:revision>
  <dcterms:created xsi:type="dcterms:W3CDTF">2022-12-19T23:12:59Z</dcterms:created>
  <dcterms:modified xsi:type="dcterms:W3CDTF">2023-12-12T07:55:37Z</dcterms:modified>
</cp:coreProperties>
</file>