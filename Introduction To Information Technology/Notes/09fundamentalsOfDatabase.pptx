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4"/>
  </p:notesMasterIdLst>
  <p:sldIdLst>
    <p:sldId id="256" r:id="rId2"/>
    <p:sldId id="363" r:id="rId3"/>
    <p:sldId id="258" r:id="rId4"/>
    <p:sldId id="260" r:id="rId5"/>
    <p:sldId id="261" r:id="rId6"/>
    <p:sldId id="262" r:id="rId7"/>
    <p:sldId id="263" r:id="rId8"/>
    <p:sldId id="264" r:id="rId9"/>
    <p:sldId id="265" r:id="rId10"/>
    <p:sldId id="266" r:id="rId11"/>
    <p:sldId id="348" r:id="rId12"/>
    <p:sldId id="267" r:id="rId13"/>
    <p:sldId id="268" r:id="rId14"/>
    <p:sldId id="269" r:id="rId15"/>
    <p:sldId id="349" r:id="rId16"/>
    <p:sldId id="350" r:id="rId17"/>
    <p:sldId id="352" r:id="rId18"/>
    <p:sldId id="353" r:id="rId19"/>
    <p:sldId id="354" r:id="rId20"/>
    <p:sldId id="351" r:id="rId21"/>
    <p:sldId id="355" r:id="rId22"/>
    <p:sldId id="356" r:id="rId23"/>
    <p:sldId id="340" r:id="rId24"/>
    <p:sldId id="345" r:id="rId25"/>
    <p:sldId id="344" r:id="rId26"/>
    <p:sldId id="360" r:id="rId27"/>
    <p:sldId id="359" r:id="rId28"/>
    <p:sldId id="357" r:id="rId29"/>
    <p:sldId id="361" r:id="rId30"/>
    <p:sldId id="346" r:id="rId31"/>
    <p:sldId id="362" r:id="rId32"/>
    <p:sldId id="347"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8" d="100"/>
          <a:sy n="78" d="100"/>
        </p:scale>
        <p:origin x="80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E857BB-3DFD-4BCD-ABA3-BE399F29236E}" type="datetimeFigureOut">
              <a:rPr lang="en-US" smtClean="0"/>
              <a:t>2/11/2024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06A145-CC7A-4735-9AA6-D6C2D5840DFD}" type="slidenum">
              <a:rPr lang="en-US" smtClean="0"/>
              <a:t>‹#›</a:t>
            </a:fld>
            <a:endParaRPr lang="en-US"/>
          </a:p>
        </p:txBody>
      </p:sp>
    </p:spTree>
    <p:extLst>
      <p:ext uri="{BB962C8B-B14F-4D97-AF65-F5344CB8AC3E}">
        <p14:creationId xmlns:p14="http://schemas.microsoft.com/office/powerpoint/2010/main" val="1336990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EA02C33-E214-4F50-951C-841145776321}" type="datetime1">
              <a:rPr lang="en-US" smtClean="0"/>
              <a:t>2/11/2024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BB6CAC-644D-451C-9DF4-32A852A2516A}" type="datetime1">
              <a:rPr lang="en-US" smtClean="0"/>
              <a:t>2/11/2024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C36DA55-E159-4729-89E7-584B10B82B81}" type="datetime1">
              <a:rPr lang="en-US" smtClean="0"/>
              <a:t>2/11/2024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226BFB4-358D-460B-A25B-33AE920CF3DD}" type="datetime1">
              <a:rPr lang="en-US" smtClean="0"/>
              <a:t>2/11/2024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95D366B-F4A7-4AC9-8AAA-DA6661745FFE}" type="datetime1">
              <a:rPr lang="en-US" smtClean="0"/>
              <a:t>2/11/2024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88B638-9C70-40D4-8EB4-C7C4CA63B23B}" type="datetime1">
              <a:rPr lang="en-US" smtClean="0"/>
              <a:t>2/11/2024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0463AC-A17D-434B-92A9-137E8EAA54C9}" type="datetime1">
              <a:rPr lang="en-US" smtClean="0"/>
              <a:t>2/11/2024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C64E700-950E-442C-9078-4546BB0AB144}" type="datetime1">
              <a:rPr lang="en-US" smtClean="0"/>
              <a:t>2/11/2024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F360E44-E9A6-48D7-8646-6CC2F23E2025}" type="datetime1">
              <a:rPr lang="en-US" smtClean="0"/>
              <a:t>2/11/2024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7CECE40-53CE-4F17-87EB-376D4D6AA228}" type="datetime1">
              <a:rPr lang="en-US" smtClean="0"/>
              <a:t>2/11/2024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D9C4701-170E-4C77-A624-C96A32F2E234}" type="datetime1">
              <a:rPr lang="en-US" smtClean="0"/>
              <a:t>2/11/2024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FD86195F-6C2A-46F4-BA59-A996F9D907F0}" type="datetime1">
              <a:rPr lang="en-US" smtClean="0"/>
              <a:t>2/11/2024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6F6FB83B-9394-4F09-AECF-00FBFBB7F955}" type="datetime1">
              <a:rPr lang="en-US" smtClean="0"/>
              <a:t>2/11/2024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86B7DFB2-D7E4-40C1-90A8-EE0D097DB32F}" type="datetime1">
              <a:rPr lang="en-US" smtClean="0"/>
              <a:t>2/11/2024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E3D140-C44F-4D90-93A6-291CDCB8905C}" type="datetime1">
              <a:rPr lang="en-US" smtClean="0"/>
              <a:t>2/11/2024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15EC9F-BDD2-41DF-8F49-4C9C5E060F8B}" type="datetime1">
              <a:rPr lang="en-US" smtClean="0"/>
              <a:t>2/11/2024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BF96AF1-A776-4666-A96D-F130368F252E}" type="datetime1">
              <a:rPr lang="en-US" smtClean="0"/>
              <a:t>2/11/2024</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webp"/><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webp"/><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webp"/><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F98A043-C7B9-71DA-F5D8-E527539AD8CD}"/>
              </a:ext>
            </a:extLst>
          </p:cNvPr>
          <p:cNvPicPr>
            <a:picLocks noChangeAspect="1"/>
          </p:cNvPicPr>
          <p:nvPr/>
        </p:nvPicPr>
        <p:blipFill>
          <a:blip r:embed="rId2"/>
          <a:stretch>
            <a:fillRect/>
          </a:stretch>
        </p:blipFill>
        <p:spPr>
          <a:xfrm>
            <a:off x="1488" y="0"/>
            <a:ext cx="12189023" cy="6858000"/>
          </a:xfrm>
          <a:prstGeom prst="rect">
            <a:avLst/>
          </a:prstGeom>
        </p:spPr>
      </p:pic>
      <p:sp>
        <p:nvSpPr>
          <p:cNvPr id="2" name="Title 1"/>
          <p:cNvSpPr>
            <a:spLocks noGrp="1"/>
          </p:cNvSpPr>
          <p:nvPr>
            <p:ph type="ctrTitle"/>
          </p:nvPr>
        </p:nvSpPr>
        <p:spPr>
          <a:xfrm>
            <a:off x="1846323" y="455132"/>
            <a:ext cx="8915399" cy="2262781"/>
          </a:xfr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a:normAutofit fontScale="90000"/>
          </a:bodyPr>
          <a:lstStyle/>
          <a:p>
            <a:r>
              <a:rPr lang="en-US" dirty="0">
                <a:solidFill>
                  <a:schemeClr val="bg1">
                    <a:lumMod val="95000"/>
                  </a:schemeClr>
                </a:solidFill>
              </a:rPr>
              <a:t>Unit 4</a:t>
            </a:r>
            <a:br>
              <a:rPr lang="en-US" dirty="0">
                <a:solidFill>
                  <a:schemeClr val="bg1">
                    <a:lumMod val="95000"/>
                  </a:schemeClr>
                </a:solidFill>
              </a:rPr>
            </a:br>
            <a:r>
              <a:rPr lang="en-US" dirty="0">
                <a:solidFill>
                  <a:schemeClr val="bg1">
                    <a:lumMod val="95000"/>
                  </a:schemeClr>
                </a:solidFill>
              </a:rPr>
              <a:t>Database Management System</a:t>
            </a:r>
          </a:p>
        </p:txBody>
      </p:sp>
      <p:sp>
        <p:nvSpPr>
          <p:cNvPr id="3" name="Slide Number Placeholder 2">
            <a:extLst>
              <a:ext uri="{FF2B5EF4-FFF2-40B4-BE49-F238E27FC236}">
                <a16:creationId xmlns:a16="http://schemas.microsoft.com/office/drawing/2014/main" id="{09E58175-1CED-250E-07A5-ABD5AD14505C}"/>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1340990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D9C16-396E-81DD-B30E-DB78A250D470}"/>
              </a:ext>
            </a:extLst>
          </p:cNvPr>
          <p:cNvSpPr>
            <a:spLocks noGrp="1"/>
          </p:cNvSpPr>
          <p:nvPr>
            <p:ph type="title"/>
          </p:nvPr>
        </p:nvSpPr>
        <p:spPr/>
        <p:txBody>
          <a:bodyPr/>
          <a:lstStyle/>
          <a:p>
            <a:r>
              <a:rPr lang="en-US" dirty="0"/>
              <a:t>Syllabus</a:t>
            </a:r>
          </a:p>
        </p:txBody>
      </p:sp>
      <p:sp>
        <p:nvSpPr>
          <p:cNvPr id="3" name="Content Placeholder 2">
            <a:extLst>
              <a:ext uri="{FF2B5EF4-FFF2-40B4-BE49-F238E27FC236}">
                <a16:creationId xmlns:a16="http://schemas.microsoft.com/office/drawing/2014/main" id="{AA9C722C-1E52-4C11-8BA1-0CCADABC38D9}"/>
              </a:ext>
            </a:extLst>
          </p:cNvPr>
          <p:cNvSpPr>
            <a:spLocks noGrp="1"/>
          </p:cNvSpPr>
          <p:nvPr>
            <p:ph idx="1"/>
          </p:nvPr>
        </p:nvSpPr>
        <p:spPr/>
        <p:txBody>
          <a:bodyPr>
            <a:normAutofit/>
          </a:bodyPr>
          <a:lstStyle/>
          <a:p>
            <a:r>
              <a:rPr lang="en-US" sz="2000" dirty="0"/>
              <a:t>Introduction to database</a:t>
            </a:r>
          </a:p>
          <a:p>
            <a:r>
              <a:rPr lang="en-US" sz="2000" dirty="0"/>
              <a:t>Database System</a:t>
            </a:r>
          </a:p>
          <a:p>
            <a:r>
              <a:rPr lang="en-US" sz="2000" dirty="0"/>
              <a:t>Database Management System</a:t>
            </a:r>
          </a:p>
          <a:p>
            <a:r>
              <a:rPr lang="en-US" sz="2000" dirty="0"/>
              <a:t>Database System Architectures</a:t>
            </a:r>
          </a:p>
          <a:p>
            <a:r>
              <a:rPr lang="en-US" sz="2000" dirty="0"/>
              <a:t>Database Applications</a:t>
            </a:r>
          </a:p>
          <a:p>
            <a:r>
              <a:rPr lang="en-US" sz="2000" dirty="0"/>
              <a:t>Introduction to Data Warehousing, Data mining and </a:t>
            </a:r>
            <a:r>
              <a:rPr lang="en-US" sz="2000" dirty="0" err="1"/>
              <a:t>BigData</a:t>
            </a:r>
            <a:endParaRPr lang="en-US" sz="2000" dirty="0"/>
          </a:p>
        </p:txBody>
      </p:sp>
      <p:sp>
        <p:nvSpPr>
          <p:cNvPr id="4" name="Slide Number Placeholder 3">
            <a:extLst>
              <a:ext uri="{FF2B5EF4-FFF2-40B4-BE49-F238E27FC236}">
                <a16:creationId xmlns:a16="http://schemas.microsoft.com/office/drawing/2014/main" id="{D721A059-E96C-E2E9-A54E-C9B94B8E3EFF}"/>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2614968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Data &amp; Information</a:t>
            </a:r>
          </a:p>
        </p:txBody>
      </p:sp>
      <p:sp>
        <p:nvSpPr>
          <p:cNvPr id="3" name="Content Placeholder 2"/>
          <p:cNvSpPr>
            <a:spLocks noGrp="1"/>
          </p:cNvSpPr>
          <p:nvPr>
            <p:ph idx="1"/>
          </p:nvPr>
        </p:nvSpPr>
        <p:spPr>
          <a:xfrm>
            <a:off x="2592925" y="1733664"/>
            <a:ext cx="8655377" cy="4351338"/>
          </a:xfrm>
        </p:spPr>
        <p:txBody>
          <a:bodyPr/>
          <a:lstStyle/>
          <a:p>
            <a:pPr algn="just"/>
            <a:r>
              <a:rPr lang="en-US" b="1" i="1" dirty="0"/>
              <a:t>Data is collection of raw facts typically about physical phenomena or business transactions</a:t>
            </a:r>
            <a:r>
              <a:rPr lang="en-US" dirty="0"/>
              <a:t>. </a:t>
            </a:r>
          </a:p>
          <a:p>
            <a:pPr algn="just"/>
            <a:r>
              <a:rPr lang="en-US" dirty="0"/>
              <a:t>Data can be in any form-numerical, textual, graphical, image, sound, video etc.</a:t>
            </a:r>
          </a:p>
          <a:p>
            <a:pPr algn="just"/>
            <a:r>
              <a:rPr lang="en-US" dirty="0"/>
              <a:t>For example of data would be the marks obtained by students in different subjects. </a:t>
            </a:r>
          </a:p>
          <a:p>
            <a:pPr algn="just"/>
            <a:r>
              <a:rPr lang="en-US" b="1" i="1" dirty="0"/>
              <a:t>Information is defined as refined or processed data that has been transformed into meaningful and useful form for specific users.</a:t>
            </a:r>
          </a:p>
          <a:p>
            <a:pPr algn="just"/>
            <a:r>
              <a:rPr lang="en-US" b="1" i="1" dirty="0"/>
              <a:t> </a:t>
            </a:r>
            <a:r>
              <a:rPr lang="en-US" dirty="0"/>
              <a:t>For example, after processing the marks obtained by student it transformed into information, which is meaningful and from which we can decide which student stood first, second and so forth. Information comes from data and takes the form of table, graphs, diagrams etc.</a:t>
            </a:r>
          </a:p>
          <a:p>
            <a:pPr algn="just"/>
            <a:endParaRPr lang="en-US" dirty="0"/>
          </a:p>
        </p:txBody>
      </p:sp>
      <p:sp>
        <p:nvSpPr>
          <p:cNvPr id="4" name="Slide Number Placeholder 3"/>
          <p:cNvSpPr>
            <a:spLocks noGrp="1"/>
          </p:cNvSpPr>
          <p:nvPr>
            <p:ph type="sldNum" sz="quarter" idx="12"/>
          </p:nvPr>
        </p:nvSpPr>
        <p:spPr/>
        <p:txBody>
          <a:bodyPr/>
          <a:lstStyle/>
          <a:p>
            <a:fld id="{A5C21B5B-BB78-48E7-8B29-3758DD6F29A1}" type="slidenum">
              <a:rPr lang="en-US" smtClean="0"/>
              <a:t>3</a:t>
            </a:fld>
            <a:endParaRPr lang="en-US"/>
          </a:p>
        </p:txBody>
      </p:sp>
    </p:spTree>
    <p:extLst>
      <p:ext uri="{BB962C8B-B14F-4D97-AF65-F5344CB8AC3E}">
        <p14:creationId xmlns:p14="http://schemas.microsoft.com/office/powerpoint/2010/main" val="2978021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heavy" dirty="0"/>
              <a:t>Database:</a:t>
            </a:r>
            <a:endParaRPr lang="en-US" b="1" u="sng" dirty="0"/>
          </a:p>
        </p:txBody>
      </p:sp>
      <p:sp>
        <p:nvSpPr>
          <p:cNvPr id="3" name="Content Placeholder 2"/>
          <p:cNvSpPr>
            <a:spLocks noGrp="1"/>
          </p:cNvSpPr>
          <p:nvPr>
            <p:ph idx="1"/>
          </p:nvPr>
        </p:nvSpPr>
        <p:spPr/>
        <p:txBody>
          <a:bodyPr/>
          <a:lstStyle/>
          <a:p>
            <a:pPr algn="just">
              <a:buBlip>
                <a:blip r:embed="rId2"/>
              </a:buBlip>
            </a:pPr>
            <a:r>
              <a:rPr lang="en-US" b="1" dirty="0"/>
              <a:t>A database </a:t>
            </a:r>
            <a:r>
              <a:rPr lang="en-US" dirty="0"/>
              <a:t>is an organized collection of interrelated data and contains information relevant to an enterprise. </a:t>
            </a:r>
          </a:p>
          <a:p>
            <a:pPr algn="just">
              <a:buBlip>
                <a:blip r:embed="rId2"/>
              </a:buBlip>
            </a:pPr>
            <a:r>
              <a:rPr lang="en-US" dirty="0"/>
              <a:t>The database is also called the repository or container for a collection of data files. </a:t>
            </a:r>
          </a:p>
          <a:p>
            <a:pPr algn="just">
              <a:buBlip>
                <a:blip r:embed="rId2"/>
              </a:buBlip>
            </a:pPr>
            <a:r>
              <a:rPr lang="en-US" dirty="0"/>
              <a:t>For example, </a:t>
            </a:r>
            <a:r>
              <a:rPr lang="en-US" b="1" dirty="0"/>
              <a:t>telephone directory</a:t>
            </a:r>
          </a:p>
          <a:p>
            <a:pPr algn="just">
              <a:buBlip>
                <a:blip r:embed="rId2"/>
              </a:buBlip>
            </a:pPr>
            <a:r>
              <a:rPr lang="en-US" b="1" dirty="0"/>
              <a:t>Database system: </a:t>
            </a:r>
            <a:r>
              <a:rPr lang="en-US" dirty="0"/>
              <a:t>It is a collection </a:t>
            </a:r>
            <a:r>
              <a:rPr lang="en-US"/>
              <a:t>of Database and DBMS.</a:t>
            </a:r>
            <a:endParaRPr lang="en-US" dirty="0"/>
          </a:p>
        </p:txBody>
      </p:sp>
      <p:sp>
        <p:nvSpPr>
          <p:cNvPr id="4" name="Slide Number Placeholder 3"/>
          <p:cNvSpPr>
            <a:spLocks noGrp="1"/>
          </p:cNvSpPr>
          <p:nvPr>
            <p:ph type="sldNum" sz="quarter" idx="12"/>
          </p:nvPr>
        </p:nvSpPr>
        <p:spPr/>
        <p:txBody>
          <a:bodyPr/>
          <a:lstStyle/>
          <a:p>
            <a:fld id="{A5C21B5B-BB78-48E7-8B29-3758DD6F29A1}" type="slidenum">
              <a:rPr lang="en-US" smtClean="0"/>
              <a:t>4</a:t>
            </a:fld>
            <a:endParaRPr lang="en-US"/>
          </a:p>
        </p:txBody>
      </p:sp>
    </p:spTree>
    <p:extLst>
      <p:ext uri="{BB962C8B-B14F-4D97-AF65-F5344CB8AC3E}">
        <p14:creationId xmlns:p14="http://schemas.microsoft.com/office/powerpoint/2010/main" val="38929501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Characteristics of data in database:</a:t>
            </a:r>
            <a:endParaRPr lang="en-US" b="1" u="sng" dirty="0"/>
          </a:p>
        </p:txBody>
      </p:sp>
      <p:sp>
        <p:nvSpPr>
          <p:cNvPr id="3" name="Content Placeholder 2"/>
          <p:cNvSpPr>
            <a:spLocks noGrp="1"/>
          </p:cNvSpPr>
          <p:nvPr>
            <p:ph idx="1"/>
          </p:nvPr>
        </p:nvSpPr>
        <p:spPr/>
        <p:txBody>
          <a:bodyPr>
            <a:normAutofit/>
          </a:bodyPr>
          <a:lstStyle/>
          <a:p>
            <a:pPr marL="0" indent="0" algn="just">
              <a:buNone/>
            </a:pPr>
            <a:r>
              <a:rPr lang="en-US" dirty="0"/>
              <a:t>The data in a database should have the following features:</a:t>
            </a:r>
          </a:p>
          <a:p>
            <a:pPr lvl="0" algn="just"/>
            <a:r>
              <a:rPr lang="en-US" b="1" dirty="0"/>
              <a:t>Shared: </a:t>
            </a:r>
            <a:r>
              <a:rPr lang="en-US" dirty="0"/>
              <a:t>Data should be sharable among different users and applications.</a:t>
            </a:r>
          </a:p>
          <a:p>
            <a:pPr lvl="0" algn="just"/>
            <a:r>
              <a:rPr lang="en-US" b="1" dirty="0"/>
              <a:t>Persistence: </a:t>
            </a:r>
            <a:r>
              <a:rPr lang="en-US" dirty="0"/>
              <a:t>Data should exist permanently in the database. Changes in the database must not be lost because of any failure.</a:t>
            </a:r>
          </a:p>
          <a:p>
            <a:pPr lvl="0" algn="just"/>
            <a:r>
              <a:rPr lang="en-US" b="1" dirty="0"/>
              <a:t>Validity/Integrity/Correctness: </a:t>
            </a:r>
            <a:r>
              <a:rPr lang="en-US" dirty="0"/>
              <a:t>It should maintain the integrity so that there is always correct data in the database.</a:t>
            </a:r>
          </a:p>
          <a:p>
            <a:pPr lvl="0" algn="just"/>
            <a:r>
              <a:rPr lang="en-US" b="1" dirty="0"/>
              <a:t>Security: </a:t>
            </a:r>
            <a:r>
              <a:rPr lang="en-US" dirty="0"/>
              <a:t>Data should be protected from unauthorized access.</a:t>
            </a:r>
          </a:p>
        </p:txBody>
      </p:sp>
      <p:sp>
        <p:nvSpPr>
          <p:cNvPr id="4" name="Slide Number Placeholder 3"/>
          <p:cNvSpPr>
            <a:spLocks noGrp="1"/>
          </p:cNvSpPr>
          <p:nvPr>
            <p:ph type="sldNum" sz="quarter" idx="12"/>
          </p:nvPr>
        </p:nvSpPr>
        <p:spPr/>
        <p:txBody>
          <a:bodyPr/>
          <a:lstStyle/>
          <a:p>
            <a:fld id="{A5C21B5B-BB78-48E7-8B29-3758DD6F29A1}" type="slidenum">
              <a:rPr lang="en-US" smtClean="0"/>
              <a:t>5</a:t>
            </a:fld>
            <a:endParaRPr lang="en-US"/>
          </a:p>
        </p:txBody>
      </p:sp>
    </p:spTree>
    <p:extLst>
      <p:ext uri="{BB962C8B-B14F-4D97-AF65-F5344CB8AC3E}">
        <p14:creationId xmlns:p14="http://schemas.microsoft.com/office/powerpoint/2010/main" val="1248638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26359" y="1914941"/>
            <a:ext cx="7371785" cy="3590312"/>
          </a:xfrm>
        </p:spPr>
        <p:txBody>
          <a:bodyPr/>
          <a:lstStyle/>
          <a:p>
            <a:pPr lvl="0" algn="just"/>
            <a:r>
              <a:rPr lang="en-US" b="1" dirty="0"/>
              <a:t>Non-redundancy: </a:t>
            </a:r>
            <a:r>
              <a:rPr lang="en-US" dirty="0"/>
              <a:t>Data should not be repeated.</a:t>
            </a:r>
          </a:p>
          <a:p>
            <a:pPr lvl="0" algn="just"/>
            <a:r>
              <a:rPr lang="en-US" b="1" dirty="0"/>
              <a:t>Consistency: </a:t>
            </a:r>
            <a:r>
              <a:rPr lang="en-US" dirty="0"/>
              <a:t>A consistent state of the database satisfies all the constraints specified in the database. Data in a database is consistent if any changes in the database take the database from one consistent state to another.</a:t>
            </a:r>
          </a:p>
        </p:txBody>
      </p:sp>
      <p:sp>
        <p:nvSpPr>
          <p:cNvPr id="2" name="Slide Number Placeholder 1"/>
          <p:cNvSpPr>
            <a:spLocks noGrp="1"/>
          </p:cNvSpPr>
          <p:nvPr>
            <p:ph type="sldNum" sz="quarter" idx="12"/>
          </p:nvPr>
        </p:nvSpPr>
        <p:spPr/>
        <p:txBody>
          <a:bodyPr/>
          <a:lstStyle/>
          <a:p>
            <a:fld id="{A5C21B5B-BB78-48E7-8B29-3758DD6F29A1}" type="slidenum">
              <a:rPr lang="en-US" smtClean="0"/>
              <a:t>6</a:t>
            </a:fld>
            <a:endParaRPr lang="en-US"/>
          </a:p>
        </p:txBody>
      </p:sp>
    </p:spTree>
    <p:extLst>
      <p:ext uri="{BB962C8B-B14F-4D97-AF65-F5344CB8AC3E}">
        <p14:creationId xmlns:p14="http://schemas.microsoft.com/office/powerpoint/2010/main" val="4264830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Database Management System:</a:t>
            </a:r>
          </a:p>
        </p:txBody>
      </p:sp>
      <p:sp>
        <p:nvSpPr>
          <p:cNvPr id="3" name="Content Placeholder 2"/>
          <p:cNvSpPr>
            <a:spLocks noGrp="1"/>
          </p:cNvSpPr>
          <p:nvPr>
            <p:ph idx="1"/>
          </p:nvPr>
        </p:nvSpPr>
        <p:spPr/>
        <p:txBody>
          <a:bodyPr>
            <a:normAutofit/>
          </a:bodyPr>
          <a:lstStyle/>
          <a:p>
            <a:pPr algn="just"/>
            <a:r>
              <a:rPr lang="en-US" b="1" i="1" dirty="0"/>
              <a:t>A Database Management System (DBMS) is a collection of interrelated data and the set of programs to access those data</a:t>
            </a:r>
            <a:r>
              <a:rPr lang="en-US" dirty="0"/>
              <a:t>. The primary goal of a DBMS is to provide a way to store and retrieve database information that is both </a:t>
            </a:r>
            <a:r>
              <a:rPr lang="en-US" i="1" dirty="0"/>
              <a:t>convenient </a:t>
            </a:r>
            <a:r>
              <a:rPr lang="en-US" dirty="0"/>
              <a:t>and </a:t>
            </a:r>
            <a:r>
              <a:rPr lang="en-US" i="1" dirty="0"/>
              <a:t>efficient</a:t>
            </a:r>
            <a:r>
              <a:rPr lang="en-US" dirty="0"/>
              <a:t>.</a:t>
            </a:r>
          </a:p>
          <a:p>
            <a:pPr algn="just"/>
            <a:r>
              <a:rPr lang="en-US" dirty="0"/>
              <a:t>Some common examples of the DBMS software are Oracle, Sybase, Microsoft SQL Server, DB2, MySQL, </a:t>
            </a:r>
            <a:r>
              <a:rPr lang="en-US" dirty="0" err="1"/>
              <a:t>Postgres</a:t>
            </a:r>
            <a:r>
              <a:rPr lang="en-US" dirty="0"/>
              <a:t>, Dbase, </a:t>
            </a:r>
            <a:r>
              <a:rPr lang="en-US" dirty="0" err="1"/>
              <a:t>Ms</a:t>
            </a:r>
            <a:r>
              <a:rPr lang="en-US" dirty="0"/>
              <a:t>-Access etc.</a:t>
            </a:r>
          </a:p>
          <a:p>
            <a:pPr algn="just"/>
            <a:r>
              <a:rPr lang="en-US" dirty="0"/>
              <a:t>For example, in a computer system, the checking account processing system, the auto loan system and the saving accounts would have a common database. This database based approach to data processing is shown in fig below</a:t>
            </a:r>
          </a:p>
        </p:txBody>
      </p:sp>
      <p:sp>
        <p:nvSpPr>
          <p:cNvPr id="4" name="Slide Number Placeholder 3"/>
          <p:cNvSpPr>
            <a:spLocks noGrp="1"/>
          </p:cNvSpPr>
          <p:nvPr>
            <p:ph type="sldNum" sz="quarter" idx="12"/>
          </p:nvPr>
        </p:nvSpPr>
        <p:spPr/>
        <p:txBody>
          <a:bodyPr/>
          <a:lstStyle/>
          <a:p>
            <a:fld id="{A5C21B5B-BB78-48E7-8B29-3758DD6F29A1}" type="slidenum">
              <a:rPr lang="en-US" smtClean="0"/>
              <a:t>7</a:t>
            </a:fld>
            <a:endParaRPr lang="en-US"/>
          </a:p>
        </p:txBody>
      </p:sp>
    </p:spTree>
    <p:extLst>
      <p:ext uri="{BB962C8B-B14F-4D97-AF65-F5344CB8AC3E}">
        <p14:creationId xmlns:p14="http://schemas.microsoft.com/office/powerpoint/2010/main" val="1490260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794862" y="868218"/>
            <a:ext cx="9362665" cy="5061527"/>
          </a:xfrm>
          <a:prstGeom prst="rect">
            <a:avLst/>
          </a:prstGeom>
        </p:spPr>
      </p:pic>
      <p:sp>
        <p:nvSpPr>
          <p:cNvPr id="2" name="Slide Number Placeholder 1"/>
          <p:cNvSpPr>
            <a:spLocks noGrp="1"/>
          </p:cNvSpPr>
          <p:nvPr>
            <p:ph type="sldNum" sz="quarter" idx="12"/>
          </p:nvPr>
        </p:nvSpPr>
        <p:spPr/>
        <p:txBody>
          <a:bodyPr/>
          <a:lstStyle/>
          <a:p>
            <a:fld id="{A5C21B5B-BB78-48E7-8B29-3758DD6F29A1}" type="slidenum">
              <a:rPr lang="en-US" smtClean="0"/>
              <a:t>8</a:t>
            </a:fld>
            <a:endParaRPr lang="en-US"/>
          </a:p>
        </p:txBody>
      </p:sp>
    </p:spTree>
    <p:extLst>
      <p:ext uri="{BB962C8B-B14F-4D97-AF65-F5344CB8AC3E}">
        <p14:creationId xmlns:p14="http://schemas.microsoft.com/office/powerpoint/2010/main" val="15476361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1026" name="Picture 2" descr="chapter- 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46037" y="1602436"/>
            <a:ext cx="7860144" cy="4539745"/>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A5C21B5B-BB78-48E7-8B29-3758DD6F29A1}" type="slidenum">
              <a:rPr lang="en-US" smtClean="0"/>
              <a:t>9</a:t>
            </a:fld>
            <a:endParaRPr lang="en-US"/>
          </a:p>
        </p:txBody>
      </p:sp>
    </p:spTree>
    <p:extLst>
      <p:ext uri="{BB962C8B-B14F-4D97-AF65-F5344CB8AC3E}">
        <p14:creationId xmlns:p14="http://schemas.microsoft.com/office/powerpoint/2010/main" val="133794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Objective of DBMS</a:t>
            </a:r>
            <a:endParaRPr lang="en-US" b="1" u="sng" dirty="0"/>
          </a:p>
        </p:txBody>
      </p:sp>
      <p:sp>
        <p:nvSpPr>
          <p:cNvPr id="3" name="Content Placeholder 2"/>
          <p:cNvSpPr>
            <a:spLocks noGrp="1"/>
          </p:cNvSpPr>
          <p:nvPr>
            <p:ph idx="1"/>
          </p:nvPr>
        </p:nvSpPr>
        <p:spPr/>
        <p:txBody>
          <a:bodyPr>
            <a:normAutofit lnSpcReduction="10000"/>
          </a:bodyPr>
          <a:lstStyle/>
          <a:p>
            <a:pPr marL="0" indent="0">
              <a:buNone/>
            </a:pPr>
            <a:r>
              <a:rPr lang="en-US" dirty="0"/>
              <a:t>The DBMS is able</a:t>
            </a:r>
          </a:p>
          <a:p>
            <a:pPr lvl="0"/>
            <a:r>
              <a:rPr lang="en-US" dirty="0"/>
              <a:t>To provide large space or storage for relevant data.</a:t>
            </a:r>
          </a:p>
          <a:p>
            <a:pPr lvl="0"/>
            <a:r>
              <a:rPr lang="en-US" dirty="0"/>
              <a:t>To provide easy access to the data for the users.</a:t>
            </a:r>
          </a:p>
          <a:p>
            <a:pPr lvl="0"/>
            <a:r>
              <a:rPr lang="en-US" dirty="0"/>
              <a:t>To provide quick response to user request for any data.</a:t>
            </a:r>
          </a:p>
          <a:p>
            <a:pPr lvl="0"/>
            <a:r>
              <a:rPr lang="en-US" dirty="0"/>
              <a:t>To remove duplicate (redundant) data.</a:t>
            </a:r>
          </a:p>
          <a:p>
            <a:pPr lvl="0"/>
            <a:r>
              <a:rPr lang="en-US" dirty="0"/>
              <a:t>To update the database latest modification immediately.</a:t>
            </a:r>
          </a:p>
          <a:p>
            <a:pPr lvl="0"/>
            <a:r>
              <a:rPr lang="en-US" dirty="0"/>
              <a:t>To allow the multiple users to be active at one time.</a:t>
            </a:r>
          </a:p>
          <a:p>
            <a:pPr lvl="0"/>
            <a:r>
              <a:rPr lang="en-US" dirty="0"/>
              <a:t>As the organization grows, DBMS allows the growth of the database system.</a:t>
            </a:r>
          </a:p>
          <a:p>
            <a:pPr lvl="0"/>
            <a:r>
              <a:rPr lang="en-US" dirty="0"/>
              <a:t>To provide maximum protection to data from any physical damage and unauthorized access.</a:t>
            </a:r>
          </a:p>
        </p:txBody>
      </p:sp>
      <p:sp>
        <p:nvSpPr>
          <p:cNvPr id="4" name="Slide Number Placeholder 3"/>
          <p:cNvSpPr>
            <a:spLocks noGrp="1"/>
          </p:cNvSpPr>
          <p:nvPr>
            <p:ph type="sldNum" sz="quarter" idx="12"/>
          </p:nvPr>
        </p:nvSpPr>
        <p:spPr/>
        <p:txBody>
          <a:bodyPr/>
          <a:lstStyle/>
          <a:p>
            <a:fld id="{A5C21B5B-BB78-48E7-8B29-3758DD6F29A1}" type="slidenum">
              <a:rPr lang="en-US" smtClean="0"/>
              <a:t>10</a:t>
            </a:fld>
            <a:endParaRPr lang="en-US"/>
          </a:p>
        </p:txBody>
      </p:sp>
    </p:spTree>
    <p:extLst>
      <p:ext uri="{BB962C8B-B14F-4D97-AF65-F5344CB8AC3E}">
        <p14:creationId xmlns:p14="http://schemas.microsoft.com/office/powerpoint/2010/main" val="14195168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822E6-DD6C-FD62-2C19-6EE2378F9F73}"/>
              </a:ext>
            </a:extLst>
          </p:cNvPr>
          <p:cNvSpPr>
            <a:spLocks noGrp="1"/>
          </p:cNvSpPr>
          <p:nvPr>
            <p:ph type="title"/>
          </p:nvPr>
        </p:nvSpPr>
        <p:spPr/>
        <p:txBody>
          <a:bodyPr/>
          <a:lstStyle/>
          <a:p>
            <a:r>
              <a:rPr lang="en-US" b="1" dirty="0"/>
              <a:t>Components of Database System</a:t>
            </a:r>
          </a:p>
        </p:txBody>
      </p:sp>
      <p:sp>
        <p:nvSpPr>
          <p:cNvPr id="3" name="Content Placeholder 2">
            <a:extLst>
              <a:ext uri="{FF2B5EF4-FFF2-40B4-BE49-F238E27FC236}">
                <a16:creationId xmlns:a16="http://schemas.microsoft.com/office/drawing/2014/main" id="{B76255F2-AC6F-3FCD-B26D-AAEBF44C6BC5}"/>
              </a:ext>
            </a:extLst>
          </p:cNvPr>
          <p:cNvSpPr>
            <a:spLocks noGrp="1"/>
          </p:cNvSpPr>
          <p:nvPr>
            <p:ph idx="1"/>
          </p:nvPr>
        </p:nvSpPr>
        <p:spPr/>
        <p:txBody>
          <a:bodyPr>
            <a:normAutofit lnSpcReduction="10000"/>
          </a:bodyPr>
          <a:lstStyle/>
          <a:p>
            <a:pPr>
              <a:buFont typeface="+mj-lt"/>
              <a:buAutoNum type="arabicPeriod"/>
            </a:pPr>
            <a:r>
              <a:rPr lang="en-US" dirty="0"/>
              <a:t>Users</a:t>
            </a:r>
          </a:p>
          <a:p>
            <a:pPr marL="857250" lvl="1" indent="-400050">
              <a:buFont typeface="+mj-lt"/>
              <a:buAutoNum type="romanLcPeriod"/>
            </a:pPr>
            <a:r>
              <a:rPr lang="en-US" dirty="0"/>
              <a:t>Application Programs</a:t>
            </a:r>
          </a:p>
          <a:p>
            <a:pPr marL="857250" lvl="1" indent="-400050">
              <a:buFont typeface="+mj-lt"/>
              <a:buAutoNum type="romanLcPeriod"/>
            </a:pPr>
            <a:r>
              <a:rPr lang="en-US" dirty="0"/>
              <a:t>End Users</a:t>
            </a:r>
          </a:p>
          <a:p>
            <a:pPr marL="857250" lvl="1" indent="-400050">
              <a:buFont typeface="+mj-lt"/>
              <a:buAutoNum type="romanLcPeriod"/>
            </a:pPr>
            <a:r>
              <a:rPr lang="en-US" dirty="0"/>
              <a:t>Data Administrator</a:t>
            </a:r>
          </a:p>
          <a:p>
            <a:pPr>
              <a:buFont typeface="+mj-lt"/>
              <a:buAutoNum type="arabicPeriod"/>
            </a:pPr>
            <a:r>
              <a:rPr lang="en-US" dirty="0"/>
              <a:t>Hardware</a:t>
            </a:r>
          </a:p>
          <a:p>
            <a:pPr>
              <a:buFont typeface="+mj-lt"/>
              <a:buAutoNum type="arabicPeriod"/>
            </a:pPr>
            <a:r>
              <a:rPr lang="en-US" dirty="0"/>
              <a:t>Software</a:t>
            </a:r>
          </a:p>
          <a:p>
            <a:pPr marL="857250" lvl="1" indent="-400050">
              <a:buFont typeface="+mj-lt"/>
              <a:buAutoNum type="romanLcPeriod"/>
            </a:pPr>
            <a:r>
              <a:rPr lang="en-US" dirty="0"/>
              <a:t>Database Management System</a:t>
            </a:r>
          </a:p>
          <a:p>
            <a:pPr marL="857250" lvl="1" indent="-400050">
              <a:buFont typeface="+mj-lt"/>
              <a:buAutoNum type="romanLcPeriod"/>
            </a:pPr>
            <a:r>
              <a:rPr lang="en-US" dirty="0"/>
              <a:t>Application Software</a:t>
            </a:r>
          </a:p>
          <a:p>
            <a:pPr marL="857250" lvl="1" indent="-400050">
              <a:buFont typeface="+mj-lt"/>
              <a:buAutoNum type="romanLcPeriod"/>
            </a:pPr>
            <a:r>
              <a:rPr lang="en-US" dirty="0"/>
              <a:t>User Interface</a:t>
            </a:r>
          </a:p>
          <a:p>
            <a:pPr>
              <a:buFont typeface="+mj-lt"/>
              <a:buAutoNum type="arabicPeriod"/>
            </a:pPr>
            <a:r>
              <a:rPr lang="en-US" dirty="0"/>
              <a:t>Data</a:t>
            </a:r>
          </a:p>
          <a:p>
            <a:endParaRPr lang="en-US" dirty="0"/>
          </a:p>
        </p:txBody>
      </p:sp>
      <p:sp>
        <p:nvSpPr>
          <p:cNvPr id="4" name="Slide Number Placeholder 3">
            <a:extLst>
              <a:ext uri="{FF2B5EF4-FFF2-40B4-BE49-F238E27FC236}">
                <a16:creationId xmlns:a16="http://schemas.microsoft.com/office/drawing/2014/main" id="{DB616103-F9F9-9A62-F8FB-1C8C01543BF8}"/>
              </a:ext>
            </a:extLst>
          </p:cNvPr>
          <p:cNvSpPr>
            <a:spLocks noGrp="1"/>
          </p:cNvSpPr>
          <p:nvPr>
            <p:ph type="sldNum" sz="quarter" idx="12"/>
          </p:nvPr>
        </p:nvSpPr>
        <p:spPr/>
        <p:txBody>
          <a:bodyPr/>
          <a:lstStyle/>
          <a:p>
            <a:fld id="{D57F1E4F-1CFF-5643-939E-217C01CDF565}" type="slidenum">
              <a:rPr lang="en-US" smtClean="0"/>
              <a:pPr/>
              <a:t>11</a:t>
            </a:fld>
            <a:endParaRPr lang="en-US" dirty="0"/>
          </a:p>
        </p:txBody>
      </p:sp>
    </p:spTree>
    <p:extLst>
      <p:ext uri="{BB962C8B-B14F-4D97-AF65-F5344CB8AC3E}">
        <p14:creationId xmlns:p14="http://schemas.microsoft.com/office/powerpoint/2010/main" val="9988025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t>
            </a:r>
            <a:br>
              <a:rPr lang="en-US" dirty="0"/>
            </a:br>
            <a:r>
              <a:rPr lang="en-US" b="1" dirty="0"/>
              <a:t>Applications of DBMS:</a:t>
            </a:r>
            <a:br>
              <a:rPr lang="en-US" b="1" u="sng" dirty="0"/>
            </a:br>
            <a:endParaRPr lang="en-US" dirty="0"/>
          </a:p>
        </p:txBody>
      </p:sp>
      <p:sp>
        <p:nvSpPr>
          <p:cNvPr id="3" name="Content Placeholder 2"/>
          <p:cNvSpPr>
            <a:spLocks noGrp="1"/>
          </p:cNvSpPr>
          <p:nvPr>
            <p:ph idx="1"/>
          </p:nvPr>
        </p:nvSpPr>
        <p:spPr>
          <a:xfrm>
            <a:off x="2589212" y="1905000"/>
            <a:ext cx="8915400" cy="4719320"/>
          </a:xfrm>
        </p:spPr>
        <p:txBody>
          <a:bodyPr>
            <a:normAutofit fontScale="92500" lnSpcReduction="20000"/>
          </a:bodyPr>
          <a:lstStyle/>
          <a:p>
            <a:pPr marL="0" indent="0" algn="just">
              <a:buNone/>
            </a:pPr>
            <a:r>
              <a:rPr lang="en-US" dirty="0"/>
              <a:t>Databases form an essential part of almost all enterprises. Some database applications are given below:</a:t>
            </a:r>
          </a:p>
          <a:p>
            <a:pPr lvl="0" algn="just"/>
            <a:r>
              <a:rPr lang="en-US" b="1" dirty="0"/>
              <a:t>Banking: </a:t>
            </a:r>
            <a:r>
              <a:rPr lang="en-US" dirty="0"/>
              <a:t>For customer information and all transactions</a:t>
            </a:r>
          </a:p>
          <a:p>
            <a:pPr lvl="0" algn="just"/>
            <a:r>
              <a:rPr lang="en-US" b="1" dirty="0"/>
              <a:t>Airlines: </a:t>
            </a:r>
            <a:r>
              <a:rPr lang="en-US" dirty="0"/>
              <a:t>For reservations and schedules information</a:t>
            </a:r>
          </a:p>
          <a:p>
            <a:pPr lvl="0" algn="just"/>
            <a:r>
              <a:rPr lang="en-US" b="1" dirty="0"/>
              <a:t>Universities: </a:t>
            </a:r>
            <a:r>
              <a:rPr lang="en-US" dirty="0"/>
              <a:t>For the student information, course registration and grades</a:t>
            </a:r>
          </a:p>
          <a:p>
            <a:pPr lvl="0" algn="just"/>
            <a:r>
              <a:rPr lang="en-US" b="1" dirty="0"/>
              <a:t>Credit and transaction: </a:t>
            </a:r>
            <a:r>
              <a:rPr lang="en-US" dirty="0"/>
              <a:t>For purchase credit cards and generates monthly statement</a:t>
            </a:r>
          </a:p>
          <a:p>
            <a:pPr lvl="0" algn="just"/>
            <a:r>
              <a:rPr lang="en-US" b="1" dirty="0"/>
              <a:t>Telecommunication: </a:t>
            </a:r>
            <a:r>
              <a:rPr lang="en-US" dirty="0"/>
              <a:t>Keeping records of all the telephone calls, generating monthly bills etc.</a:t>
            </a:r>
          </a:p>
          <a:p>
            <a:pPr lvl="0" algn="just"/>
            <a:r>
              <a:rPr lang="en-US" b="1" dirty="0"/>
              <a:t>Finance: </a:t>
            </a:r>
            <a:r>
              <a:rPr lang="en-US" dirty="0"/>
              <a:t>For storing financial information</a:t>
            </a:r>
          </a:p>
          <a:p>
            <a:pPr lvl="0" algn="just"/>
            <a:r>
              <a:rPr lang="en-US" b="1" dirty="0"/>
              <a:t>Sales: For</a:t>
            </a:r>
            <a:r>
              <a:rPr lang="en-US" dirty="0"/>
              <a:t> customers, products and purchases information</a:t>
            </a:r>
          </a:p>
          <a:p>
            <a:pPr lvl="0" algn="just"/>
            <a:r>
              <a:rPr lang="en-US" b="1" dirty="0"/>
              <a:t>Manufacturing: </a:t>
            </a:r>
            <a:r>
              <a:rPr lang="en-US" dirty="0"/>
              <a:t>For tracking production, inventory, orders, supply chain management</a:t>
            </a:r>
          </a:p>
          <a:p>
            <a:pPr lvl="0" algn="just"/>
            <a:r>
              <a:rPr lang="en-US" b="1" dirty="0"/>
              <a:t>Human resources: </a:t>
            </a:r>
            <a:r>
              <a:rPr lang="en-US" dirty="0"/>
              <a:t>For storing the information about employee records, salaries, tax deductions</a:t>
            </a:r>
          </a:p>
        </p:txBody>
      </p:sp>
      <p:sp>
        <p:nvSpPr>
          <p:cNvPr id="4" name="Slide Number Placeholder 3"/>
          <p:cNvSpPr>
            <a:spLocks noGrp="1"/>
          </p:cNvSpPr>
          <p:nvPr>
            <p:ph type="sldNum" sz="quarter" idx="12"/>
          </p:nvPr>
        </p:nvSpPr>
        <p:spPr/>
        <p:txBody>
          <a:bodyPr/>
          <a:lstStyle/>
          <a:p>
            <a:fld id="{A5C21B5B-BB78-48E7-8B29-3758DD6F29A1}" type="slidenum">
              <a:rPr lang="en-US" smtClean="0"/>
              <a:t>12</a:t>
            </a:fld>
            <a:endParaRPr lang="en-US"/>
          </a:p>
        </p:txBody>
      </p:sp>
    </p:spTree>
    <p:extLst>
      <p:ext uri="{BB962C8B-B14F-4D97-AF65-F5344CB8AC3E}">
        <p14:creationId xmlns:p14="http://schemas.microsoft.com/office/powerpoint/2010/main" val="28610605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br>
              <a:rPr lang="en-US" dirty="0"/>
            </a:br>
            <a:r>
              <a:rPr lang="en-US" b="1" dirty="0"/>
              <a:t>Disadvantages of DBMS</a:t>
            </a:r>
            <a:endParaRPr lang="en-US" b="1" u="sng" dirty="0"/>
          </a:p>
        </p:txBody>
      </p:sp>
      <p:sp>
        <p:nvSpPr>
          <p:cNvPr id="3" name="Content Placeholder 2"/>
          <p:cNvSpPr>
            <a:spLocks noGrp="1"/>
          </p:cNvSpPr>
          <p:nvPr>
            <p:ph idx="1"/>
          </p:nvPr>
        </p:nvSpPr>
        <p:spPr/>
        <p:txBody>
          <a:bodyPr>
            <a:normAutofit/>
          </a:bodyPr>
          <a:lstStyle/>
          <a:p>
            <a:pPr lvl="0"/>
            <a:r>
              <a:rPr lang="en-US" b="1" dirty="0"/>
              <a:t>Problem associated with centralization: </a:t>
            </a:r>
            <a:r>
              <a:rPr lang="en-US" dirty="0"/>
              <a:t>Centralization increases the security problems.</a:t>
            </a:r>
          </a:p>
          <a:p>
            <a:pPr lvl="0"/>
            <a:r>
              <a:rPr lang="en-US" b="1" dirty="0"/>
              <a:t>Cost of software: </a:t>
            </a:r>
            <a:r>
              <a:rPr lang="en-US" dirty="0"/>
              <a:t>Today’s there are several software which are very costly. Hence from economic point of view it is the drawback.</a:t>
            </a:r>
          </a:p>
          <a:p>
            <a:pPr lvl="0"/>
            <a:r>
              <a:rPr lang="en-US" b="1" dirty="0"/>
              <a:t>Cost of hardware: </a:t>
            </a:r>
            <a:r>
              <a:rPr lang="en-US" dirty="0"/>
              <a:t>To support various software some upgraded hardware components are needed. Hence from economic point of view it is the drawback.</a:t>
            </a:r>
          </a:p>
          <a:p>
            <a:pPr lvl="0"/>
            <a:r>
              <a:rPr lang="en-US" b="1" dirty="0"/>
              <a:t>Complexity of backup and recovery: </a:t>
            </a:r>
            <a:r>
              <a:rPr lang="en-US" dirty="0"/>
              <a:t>DBMS provides the centralization of the data, which requires the adequate backups of data.</a:t>
            </a:r>
          </a:p>
          <a:p>
            <a:pPr lvl="0"/>
            <a:r>
              <a:rPr lang="en-US" dirty="0"/>
              <a:t>Overhead for providing generality, security, recovery, integrity, and	concurrency control.</a:t>
            </a:r>
          </a:p>
        </p:txBody>
      </p:sp>
      <p:sp>
        <p:nvSpPr>
          <p:cNvPr id="4" name="Slide Number Placeholder 3"/>
          <p:cNvSpPr>
            <a:spLocks noGrp="1"/>
          </p:cNvSpPr>
          <p:nvPr>
            <p:ph type="sldNum" sz="quarter" idx="12"/>
          </p:nvPr>
        </p:nvSpPr>
        <p:spPr/>
        <p:txBody>
          <a:bodyPr/>
          <a:lstStyle/>
          <a:p>
            <a:fld id="{A5C21B5B-BB78-48E7-8B29-3758DD6F29A1}" type="slidenum">
              <a:rPr lang="en-US" smtClean="0"/>
              <a:t>13</a:t>
            </a:fld>
            <a:endParaRPr lang="en-US"/>
          </a:p>
        </p:txBody>
      </p:sp>
    </p:spTree>
    <p:extLst>
      <p:ext uri="{BB962C8B-B14F-4D97-AF65-F5344CB8AC3E}">
        <p14:creationId xmlns:p14="http://schemas.microsoft.com/office/powerpoint/2010/main" val="981549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a:t>
            </a:r>
          </a:p>
        </p:txBody>
      </p:sp>
      <p:sp>
        <p:nvSpPr>
          <p:cNvPr id="3" name="Content Placeholder 2"/>
          <p:cNvSpPr>
            <a:spLocks noGrp="1"/>
          </p:cNvSpPr>
          <p:nvPr>
            <p:ph idx="1"/>
          </p:nvPr>
        </p:nvSpPr>
        <p:spPr/>
        <p:txBody>
          <a:bodyPr/>
          <a:lstStyle/>
          <a:p>
            <a:pPr algn="just"/>
            <a:r>
              <a:rPr lang="en-US" dirty="0"/>
              <a:t>Define Data, Information, Database and Database Management System(DBMS). And also Explain why DBMS is so important nowadays? You can explain with examples.</a:t>
            </a:r>
          </a:p>
        </p:txBody>
      </p:sp>
      <p:sp>
        <p:nvSpPr>
          <p:cNvPr id="4" name="Slide Number Placeholder 3"/>
          <p:cNvSpPr>
            <a:spLocks noGrp="1"/>
          </p:cNvSpPr>
          <p:nvPr>
            <p:ph type="sldNum" sz="quarter" idx="12"/>
          </p:nvPr>
        </p:nvSpPr>
        <p:spPr/>
        <p:txBody>
          <a:bodyPr/>
          <a:lstStyle/>
          <a:p>
            <a:fld id="{A5C21B5B-BB78-48E7-8B29-3758DD6F29A1}" type="slidenum">
              <a:rPr lang="en-US" smtClean="0"/>
              <a:t>14</a:t>
            </a:fld>
            <a:endParaRPr lang="en-US"/>
          </a:p>
        </p:txBody>
      </p:sp>
    </p:spTree>
    <p:extLst>
      <p:ext uri="{BB962C8B-B14F-4D97-AF65-F5344CB8AC3E}">
        <p14:creationId xmlns:p14="http://schemas.microsoft.com/office/powerpoint/2010/main" val="36432631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658A8-BA00-ACD6-2BA8-ADCCFC8DD522}"/>
              </a:ext>
            </a:extLst>
          </p:cNvPr>
          <p:cNvSpPr>
            <a:spLocks noGrp="1"/>
          </p:cNvSpPr>
          <p:nvPr>
            <p:ph type="title"/>
          </p:nvPr>
        </p:nvSpPr>
        <p:spPr/>
        <p:txBody>
          <a:bodyPr/>
          <a:lstStyle/>
          <a:p>
            <a:pPr algn="ctr"/>
            <a:r>
              <a:rPr lang="en-US" b="1" dirty="0"/>
              <a:t>Database System Architectures</a:t>
            </a:r>
            <a:br>
              <a:rPr lang="en-US" b="1" dirty="0"/>
            </a:br>
            <a:endParaRPr lang="en-US" b="1" dirty="0"/>
          </a:p>
        </p:txBody>
      </p:sp>
      <p:sp>
        <p:nvSpPr>
          <p:cNvPr id="3" name="Content Placeholder 2">
            <a:extLst>
              <a:ext uri="{FF2B5EF4-FFF2-40B4-BE49-F238E27FC236}">
                <a16:creationId xmlns:a16="http://schemas.microsoft.com/office/drawing/2014/main" id="{F2591ACE-5925-689F-F38F-7300E9D95162}"/>
              </a:ext>
            </a:extLst>
          </p:cNvPr>
          <p:cNvSpPr>
            <a:spLocks noGrp="1"/>
          </p:cNvSpPr>
          <p:nvPr>
            <p:ph idx="1"/>
          </p:nvPr>
        </p:nvSpPr>
        <p:spPr>
          <a:xfrm>
            <a:off x="2589212" y="2133600"/>
            <a:ext cx="9602788" cy="4551680"/>
          </a:xfrm>
        </p:spPr>
        <p:txBody>
          <a:bodyPr>
            <a:normAutofit/>
          </a:bodyPr>
          <a:lstStyle/>
          <a:p>
            <a:r>
              <a:rPr lang="en-US" dirty="0"/>
              <a:t>Database architectures refers to the overall design and structure of a database system, outlining how it is organized and how its components interact.</a:t>
            </a:r>
          </a:p>
          <a:p>
            <a:r>
              <a:rPr lang="en-US" dirty="0"/>
              <a:t>Database system architectures can be broadly categorized into three main types:</a:t>
            </a:r>
          </a:p>
          <a:p>
            <a:pPr>
              <a:buFont typeface="+mj-lt"/>
              <a:buAutoNum type="arabicPeriod"/>
            </a:pPr>
            <a:r>
              <a:rPr lang="en-US" b="1" dirty="0"/>
              <a:t>On the basis of geographical location:</a:t>
            </a:r>
          </a:p>
          <a:p>
            <a:pPr marL="800100" lvl="1" indent="-342900">
              <a:buFont typeface="+mj-lt"/>
              <a:buAutoNum type="arabicPeriod"/>
            </a:pPr>
            <a:r>
              <a:rPr lang="en-US" dirty="0"/>
              <a:t>Centralized Database Architecture</a:t>
            </a:r>
          </a:p>
          <a:p>
            <a:pPr marL="800100" lvl="1" indent="-342900">
              <a:buFont typeface="+mj-lt"/>
              <a:buAutoNum type="arabicPeriod"/>
            </a:pPr>
            <a:r>
              <a:rPr lang="en-US" dirty="0"/>
              <a:t>Decentralized Database Architecture</a:t>
            </a:r>
          </a:p>
          <a:p>
            <a:pPr>
              <a:buFont typeface="+mj-lt"/>
              <a:buAutoNum type="arabicPeriod"/>
            </a:pPr>
            <a:r>
              <a:rPr lang="en-US" b="1" dirty="0"/>
              <a:t>On the basis of functional structure:</a:t>
            </a:r>
          </a:p>
          <a:p>
            <a:pPr marL="800100" lvl="1" indent="-342900">
              <a:buFont typeface="+mj-lt"/>
              <a:buAutoNum type="arabicPeriod"/>
            </a:pPr>
            <a:r>
              <a:rPr lang="en-US" dirty="0"/>
              <a:t>1-Tier Architecture</a:t>
            </a:r>
          </a:p>
          <a:p>
            <a:pPr marL="800100" lvl="1" indent="-342900">
              <a:buFont typeface="+mj-lt"/>
              <a:buAutoNum type="arabicPeriod"/>
            </a:pPr>
            <a:r>
              <a:rPr lang="en-US" dirty="0"/>
              <a:t>2-Tier Architecture</a:t>
            </a:r>
          </a:p>
          <a:p>
            <a:pPr marL="800100" lvl="1" indent="-342900">
              <a:buFont typeface="+mj-lt"/>
              <a:buAutoNum type="arabicPeriod"/>
            </a:pPr>
            <a:r>
              <a:rPr lang="en-US" dirty="0"/>
              <a:t>3-Tier Architecture</a:t>
            </a:r>
          </a:p>
          <a:p>
            <a:pPr lvl="1"/>
            <a:endParaRPr lang="en-US" dirty="0"/>
          </a:p>
        </p:txBody>
      </p:sp>
      <p:sp>
        <p:nvSpPr>
          <p:cNvPr id="4" name="Slide Number Placeholder 3">
            <a:extLst>
              <a:ext uri="{FF2B5EF4-FFF2-40B4-BE49-F238E27FC236}">
                <a16:creationId xmlns:a16="http://schemas.microsoft.com/office/drawing/2014/main" id="{7F333E31-84BE-769C-58D0-57266B0CC073}"/>
              </a:ext>
            </a:extLst>
          </p:cNvPr>
          <p:cNvSpPr>
            <a:spLocks noGrp="1"/>
          </p:cNvSpPr>
          <p:nvPr>
            <p:ph type="sldNum" sz="quarter" idx="12"/>
          </p:nvPr>
        </p:nvSpPr>
        <p:spPr/>
        <p:txBody>
          <a:bodyPr/>
          <a:lstStyle/>
          <a:p>
            <a:fld id="{D57F1E4F-1CFF-5643-939E-217C01CDF565}" type="slidenum">
              <a:rPr lang="en-US" smtClean="0"/>
              <a:pPr/>
              <a:t>15</a:t>
            </a:fld>
            <a:endParaRPr lang="en-US" dirty="0"/>
          </a:p>
        </p:txBody>
      </p:sp>
    </p:spTree>
    <p:extLst>
      <p:ext uri="{BB962C8B-B14F-4D97-AF65-F5344CB8AC3E}">
        <p14:creationId xmlns:p14="http://schemas.microsoft.com/office/powerpoint/2010/main" val="1185266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C98E3-BFF4-BF5D-7268-905C6058A565}"/>
              </a:ext>
            </a:extLst>
          </p:cNvPr>
          <p:cNvSpPr>
            <a:spLocks noGrp="1"/>
          </p:cNvSpPr>
          <p:nvPr>
            <p:ph type="title"/>
          </p:nvPr>
        </p:nvSpPr>
        <p:spPr/>
        <p:txBody>
          <a:bodyPr/>
          <a:lstStyle/>
          <a:p>
            <a:pPr algn="ctr"/>
            <a:r>
              <a:rPr lang="en-US" b="1" dirty="0"/>
              <a:t>Centralized Database Architecture	</a:t>
            </a:r>
          </a:p>
        </p:txBody>
      </p:sp>
      <p:sp>
        <p:nvSpPr>
          <p:cNvPr id="3" name="Content Placeholder 2">
            <a:extLst>
              <a:ext uri="{FF2B5EF4-FFF2-40B4-BE49-F238E27FC236}">
                <a16:creationId xmlns:a16="http://schemas.microsoft.com/office/drawing/2014/main" id="{A0A2B499-8142-F5C6-B5E9-96B843D784C8}"/>
              </a:ext>
            </a:extLst>
          </p:cNvPr>
          <p:cNvSpPr>
            <a:spLocks noGrp="1"/>
          </p:cNvSpPr>
          <p:nvPr>
            <p:ph idx="1"/>
          </p:nvPr>
        </p:nvSpPr>
        <p:spPr>
          <a:xfrm>
            <a:off x="2589212" y="1540189"/>
            <a:ext cx="8915400" cy="3777622"/>
          </a:xfrm>
        </p:spPr>
        <p:txBody>
          <a:bodyPr/>
          <a:lstStyle/>
          <a:p>
            <a:pPr>
              <a:buBlip>
                <a:blip r:embed="rId2"/>
              </a:buBlip>
            </a:pPr>
            <a:r>
              <a:rPr lang="en-US" dirty="0"/>
              <a:t>Data are stored in single location and every user at different location can access the central server .</a:t>
            </a:r>
          </a:p>
          <a:p>
            <a:pPr>
              <a:buBlip>
                <a:blip r:embed="rId2"/>
              </a:buBlip>
            </a:pPr>
            <a:r>
              <a:rPr lang="en-US" dirty="0"/>
              <a:t>Centralized database architecture combines everything into single system including DBMS software, hardware, application programs and user interface processing software</a:t>
            </a:r>
          </a:p>
          <a:p>
            <a:pPr marL="0" indent="0">
              <a:buNone/>
            </a:pPr>
            <a:endParaRPr lang="en-US" dirty="0"/>
          </a:p>
        </p:txBody>
      </p:sp>
      <p:pic>
        <p:nvPicPr>
          <p:cNvPr id="5" name="Picture 4">
            <a:extLst>
              <a:ext uri="{FF2B5EF4-FFF2-40B4-BE49-F238E27FC236}">
                <a16:creationId xmlns:a16="http://schemas.microsoft.com/office/drawing/2014/main" id="{D8F1C06C-2ED4-914D-FE12-F2D7B0F2B5BB}"/>
              </a:ext>
            </a:extLst>
          </p:cNvPr>
          <p:cNvPicPr>
            <a:picLocks noChangeAspect="1"/>
          </p:cNvPicPr>
          <p:nvPr/>
        </p:nvPicPr>
        <p:blipFill rotWithShape="1">
          <a:blip r:embed="rId3"/>
          <a:srcRect t="22870" b="23019"/>
          <a:stretch/>
        </p:blipFill>
        <p:spPr>
          <a:xfrm>
            <a:off x="4079239" y="3429000"/>
            <a:ext cx="5623561" cy="3042944"/>
          </a:xfrm>
          <a:prstGeom prst="rect">
            <a:avLst/>
          </a:prstGeom>
        </p:spPr>
      </p:pic>
      <p:sp>
        <p:nvSpPr>
          <p:cNvPr id="6" name="Slide Number Placeholder 5">
            <a:extLst>
              <a:ext uri="{FF2B5EF4-FFF2-40B4-BE49-F238E27FC236}">
                <a16:creationId xmlns:a16="http://schemas.microsoft.com/office/drawing/2014/main" id="{AA8ECAED-BE86-D9C6-5953-3A1C89C17136}"/>
              </a:ext>
            </a:extLst>
          </p:cNvPr>
          <p:cNvSpPr>
            <a:spLocks noGrp="1"/>
          </p:cNvSpPr>
          <p:nvPr>
            <p:ph type="sldNum" sz="quarter" idx="12"/>
          </p:nvPr>
        </p:nvSpPr>
        <p:spPr/>
        <p:txBody>
          <a:bodyPr/>
          <a:lstStyle/>
          <a:p>
            <a:fld id="{D57F1E4F-1CFF-5643-939E-217C01CDF565}" type="slidenum">
              <a:rPr lang="en-US" smtClean="0"/>
              <a:pPr/>
              <a:t>16</a:t>
            </a:fld>
            <a:endParaRPr lang="en-US" dirty="0"/>
          </a:p>
        </p:txBody>
      </p:sp>
    </p:spTree>
    <p:extLst>
      <p:ext uri="{BB962C8B-B14F-4D97-AF65-F5344CB8AC3E}">
        <p14:creationId xmlns:p14="http://schemas.microsoft.com/office/powerpoint/2010/main" val="1587428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C98E3-BFF4-BF5D-7268-905C6058A565}"/>
              </a:ext>
            </a:extLst>
          </p:cNvPr>
          <p:cNvSpPr>
            <a:spLocks noGrp="1"/>
          </p:cNvSpPr>
          <p:nvPr>
            <p:ph type="title"/>
          </p:nvPr>
        </p:nvSpPr>
        <p:spPr/>
        <p:txBody>
          <a:bodyPr/>
          <a:lstStyle/>
          <a:p>
            <a:pPr algn="ctr"/>
            <a:r>
              <a:rPr lang="en-US" b="1" dirty="0"/>
              <a:t>Centralized Database Architecture	</a:t>
            </a:r>
          </a:p>
        </p:txBody>
      </p:sp>
      <p:sp>
        <p:nvSpPr>
          <p:cNvPr id="3" name="Content Placeholder 2">
            <a:extLst>
              <a:ext uri="{FF2B5EF4-FFF2-40B4-BE49-F238E27FC236}">
                <a16:creationId xmlns:a16="http://schemas.microsoft.com/office/drawing/2014/main" id="{A0A2B499-8142-F5C6-B5E9-96B843D784C8}"/>
              </a:ext>
            </a:extLst>
          </p:cNvPr>
          <p:cNvSpPr>
            <a:spLocks noGrp="1"/>
          </p:cNvSpPr>
          <p:nvPr>
            <p:ph idx="1"/>
          </p:nvPr>
        </p:nvSpPr>
        <p:spPr>
          <a:xfrm>
            <a:off x="2589212" y="1540188"/>
            <a:ext cx="8915400" cy="4693702"/>
          </a:xfrm>
        </p:spPr>
        <p:txBody>
          <a:bodyPr>
            <a:normAutofit/>
          </a:bodyPr>
          <a:lstStyle/>
          <a:p>
            <a:pPr>
              <a:buBlip>
                <a:blip r:embed="rId2"/>
              </a:buBlip>
            </a:pPr>
            <a:r>
              <a:rPr lang="en-US" b="1" dirty="0"/>
              <a:t>Advantages:</a:t>
            </a:r>
          </a:p>
          <a:p>
            <a:pPr lvl="1">
              <a:buBlip>
                <a:blip r:embed="rId2"/>
              </a:buBlip>
            </a:pPr>
            <a:r>
              <a:rPr lang="en-US" dirty="0"/>
              <a:t>Easier to access and coordinate data</a:t>
            </a:r>
          </a:p>
          <a:p>
            <a:pPr lvl="1">
              <a:buBlip>
                <a:blip r:embed="rId2"/>
              </a:buBlip>
            </a:pPr>
            <a:r>
              <a:rPr lang="en-US" dirty="0"/>
              <a:t>It has very minimal data redundancy since all data is stored at single place</a:t>
            </a:r>
          </a:p>
          <a:p>
            <a:pPr lvl="1">
              <a:buBlip>
                <a:blip r:embed="rId2"/>
              </a:buBlip>
            </a:pPr>
            <a:r>
              <a:rPr lang="en-US" dirty="0"/>
              <a:t>It is cheaper in comparison to all other databases available</a:t>
            </a:r>
          </a:p>
          <a:p>
            <a:pPr marL="0" indent="0">
              <a:buNone/>
            </a:pPr>
            <a:endParaRPr lang="en-US" dirty="0"/>
          </a:p>
          <a:p>
            <a:pPr>
              <a:buBlip>
                <a:blip r:embed="rId2"/>
              </a:buBlip>
            </a:pPr>
            <a:r>
              <a:rPr lang="en-US" b="1" dirty="0"/>
              <a:t>Disadvantages:</a:t>
            </a:r>
          </a:p>
          <a:p>
            <a:pPr lvl="1">
              <a:buBlip>
                <a:blip r:embed="rId2"/>
              </a:buBlip>
            </a:pPr>
            <a:r>
              <a:rPr lang="en-US" dirty="0"/>
              <a:t>It will reduce the local accountability</a:t>
            </a:r>
          </a:p>
          <a:p>
            <a:pPr lvl="1">
              <a:buBlip>
                <a:blip r:embed="rId2"/>
              </a:buBlip>
            </a:pPr>
            <a:r>
              <a:rPr lang="en-US" dirty="0"/>
              <a:t>The data traffic in case of centralized database is more</a:t>
            </a:r>
          </a:p>
          <a:p>
            <a:pPr lvl="1">
              <a:buBlip>
                <a:blip r:embed="rId2"/>
              </a:buBlip>
            </a:pPr>
            <a:r>
              <a:rPr lang="en-US" dirty="0"/>
              <a:t>If any kind of system failure occurs at centralized system then entire data will be destroyed</a:t>
            </a:r>
          </a:p>
          <a:p>
            <a:pPr lvl="1">
              <a:buBlip>
                <a:blip r:embed="rId2"/>
              </a:buBlip>
            </a:pPr>
            <a:r>
              <a:rPr lang="en-US" dirty="0"/>
              <a:t>Large data storage needed</a:t>
            </a:r>
          </a:p>
        </p:txBody>
      </p:sp>
      <p:sp>
        <p:nvSpPr>
          <p:cNvPr id="4" name="Slide Number Placeholder 3">
            <a:extLst>
              <a:ext uri="{FF2B5EF4-FFF2-40B4-BE49-F238E27FC236}">
                <a16:creationId xmlns:a16="http://schemas.microsoft.com/office/drawing/2014/main" id="{920D95B4-FB3A-1E16-9F49-F49A314B3ADB}"/>
              </a:ext>
            </a:extLst>
          </p:cNvPr>
          <p:cNvSpPr>
            <a:spLocks noGrp="1"/>
          </p:cNvSpPr>
          <p:nvPr>
            <p:ph type="sldNum" sz="quarter" idx="12"/>
          </p:nvPr>
        </p:nvSpPr>
        <p:spPr/>
        <p:txBody>
          <a:bodyPr/>
          <a:lstStyle/>
          <a:p>
            <a:fld id="{D57F1E4F-1CFF-5643-939E-217C01CDF565}" type="slidenum">
              <a:rPr lang="en-US" smtClean="0"/>
              <a:pPr/>
              <a:t>17</a:t>
            </a:fld>
            <a:endParaRPr lang="en-US" dirty="0"/>
          </a:p>
        </p:txBody>
      </p:sp>
    </p:spTree>
    <p:extLst>
      <p:ext uri="{BB962C8B-B14F-4D97-AF65-F5344CB8AC3E}">
        <p14:creationId xmlns:p14="http://schemas.microsoft.com/office/powerpoint/2010/main" val="8646706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C98E3-BFF4-BF5D-7268-905C6058A565}"/>
              </a:ext>
            </a:extLst>
          </p:cNvPr>
          <p:cNvSpPr>
            <a:spLocks noGrp="1"/>
          </p:cNvSpPr>
          <p:nvPr>
            <p:ph type="title"/>
          </p:nvPr>
        </p:nvSpPr>
        <p:spPr>
          <a:xfrm>
            <a:off x="2592925" y="624109"/>
            <a:ext cx="8911687" cy="916079"/>
          </a:xfrm>
        </p:spPr>
        <p:txBody>
          <a:bodyPr>
            <a:normAutofit/>
          </a:bodyPr>
          <a:lstStyle/>
          <a:p>
            <a:pPr algn="ctr"/>
            <a:r>
              <a:rPr lang="en-US" b="1" dirty="0"/>
              <a:t>Decentralized Database Architecture	</a:t>
            </a:r>
          </a:p>
        </p:txBody>
      </p:sp>
      <p:sp>
        <p:nvSpPr>
          <p:cNvPr id="3" name="Content Placeholder 2">
            <a:extLst>
              <a:ext uri="{FF2B5EF4-FFF2-40B4-BE49-F238E27FC236}">
                <a16:creationId xmlns:a16="http://schemas.microsoft.com/office/drawing/2014/main" id="{A0A2B499-8142-F5C6-B5E9-96B843D784C8}"/>
              </a:ext>
            </a:extLst>
          </p:cNvPr>
          <p:cNvSpPr>
            <a:spLocks noGrp="1"/>
          </p:cNvSpPr>
          <p:nvPr>
            <p:ph idx="1"/>
          </p:nvPr>
        </p:nvSpPr>
        <p:spPr>
          <a:xfrm>
            <a:off x="2592925" y="1316668"/>
            <a:ext cx="8915400" cy="3777622"/>
          </a:xfrm>
        </p:spPr>
        <p:txBody>
          <a:bodyPr/>
          <a:lstStyle/>
          <a:p>
            <a:pPr>
              <a:buBlip>
                <a:blip r:embed="rId2"/>
              </a:buBlip>
            </a:pPr>
            <a:r>
              <a:rPr lang="en-US" dirty="0"/>
              <a:t>Database is stored at more than one place and more than one computer then it is called distributed database. Different users can use different DBMS, different data structure and each site controls its own data, security , logging and recovery mechanisms</a:t>
            </a:r>
          </a:p>
          <a:p>
            <a:pPr>
              <a:buBlip>
                <a:blip r:embed="rId2"/>
              </a:buBlip>
            </a:pPr>
            <a:r>
              <a:rPr lang="en-US" dirty="0"/>
              <a:t>In other words, distributed database is a collection of multiple logically interrelated databases distributed over a computer network and distributed database management system is the software that manages a distributed database while making the distributed  transparent to the user. The</a:t>
            </a:r>
          </a:p>
          <a:p>
            <a:pPr marL="0" indent="0">
              <a:buNone/>
            </a:pPr>
            <a:endParaRPr lang="en-US" dirty="0"/>
          </a:p>
        </p:txBody>
      </p:sp>
      <p:pic>
        <p:nvPicPr>
          <p:cNvPr id="6" name="Picture 5">
            <a:extLst>
              <a:ext uri="{FF2B5EF4-FFF2-40B4-BE49-F238E27FC236}">
                <a16:creationId xmlns:a16="http://schemas.microsoft.com/office/drawing/2014/main" id="{BCF03E80-10BD-D634-5517-298696A2BDB9}"/>
              </a:ext>
            </a:extLst>
          </p:cNvPr>
          <p:cNvPicPr>
            <a:picLocks noChangeAspect="1"/>
          </p:cNvPicPr>
          <p:nvPr/>
        </p:nvPicPr>
        <p:blipFill>
          <a:blip r:embed="rId3"/>
          <a:stretch>
            <a:fillRect/>
          </a:stretch>
        </p:blipFill>
        <p:spPr>
          <a:xfrm>
            <a:off x="5113972" y="3762442"/>
            <a:ext cx="2993707" cy="2918076"/>
          </a:xfrm>
          <a:prstGeom prst="rect">
            <a:avLst/>
          </a:prstGeom>
        </p:spPr>
      </p:pic>
      <p:sp>
        <p:nvSpPr>
          <p:cNvPr id="7" name="Slide Number Placeholder 6">
            <a:extLst>
              <a:ext uri="{FF2B5EF4-FFF2-40B4-BE49-F238E27FC236}">
                <a16:creationId xmlns:a16="http://schemas.microsoft.com/office/drawing/2014/main" id="{3184BBA7-6FCE-DB57-C917-D68EE5F4A192}"/>
              </a:ext>
            </a:extLst>
          </p:cNvPr>
          <p:cNvSpPr>
            <a:spLocks noGrp="1"/>
          </p:cNvSpPr>
          <p:nvPr>
            <p:ph type="sldNum" sz="quarter" idx="12"/>
          </p:nvPr>
        </p:nvSpPr>
        <p:spPr/>
        <p:txBody>
          <a:bodyPr/>
          <a:lstStyle/>
          <a:p>
            <a:fld id="{D57F1E4F-1CFF-5643-939E-217C01CDF565}" type="slidenum">
              <a:rPr lang="en-US" smtClean="0"/>
              <a:pPr/>
              <a:t>18</a:t>
            </a:fld>
            <a:endParaRPr lang="en-US" dirty="0"/>
          </a:p>
        </p:txBody>
      </p:sp>
    </p:spTree>
    <p:extLst>
      <p:ext uri="{BB962C8B-B14F-4D97-AF65-F5344CB8AC3E}">
        <p14:creationId xmlns:p14="http://schemas.microsoft.com/office/powerpoint/2010/main" val="7156347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C98E3-BFF4-BF5D-7268-905C6058A565}"/>
              </a:ext>
            </a:extLst>
          </p:cNvPr>
          <p:cNvSpPr>
            <a:spLocks noGrp="1"/>
          </p:cNvSpPr>
          <p:nvPr>
            <p:ph type="title"/>
          </p:nvPr>
        </p:nvSpPr>
        <p:spPr>
          <a:xfrm>
            <a:off x="2592925" y="624109"/>
            <a:ext cx="8911687" cy="916079"/>
          </a:xfrm>
        </p:spPr>
        <p:txBody>
          <a:bodyPr>
            <a:normAutofit/>
          </a:bodyPr>
          <a:lstStyle/>
          <a:p>
            <a:pPr algn="ctr"/>
            <a:r>
              <a:rPr lang="en-US" b="1" dirty="0"/>
              <a:t>Decentralized Database Architecture	</a:t>
            </a:r>
          </a:p>
        </p:txBody>
      </p:sp>
      <p:sp>
        <p:nvSpPr>
          <p:cNvPr id="3" name="Content Placeholder 2">
            <a:extLst>
              <a:ext uri="{FF2B5EF4-FFF2-40B4-BE49-F238E27FC236}">
                <a16:creationId xmlns:a16="http://schemas.microsoft.com/office/drawing/2014/main" id="{A0A2B499-8142-F5C6-B5E9-96B843D784C8}"/>
              </a:ext>
            </a:extLst>
          </p:cNvPr>
          <p:cNvSpPr>
            <a:spLocks noGrp="1"/>
          </p:cNvSpPr>
          <p:nvPr>
            <p:ph idx="1"/>
          </p:nvPr>
        </p:nvSpPr>
        <p:spPr>
          <a:xfrm>
            <a:off x="2592925" y="1540188"/>
            <a:ext cx="8915400" cy="5267012"/>
          </a:xfrm>
        </p:spPr>
        <p:txBody>
          <a:bodyPr>
            <a:normAutofit/>
          </a:bodyPr>
          <a:lstStyle/>
          <a:p>
            <a:pPr>
              <a:buBlip>
                <a:blip r:embed="rId2"/>
              </a:buBlip>
            </a:pPr>
            <a:r>
              <a:rPr lang="en-US" b="1" dirty="0"/>
              <a:t>Advantages:</a:t>
            </a:r>
          </a:p>
          <a:p>
            <a:pPr lvl="1">
              <a:buBlip>
                <a:blip r:embed="rId2"/>
              </a:buBlip>
            </a:pPr>
            <a:r>
              <a:rPr lang="en-US" dirty="0"/>
              <a:t>Local control of local data</a:t>
            </a:r>
          </a:p>
          <a:p>
            <a:pPr lvl="1">
              <a:buBlip>
                <a:blip r:embed="rId2"/>
              </a:buBlip>
            </a:pPr>
            <a:r>
              <a:rPr lang="en-US" dirty="0"/>
              <a:t>Lower cost</a:t>
            </a:r>
          </a:p>
          <a:p>
            <a:pPr lvl="1">
              <a:buBlip>
                <a:blip r:embed="rId2"/>
              </a:buBlip>
            </a:pPr>
            <a:r>
              <a:rPr lang="en-US" dirty="0"/>
              <a:t>Modularity</a:t>
            </a:r>
          </a:p>
          <a:p>
            <a:pPr lvl="1">
              <a:buBlip>
                <a:blip r:embed="rId2"/>
              </a:buBlip>
            </a:pPr>
            <a:r>
              <a:rPr lang="en-US" dirty="0"/>
              <a:t>Ability to share data</a:t>
            </a:r>
          </a:p>
          <a:p>
            <a:pPr lvl="1">
              <a:buBlip>
                <a:blip r:embed="rId2"/>
              </a:buBlip>
            </a:pPr>
            <a:r>
              <a:rPr lang="en-US" dirty="0"/>
              <a:t>Better response time</a:t>
            </a:r>
          </a:p>
          <a:p>
            <a:pPr marL="457200" lvl="1" indent="0">
              <a:buNone/>
            </a:pPr>
            <a:endParaRPr lang="en-US" dirty="0"/>
          </a:p>
          <a:p>
            <a:pPr>
              <a:buBlip>
                <a:blip r:embed="rId2"/>
              </a:buBlip>
            </a:pPr>
            <a:r>
              <a:rPr lang="en-US" b="1" dirty="0"/>
              <a:t>Disadvantages:</a:t>
            </a:r>
          </a:p>
          <a:p>
            <a:pPr lvl="1">
              <a:buBlip>
                <a:blip r:embed="rId2"/>
              </a:buBlip>
            </a:pPr>
            <a:r>
              <a:rPr lang="en-US" dirty="0"/>
              <a:t>Technical problem of connecting dissimilar machine</a:t>
            </a:r>
          </a:p>
          <a:p>
            <a:pPr lvl="1">
              <a:buBlip>
                <a:blip r:embed="rId2"/>
              </a:buBlip>
            </a:pPr>
            <a:r>
              <a:rPr lang="en-US" dirty="0"/>
              <a:t>Need for sophisticated communication system</a:t>
            </a:r>
          </a:p>
          <a:p>
            <a:pPr lvl="1">
              <a:buBlip>
                <a:blip r:embed="rId2"/>
              </a:buBlip>
            </a:pPr>
            <a:r>
              <a:rPr lang="en-US" dirty="0"/>
              <a:t>Data integrity and security problem</a:t>
            </a:r>
          </a:p>
          <a:p>
            <a:pPr lvl="1">
              <a:buBlip>
                <a:blip r:embed="rId2"/>
              </a:buBlip>
            </a:pPr>
            <a:r>
              <a:rPr lang="en-US" dirty="0"/>
              <a:t>Lack of professional support.</a:t>
            </a:r>
          </a:p>
          <a:p>
            <a:pPr marL="0" indent="0">
              <a:buNone/>
            </a:pPr>
            <a:endParaRPr lang="en-US" dirty="0"/>
          </a:p>
        </p:txBody>
      </p:sp>
      <p:sp>
        <p:nvSpPr>
          <p:cNvPr id="7" name="Slide Number Placeholder 6">
            <a:extLst>
              <a:ext uri="{FF2B5EF4-FFF2-40B4-BE49-F238E27FC236}">
                <a16:creationId xmlns:a16="http://schemas.microsoft.com/office/drawing/2014/main" id="{3184BBA7-6FCE-DB57-C917-D68EE5F4A192}"/>
              </a:ext>
            </a:extLst>
          </p:cNvPr>
          <p:cNvSpPr>
            <a:spLocks noGrp="1"/>
          </p:cNvSpPr>
          <p:nvPr>
            <p:ph type="sldNum" sz="quarter" idx="12"/>
          </p:nvPr>
        </p:nvSpPr>
        <p:spPr/>
        <p:txBody>
          <a:bodyPr/>
          <a:lstStyle/>
          <a:p>
            <a:fld id="{D57F1E4F-1CFF-5643-939E-217C01CDF565}" type="slidenum">
              <a:rPr lang="en-US" smtClean="0"/>
              <a:pPr/>
              <a:t>19</a:t>
            </a:fld>
            <a:endParaRPr lang="en-US" dirty="0"/>
          </a:p>
        </p:txBody>
      </p:sp>
    </p:spTree>
    <p:extLst>
      <p:ext uri="{BB962C8B-B14F-4D97-AF65-F5344CB8AC3E}">
        <p14:creationId xmlns:p14="http://schemas.microsoft.com/office/powerpoint/2010/main" val="21583047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AB2CE-E652-8E8E-01AD-C81A97929722}"/>
              </a:ext>
            </a:extLst>
          </p:cNvPr>
          <p:cNvSpPr>
            <a:spLocks noGrp="1"/>
          </p:cNvSpPr>
          <p:nvPr>
            <p:ph type="title"/>
          </p:nvPr>
        </p:nvSpPr>
        <p:spPr/>
        <p:txBody>
          <a:bodyPr/>
          <a:lstStyle/>
          <a:p>
            <a:pPr algn="ctr"/>
            <a:r>
              <a:rPr lang="en-US" b="1" dirty="0"/>
              <a:t>1 tier architecture(Standalone)</a:t>
            </a:r>
          </a:p>
        </p:txBody>
      </p:sp>
      <p:sp>
        <p:nvSpPr>
          <p:cNvPr id="3" name="Content Placeholder 2">
            <a:extLst>
              <a:ext uri="{FF2B5EF4-FFF2-40B4-BE49-F238E27FC236}">
                <a16:creationId xmlns:a16="http://schemas.microsoft.com/office/drawing/2014/main" id="{005A0CDA-3F71-0E39-EC59-125BC95A9FCC}"/>
              </a:ext>
            </a:extLst>
          </p:cNvPr>
          <p:cNvSpPr>
            <a:spLocks noGrp="1"/>
          </p:cNvSpPr>
          <p:nvPr>
            <p:ph idx="1"/>
          </p:nvPr>
        </p:nvSpPr>
        <p:spPr/>
        <p:txBody>
          <a:bodyPr/>
          <a:lstStyle/>
          <a:p>
            <a:r>
              <a:rPr lang="en-US" dirty="0"/>
              <a:t>DBMS and application software are situated on single system.</a:t>
            </a:r>
          </a:p>
          <a:p>
            <a:r>
              <a:rPr lang="en-US" dirty="0"/>
              <a:t>Simple easy to manage for small scale applications only</a:t>
            </a:r>
          </a:p>
          <a:p>
            <a:endParaRPr lang="en-US" dirty="0"/>
          </a:p>
        </p:txBody>
      </p:sp>
      <p:sp>
        <p:nvSpPr>
          <p:cNvPr id="4" name="Slide Number Placeholder 3">
            <a:extLst>
              <a:ext uri="{FF2B5EF4-FFF2-40B4-BE49-F238E27FC236}">
                <a16:creationId xmlns:a16="http://schemas.microsoft.com/office/drawing/2014/main" id="{5F17DB5F-4DEF-AA93-D190-E2311B53F683}"/>
              </a:ext>
            </a:extLst>
          </p:cNvPr>
          <p:cNvSpPr>
            <a:spLocks noGrp="1"/>
          </p:cNvSpPr>
          <p:nvPr>
            <p:ph type="sldNum" sz="quarter" idx="12"/>
          </p:nvPr>
        </p:nvSpPr>
        <p:spPr/>
        <p:txBody>
          <a:bodyPr/>
          <a:lstStyle/>
          <a:p>
            <a:fld id="{D57F1E4F-1CFF-5643-939E-217C01CDF565}" type="slidenum">
              <a:rPr lang="en-US" smtClean="0"/>
              <a:pPr/>
              <a:t>20</a:t>
            </a:fld>
            <a:endParaRPr lang="en-US" dirty="0"/>
          </a:p>
        </p:txBody>
      </p:sp>
    </p:spTree>
    <p:extLst>
      <p:ext uri="{BB962C8B-B14F-4D97-AF65-F5344CB8AC3E}">
        <p14:creationId xmlns:p14="http://schemas.microsoft.com/office/powerpoint/2010/main" val="8132831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AB2CE-E652-8E8E-01AD-C81A97929722}"/>
              </a:ext>
            </a:extLst>
          </p:cNvPr>
          <p:cNvSpPr>
            <a:spLocks noGrp="1"/>
          </p:cNvSpPr>
          <p:nvPr>
            <p:ph type="title"/>
          </p:nvPr>
        </p:nvSpPr>
        <p:spPr/>
        <p:txBody>
          <a:bodyPr/>
          <a:lstStyle/>
          <a:p>
            <a:pPr algn="ctr"/>
            <a:r>
              <a:rPr lang="en-US" b="1" dirty="0"/>
              <a:t>2 tier architecture(Client Server Architecture)</a:t>
            </a:r>
          </a:p>
        </p:txBody>
      </p:sp>
      <p:sp>
        <p:nvSpPr>
          <p:cNvPr id="3" name="Content Placeholder 2">
            <a:extLst>
              <a:ext uri="{FF2B5EF4-FFF2-40B4-BE49-F238E27FC236}">
                <a16:creationId xmlns:a16="http://schemas.microsoft.com/office/drawing/2014/main" id="{005A0CDA-3F71-0E39-EC59-125BC95A9FCC}"/>
              </a:ext>
            </a:extLst>
          </p:cNvPr>
          <p:cNvSpPr>
            <a:spLocks noGrp="1"/>
          </p:cNvSpPr>
          <p:nvPr>
            <p:ph idx="1"/>
          </p:nvPr>
        </p:nvSpPr>
        <p:spPr>
          <a:xfrm>
            <a:off x="3454400" y="2133600"/>
            <a:ext cx="8050212" cy="3777622"/>
          </a:xfrm>
        </p:spPr>
        <p:txBody>
          <a:bodyPr>
            <a:normAutofit lnSpcReduction="10000"/>
          </a:bodyPr>
          <a:lstStyle/>
          <a:p>
            <a:r>
              <a:rPr lang="en-US" dirty="0"/>
              <a:t>Database system is located at Server side </a:t>
            </a:r>
            <a:r>
              <a:rPr lang="en-US"/>
              <a:t>and DBMS </a:t>
            </a:r>
            <a:r>
              <a:rPr lang="en-US" dirty="0"/>
              <a:t>is located at client ends.</a:t>
            </a:r>
          </a:p>
          <a:p>
            <a:pPr algn="just">
              <a:buFont typeface="Wingdings" panose="05000000000000000000" pitchFamily="2" charset="2"/>
              <a:buChar char="q"/>
            </a:pPr>
            <a:r>
              <a:rPr lang="en-US" b="0" i="0" dirty="0">
                <a:solidFill>
                  <a:srgbClr val="000000"/>
                </a:solidFill>
                <a:effectLst/>
              </a:rPr>
              <a:t>The 2-Tier architecture is same as basic client-server. In the two-tier architecture, applications on the client end can directly communicate with the database at the server side. For this interaction, API's like: </a:t>
            </a:r>
            <a:r>
              <a:rPr lang="en-US" b="1" i="0" dirty="0">
                <a:solidFill>
                  <a:srgbClr val="000000"/>
                </a:solidFill>
                <a:effectLst/>
              </a:rPr>
              <a:t>ODBC</a:t>
            </a:r>
            <a:r>
              <a:rPr lang="en-US" b="0" i="0" dirty="0">
                <a:solidFill>
                  <a:srgbClr val="000000"/>
                </a:solidFill>
                <a:effectLst/>
              </a:rPr>
              <a:t>, </a:t>
            </a:r>
            <a:r>
              <a:rPr lang="en-US" b="1" i="0" dirty="0">
                <a:solidFill>
                  <a:srgbClr val="000000"/>
                </a:solidFill>
                <a:effectLst/>
              </a:rPr>
              <a:t>JDBC</a:t>
            </a:r>
            <a:r>
              <a:rPr lang="en-US" b="0" i="0" dirty="0">
                <a:solidFill>
                  <a:srgbClr val="000000"/>
                </a:solidFill>
                <a:effectLst/>
              </a:rPr>
              <a:t> are used.</a:t>
            </a:r>
          </a:p>
          <a:p>
            <a:pPr algn="just">
              <a:buFont typeface="Wingdings" panose="05000000000000000000" pitchFamily="2" charset="2"/>
              <a:buChar char="q"/>
            </a:pPr>
            <a:r>
              <a:rPr lang="en-US" b="0" i="0" dirty="0">
                <a:solidFill>
                  <a:srgbClr val="000000"/>
                </a:solidFill>
                <a:effectLst/>
              </a:rPr>
              <a:t>The user interfaces and application programs are run on the client-side.</a:t>
            </a:r>
          </a:p>
          <a:p>
            <a:pPr algn="just">
              <a:buFont typeface="Wingdings" panose="05000000000000000000" pitchFamily="2" charset="2"/>
              <a:buChar char="q"/>
            </a:pPr>
            <a:r>
              <a:rPr lang="en-US" b="0" i="0" dirty="0">
                <a:solidFill>
                  <a:srgbClr val="000000"/>
                </a:solidFill>
                <a:effectLst/>
              </a:rPr>
              <a:t>The server side is responsible to provide the functionalities like: query processing and transaction management.</a:t>
            </a:r>
          </a:p>
          <a:p>
            <a:pPr algn="just">
              <a:buFont typeface="Wingdings" panose="05000000000000000000" pitchFamily="2" charset="2"/>
              <a:buChar char="q"/>
            </a:pPr>
            <a:r>
              <a:rPr lang="en-US" b="0" i="0" dirty="0">
                <a:solidFill>
                  <a:srgbClr val="000000"/>
                </a:solidFill>
                <a:effectLst/>
              </a:rPr>
              <a:t>To communicate with the DBMS, client-side application establishes a connection with the server side.</a:t>
            </a:r>
          </a:p>
          <a:p>
            <a:endParaRPr lang="en-US" dirty="0"/>
          </a:p>
          <a:p>
            <a:endParaRPr lang="en-US" dirty="0"/>
          </a:p>
        </p:txBody>
      </p:sp>
      <p:sp>
        <p:nvSpPr>
          <p:cNvPr id="4" name="Slide Number Placeholder 3">
            <a:extLst>
              <a:ext uri="{FF2B5EF4-FFF2-40B4-BE49-F238E27FC236}">
                <a16:creationId xmlns:a16="http://schemas.microsoft.com/office/drawing/2014/main" id="{5F17DB5F-4DEF-AA93-D190-E2311B53F683}"/>
              </a:ext>
            </a:extLst>
          </p:cNvPr>
          <p:cNvSpPr>
            <a:spLocks noGrp="1"/>
          </p:cNvSpPr>
          <p:nvPr>
            <p:ph type="sldNum" sz="quarter" idx="12"/>
          </p:nvPr>
        </p:nvSpPr>
        <p:spPr/>
        <p:txBody>
          <a:bodyPr/>
          <a:lstStyle/>
          <a:p>
            <a:fld id="{D57F1E4F-1CFF-5643-939E-217C01CDF565}" type="slidenum">
              <a:rPr lang="en-US" smtClean="0"/>
              <a:pPr/>
              <a:t>21</a:t>
            </a:fld>
            <a:endParaRPr lang="en-US" dirty="0"/>
          </a:p>
        </p:txBody>
      </p:sp>
      <p:pic>
        <p:nvPicPr>
          <p:cNvPr id="6" name="Picture 5">
            <a:extLst>
              <a:ext uri="{FF2B5EF4-FFF2-40B4-BE49-F238E27FC236}">
                <a16:creationId xmlns:a16="http://schemas.microsoft.com/office/drawing/2014/main" id="{42374373-C33E-B7AD-8EA7-2E893DBBCE24}"/>
              </a:ext>
            </a:extLst>
          </p:cNvPr>
          <p:cNvPicPr>
            <a:picLocks noChangeAspect="1"/>
          </p:cNvPicPr>
          <p:nvPr/>
        </p:nvPicPr>
        <p:blipFill>
          <a:blip r:embed="rId2"/>
          <a:stretch>
            <a:fillRect/>
          </a:stretch>
        </p:blipFill>
        <p:spPr>
          <a:xfrm>
            <a:off x="298132" y="2336918"/>
            <a:ext cx="3003868" cy="2863688"/>
          </a:xfrm>
          <a:prstGeom prst="rect">
            <a:avLst/>
          </a:prstGeom>
        </p:spPr>
      </p:pic>
    </p:spTree>
    <p:extLst>
      <p:ext uri="{BB962C8B-B14F-4D97-AF65-F5344CB8AC3E}">
        <p14:creationId xmlns:p14="http://schemas.microsoft.com/office/powerpoint/2010/main" val="32874378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AB2CE-E652-8E8E-01AD-C81A97929722}"/>
              </a:ext>
            </a:extLst>
          </p:cNvPr>
          <p:cNvSpPr>
            <a:spLocks noGrp="1"/>
          </p:cNvSpPr>
          <p:nvPr>
            <p:ph type="title"/>
          </p:nvPr>
        </p:nvSpPr>
        <p:spPr/>
        <p:txBody>
          <a:bodyPr/>
          <a:lstStyle/>
          <a:p>
            <a:pPr algn="ctr"/>
            <a:r>
              <a:rPr lang="en-US" b="1" dirty="0"/>
              <a:t>3 tier architecture</a:t>
            </a:r>
          </a:p>
        </p:txBody>
      </p:sp>
      <p:pic>
        <p:nvPicPr>
          <p:cNvPr id="7" name="Content Placeholder 6">
            <a:extLst>
              <a:ext uri="{FF2B5EF4-FFF2-40B4-BE49-F238E27FC236}">
                <a16:creationId xmlns:a16="http://schemas.microsoft.com/office/drawing/2014/main" id="{5764393F-8D60-9C2E-7D86-F381FCB9DFDE}"/>
              </a:ext>
            </a:extLst>
          </p:cNvPr>
          <p:cNvPicPr>
            <a:picLocks noGrp="1" noChangeAspect="1"/>
          </p:cNvPicPr>
          <p:nvPr>
            <p:ph idx="1"/>
          </p:nvPr>
        </p:nvPicPr>
        <p:blipFill rotWithShape="1">
          <a:blip r:embed="rId2"/>
          <a:srcRect l="18620" t="40336" r="21844" b="13681"/>
          <a:stretch/>
        </p:blipFill>
        <p:spPr>
          <a:xfrm>
            <a:off x="4799390" y="1554480"/>
            <a:ext cx="4498755" cy="1737360"/>
          </a:xfrm>
        </p:spPr>
      </p:pic>
      <p:sp>
        <p:nvSpPr>
          <p:cNvPr id="4" name="Slide Number Placeholder 3">
            <a:extLst>
              <a:ext uri="{FF2B5EF4-FFF2-40B4-BE49-F238E27FC236}">
                <a16:creationId xmlns:a16="http://schemas.microsoft.com/office/drawing/2014/main" id="{5F17DB5F-4DEF-AA93-D190-E2311B53F683}"/>
              </a:ext>
            </a:extLst>
          </p:cNvPr>
          <p:cNvSpPr>
            <a:spLocks noGrp="1"/>
          </p:cNvSpPr>
          <p:nvPr>
            <p:ph type="sldNum" sz="quarter" idx="12"/>
          </p:nvPr>
        </p:nvSpPr>
        <p:spPr/>
        <p:txBody>
          <a:bodyPr/>
          <a:lstStyle/>
          <a:p>
            <a:fld id="{D57F1E4F-1CFF-5643-939E-217C01CDF565}" type="slidenum">
              <a:rPr lang="en-US" smtClean="0"/>
              <a:pPr/>
              <a:t>22</a:t>
            </a:fld>
            <a:endParaRPr lang="en-US" dirty="0"/>
          </a:p>
        </p:txBody>
      </p:sp>
    </p:spTree>
    <p:extLst>
      <p:ext uri="{BB962C8B-B14F-4D97-AF65-F5344CB8AC3E}">
        <p14:creationId xmlns:p14="http://schemas.microsoft.com/office/powerpoint/2010/main" val="4261141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Database users and administrators</a:t>
            </a:r>
            <a:endParaRPr lang="en-US" b="1" u="sng" dirty="0"/>
          </a:p>
        </p:txBody>
      </p:sp>
      <p:sp>
        <p:nvSpPr>
          <p:cNvPr id="3" name="Content Placeholder 2"/>
          <p:cNvSpPr>
            <a:spLocks noGrp="1"/>
          </p:cNvSpPr>
          <p:nvPr>
            <p:ph idx="1"/>
          </p:nvPr>
        </p:nvSpPr>
        <p:spPr>
          <a:xfrm>
            <a:off x="838200" y="1825625"/>
            <a:ext cx="10515600" cy="4953866"/>
          </a:xfrm>
        </p:spPr>
        <p:txBody>
          <a:bodyPr>
            <a:normAutofit lnSpcReduction="10000"/>
          </a:bodyPr>
          <a:lstStyle/>
          <a:p>
            <a:pPr marL="0" indent="0" algn="just">
              <a:buNone/>
            </a:pPr>
            <a:r>
              <a:rPr lang="en-US" b="1" u="heavy" dirty="0"/>
              <a:t>Database users:</a:t>
            </a:r>
          </a:p>
          <a:p>
            <a:pPr algn="just"/>
            <a:r>
              <a:rPr lang="en-US" dirty="0"/>
              <a:t>Users are differentiated by the way they expect to interact with the system. There are four different types of database-system users:</a:t>
            </a:r>
          </a:p>
          <a:p>
            <a:pPr lvl="0" algn="just"/>
            <a:r>
              <a:rPr lang="en-US" b="1" dirty="0"/>
              <a:t>Naive Users</a:t>
            </a:r>
            <a:r>
              <a:rPr lang="en-US" dirty="0"/>
              <a:t>: They are unsophisticated users who interact with the system by invoking one of the application programs that have been written previously. For example: a bank teller who needs to transfer $50 from account A to account B invokes a program called transfer.</a:t>
            </a:r>
          </a:p>
          <a:p>
            <a:pPr lvl="0" algn="just"/>
            <a:r>
              <a:rPr lang="en-US" b="1" dirty="0"/>
              <a:t>Application programmers: </a:t>
            </a:r>
            <a:r>
              <a:rPr lang="en-US" dirty="0"/>
              <a:t>They are computer professionals who write application programs. Application programmers can choose any tools to develop user interface.</a:t>
            </a:r>
          </a:p>
          <a:p>
            <a:pPr lvl="0" algn="just"/>
            <a:r>
              <a:rPr lang="en-US" b="1" dirty="0"/>
              <a:t>Sophisticated users: </a:t>
            </a:r>
            <a:r>
              <a:rPr lang="en-US" dirty="0"/>
              <a:t>They interact with the system without writing programs. They form their requests in a database query language.</a:t>
            </a:r>
          </a:p>
          <a:p>
            <a:pPr lvl="0" algn="just"/>
            <a:r>
              <a:rPr lang="en-US" b="1" dirty="0"/>
              <a:t>Specialized users</a:t>
            </a:r>
            <a:r>
              <a:rPr lang="en-US" dirty="0"/>
              <a:t>: They are sophisticated users who write specialized database applications that do not fit into the traditional data-processing framework. Among these applications are computer-aided design systems, knowledge base and expert systems, systems that store data with complex data types (graphics data and audio data), and environment-modeling systems. </a:t>
            </a:r>
          </a:p>
          <a:p>
            <a:pPr marL="0" indent="0" algn="just">
              <a:buNone/>
            </a:pPr>
            <a:endParaRPr lang="en-US" dirty="0"/>
          </a:p>
        </p:txBody>
      </p:sp>
      <p:sp>
        <p:nvSpPr>
          <p:cNvPr id="4" name="Slide Number Placeholder 3"/>
          <p:cNvSpPr>
            <a:spLocks noGrp="1"/>
          </p:cNvSpPr>
          <p:nvPr>
            <p:ph type="sldNum" sz="quarter" idx="12"/>
          </p:nvPr>
        </p:nvSpPr>
        <p:spPr/>
        <p:txBody>
          <a:bodyPr/>
          <a:lstStyle/>
          <a:p>
            <a:fld id="{A5C21B5B-BB78-48E7-8B29-3758DD6F29A1}" type="slidenum">
              <a:rPr lang="en-US" smtClean="0"/>
              <a:t>23</a:t>
            </a:fld>
            <a:endParaRPr lang="en-US"/>
          </a:p>
        </p:txBody>
      </p:sp>
    </p:spTree>
    <p:extLst>
      <p:ext uri="{BB962C8B-B14F-4D97-AF65-F5344CB8AC3E}">
        <p14:creationId xmlns:p14="http://schemas.microsoft.com/office/powerpoint/2010/main" val="38024547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82918" y="970344"/>
            <a:ext cx="10515600" cy="5391872"/>
          </a:xfrm>
        </p:spPr>
        <p:txBody>
          <a:bodyPr>
            <a:normAutofit/>
          </a:bodyPr>
          <a:lstStyle/>
          <a:p>
            <a:pPr marL="0" indent="0" algn="just">
              <a:buNone/>
            </a:pPr>
            <a:r>
              <a:rPr lang="en-US" b="1" u="heavy" dirty="0"/>
              <a:t>Database Administrator:</a:t>
            </a:r>
            <a:endParaRPr lang="en-US" b="1" u="sng" dirty="0"/>
          </a:p>
          <a:p>
            <a:pPr algn="just"/>
            <a:r>
              <a:rPr lang="en-US" dirty="0"/>
              <a:t>The person who has such central control over the system is called the database administrator (DBA). The function of the DBA includes the following:</a:t>
            </a:r>
          </a:p>
          <a:p>
            <a:pPr lvl="0" algn="just"/>
            <a:r>
              <a:rPr lang="en-US" b="1" dirty="0"/>
              <a:t>Schema definition</a:t>
            </a:r>
            <a:r>
              <a:rPr lang="en-US" dirty="0"/>
              <a:t>: The DBA creates the original database schema by writing a set of definitions that is translated by the DDL compiler to a set of tables that is stored permanently in the data dictionary.</a:t>
            </a:r>
          </a:p>
          <a:p>
            <a:pPr lvl="0" algn="just"/>
            <a:r>
              <a:rPr lang="en-US" b="1" dirty="0"/>
              <a:t>Granting the authorization of data access</a:t>
            </a:r>
            <a:r>
              <a:rPr lang="en-US" dirty="0"/>
              <a:t>: The granting of different types of privileges to the database users so that all the users are not able to all data.</a:t>
            </a:r>
          </a:p>
          <a:p>
            <a:pPr lvl="0" algn="just"/>
            <a:r>
              <a:rPr lang="en-US" b="1" dirty="0"/>
              <a:t>Routine maintenance: </a:t>
            </a:r>
            <a:r>
              <a:rPr lang="en-US" dirty="0"/>
              <a:t>Routine maintenance includes periodic backing up the database, either onto tapes or onto remote servers, to prevent loss of data in case of disasters such as flooding, Ensuring that enough free disk space is available for normal operations, and upgrading disk space as required etc.</a:t>
            </a:r>
          </a:p>
        </p:txBody>
      </p:sp>
      <p:sp>
        <p:nvSpPr>
          <p:cNvPr id="2" name="Slide Number Placeholder 1"/>
          <p:cNvSpPr>
            <a:spLocks noGrp="1"/>
          </p:cNvSpPr>
          <p:nvPr>
            <p:ph type="sldNum" sz="quarter" idx="12"/>
          </p:nvPr>
        </p:nvSpPr>
        <p:spPr/>
        <p:txBody>
          <a:bodyPr/>
          <a:lstStyle/>
          <a:p>
            <a:fld id="{A5C21B5B-BB78-48E7-8B29-3758DD6F29A1}" type="slidenum">
              <a:rPr lang="en-US" smtClean="0"/>
              <a:t>24</a:t>
            </a:fld>
            <a:endParaRPr lang="en-US"/>
          </a:p>
        </p:txBody>
      </p:sp>
    </p:spTree>
    <p:extLst>
      <p:ext uri="{BB962C8B-B14F-4D97-AF65-F5344CB8AC3E}">
        <p14:creationId xmlns:p14="http://schemas.microsoft.com/office/powerpoint/2010/main" val="995274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Warehouse</a:t>
            </a:r>
          </a:p>
        </p:txBody>
      </p:sp>
      <p:sp>
        <p:nvSpPr>
          <p:cNvPr id="3" name="Content Placeholder 2"/>
          <p:cNvSpPr>
            <a:spLocks noGrp="1"/>
          </p:cNvSpPr>
          <p:nvPr>
            <p:ph idx="1"/>
          </p:nvPr>
        </p:nvSpPr>
        <p:spPr/>
        <p:txBody>
          <a:bodyPr/>
          <a:lstStyle/>
          <a:p>
            <a:pPr algn="just"/>
            <a:r>
              <a:rPr lang="en-US" dirty="0"/>
              <a:t>A </a:t>
            </a:r>
            <a:r>
              <a:rPr lang="en-US" b="1" dirty="0"/>
              <a:t>Data warehouse </a:t>
            </a:r>
            <a:r>
              <a:rPr lang="en-US" dirty="0"/>
              <a:t>is a centralized repository for storing and managing large amounts of structured and semi-structured data. The purpose of a data warehouse is to provide a single, integrated view of an organization's data to support decision-making and analysis.</a:t>
            </a:r>
          </a:p>
        </p:txBody>
      </p:sp>
      <p:sp>
        <p:nvSpPr>
          <p:cNvPr id="4" name="Slide Number Placeholder 3">
            <a:extLst>
              <a:ext uri="{FF2B5EF4-FFF2-40B4-BE49-F238E27FC236}">
                <a16:creationId xmlns:a16="http://schemas.microsoft.com/office/drawing/2014/main" id="{C6EB705C-FBB8-C43A-D0A3-74D1341176FA}"/>
              </a:ext>
            </a:extLst>
          </p:cNvPr>
          <p:cNvSpPr>
            <a:spLocks noGrp="1"/>
          </p:cNvSpPr>
          <p:nvPr>
            <p:ph type="sldNum" sz="quarter" idx="12"/>
          </p:nvPr>
        </p:nvSpPr>
        <p:spPr/>
        <p:txBody>
          <a:bodyPr/>
          <a:lstStyle/>
          <a:p>
            <a:fld id="{D57F1E4F-1CFF-5643-939E-217C01CDF565}" type="slidenum">
              <a:rPr lang="en-US" smtClean="0"/>
              <a:pPr/>
              <a:t>25</a:t>
            </a:fld>
            <a:endParaRPr lang="en-US" dirty="0"/>
          </a:p>
        </p:txBody>
      </p:sp>
      <p:pic>
        <p:nvPicPr>
          <p:cNvPr id="6" name="Content Placeholder 5">
            <a:extLst>
              <a:ext uri="{FF2B5EF4-FFF2-40B4-BE49-F238E27FC236}">
                <a16:creationId xmlns:a16="http://schemas.microsoft.com/office/drawing/2014/main" id="{B20D5E46-5DD0-0E45-8009-85A8883FE8DB}"/>
              </a:ext>
            </a:extLst>
          </p:cNvPr>
          <p:cNvPicPr>
            <a:picLocks noChangeAspect="1"/>
          </p:cNvPicPr>
          <p:nvPr/>
        </p:nvPicPr>
        <p:blipFill>
          <a:blip r:embed="rId2"/>
          <a:stretch>
            <a:fillRect/>
          </a:stretch>
        </p:blipFill>
        <p:spPr>
          <a:xfrm>
            <a:off x="4014313" y="3348648"/>
            <a:ext cx="5196189" cy="2562574"/>
          </a:xfrm>
          <a:prstGeom prst="rect">
            <a:avLst/>
          </a:prstGeom>
        </p:spPr>
      </p:pic>
    </p:spTree>
    <p:extLst>
      <p:ext uri="{BB962C8B-B14F-4D97-AF65-F5344CB8AC3E}">
        <p14:creationId xmlns:p14="http://schemas.microsoft.com/office/powerpoint/2010/main" val="23648721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92722-28D9-D125-E2D9-16F4C15E7B3D}"/>
              </a:ext>
            </a:extLst>
          </p:cNvPr>
          <p:cNvSpPr>
            <a:spLocks noGrp="1"/>
          </p:cNvSpPr>
          <p:nvPr>
            <p:ph type="title"/>
          </p:nvPr>
        </p:nvSpPr>
        <p:spPr/>
        <p:txBody>
          <a:bodyPr/>
          <a:lstStyle/>
          <a:p>
            <a:pPr algn="ctr"/>
            <a:r>
              <a:rPr lang="en-US" b="1" dirty="0"/>
              <a:t>Data warehousing</a:t>
            </a:r>
          </a:p>
        </p:txBody>
      </p:sp>
      <p:sp>
        <p:nvSpPr>
          <p:cNvPr id="4" name="Slide Number Placeholder 3">
            <a:extLst>
              <a:ext uri="{FF2B5EF4-FFF2-40B4-BE49-F238E27FC236}">
                <a16:creationId xmlns:a16="http://schemas.microsoft.com/office/drawing/2014/main" id="{836680D7-4738-C7B3-1F41-BB10677F8B2E}"/>
              </a:ext>
            </a:extLst>
          </p:cNvPr>
          <p:cNvSpPr>
            <a:spLocks noGrp="1"/>
          </p:cNvSpPr>
          <p:nvPr>
            <p:ph type="sldNum" sz="quarter" idx="12"/>
          </p:nvPr>
        </p:nvSpPr>
        <p:spPr/>
        <p:txBody>
          <a:bodyPr/>
          <a:lstStyle/>
          <a:p>
            <a:fld id="{D57F1E4F-1CFF-5643-939E-217C01CDF565}" type="slidenum">
              <a:rPr lang="en-US" smtClean="0"/>
              <a:pPr/>
              <a:t>26</a:t>
            </a:fld>
            <a:endParaRPr lang="en-US" dirty="0"/>
          </a:p>
        </p:txBody>
      </p:sp>
      <p:sp>
        <p:nvSpPr>
          <p:cNvPr id="5" name="Content Placeholder 4">
            <a:extLst>
              <a:ext uri="{FF2B5EF4-FFF2-40B4-BE49-F238E27FC236}">
                <a16:creationId xmlns:a16="http://schemas.microsoft.com/office/drawing/2014/main" id="{4A833ADB-E770-89DD-3107-0E4CF4122DAC}"/>
              </a:ext>
            </a:extLst>
          </p:cNvPr>
          <p:cNvSpPr>
            <a:spLocks noGrp="1"/>
          </p:cNvSpPr>
          <p:nvPr>
            <p:ph idx="1"/>
          </p:nvPr>
        </p:nvSpPr>
        <p:spPr/>
        <p:txBody>
          <a:bodyPr/>
          <a:lstStyle/>
          <a:p>
            <a:r>
              <a:rPr lang="en-US" dirty="0"/>
              <a:t>Components of Data warehousing</a:t>
            </a:r>
          </a:p>
          <a:p>
            <a:pPr lvl="1"/>
            <a:r>
              <a:rPr lang="en-US" dirty="0"/>
              <a:t>Central database</a:t>
            </a:r>
          </a:p>
          <a:p>
            <a:pPr lvl="1"/>
            <a:r>
              <a:rPr lang="en-US" dirty="0"/>
              <a:t>ETL(Extract, transform, load) tools</a:t>
            </a:r>
          </a:p>
          <a:p>
            <a:pPr lvl="1"/>
            <a:r>
              <a:rPr lang="en-US" dirty="0"/>
              <a:t>Metadata</a:t>
            </a:r>
          </a:p>
          <a:p>
            <a:pPr lvl="1"/>
            <a:r>
              <a:rPr lang="en-US" dirty="0"/>
              <a:t>Access tools</a:t>
            </a:r>
          </a:p>
        </p:txBody>
      </p:sp>
    </p:spTree>
    <p:extLst>
      <p:ext uri="{BB962C8B-B14F-4D97-AF65-F5344CB8AC3E}">
        <p14:creationId xmlns:p14="http://schemas.microsoft.com/office/powerpoint/2010/main" val="4438591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92722-28D9-D125-E2D9-16F4C15E7B3D}"/>
              </a:ext>
            </a:extLst>
          </p:cNvPr>
          <p:cNvSpPr>
            <a:spLocks noGrp="1"/>
          </p:cNvSpPr>
          <p:nvPr>
            <p:ph type="title"/>
          </p:nvPr>
        </p:nvSpPr>
        <p:spPr/>
        <p:txBody>
          <a:bodyPr/>
          <a:lstStyle/>
          <a:p>
            <a:pPr algn="ctr"/>
            <a:r>
              <a:rPr lang="en-US" b="1" dirty="0"/>
              <a:t>Data cube</a:t>
            </a:r>
          </a:p>
        </p:txBody>
      </p:sp>
      <p:sp>
        <p:nvSpPr>
          <p:cNvPr id="4" name="Slide Number Placeholder 3">
            <a:extLst>
              <a:ext uri="{FF2B5EF4-FFF2-40B4-BE49-F238E27FC236}">
                <a16:creationId xmlns:a16="http://schemas.microsoft.com/office/drawing/2014/main" id="{836680D7-4738-C7B3-1F41-BB10677F8B2E}"/>
              </a:ext>
            </a:extLst>
          </p:cNvPr>
          <p:cNvSpPr>
            <a:spLocks noGrp="1"/>
          </p:cNvSpPr>
          <p:nvPr>
            <p:ph type="sldNum" sz="quarter" idx="12"/>
          </p:nvPr>
        </p:nvSpPr>
        <p:spPr/>
        <p:txBody>
          <a:bodyPr/>
          <a:lstStyle/>
          <a:p>
            <a:fld id="{D57F1E4F-1CFF-5643-939E-217C01CDF565}" type="slidenum">
              <a:rPr lang="en-US" smtClean="0"/>
              <a:pPr/>
              <a:t>27</a:t>
            </a:fld>
            <a:endParaRPr lang="en-US" dirty="0"/>
          </a:p>
        </p:txBody>
      </p:sp>
      <p:pic>
        <p:nvPicPr>
          <p:cNvPr id="8" name="Content Placeholder 7">
            <a:extLst>
              <a:ext uri="{FF2B5EF4-FFF2-40B4-BE49-F238E27FC236}">
                <a16:creationId xmlns:a16="http://schemas.microsoft.com/office/drawing/2014/main" id="{00A3B3AC-ECE8-49CF-CD07-957636DE59B1}"/>
              </a:ext>
            </a:extLst>
          </p:cNvPr>
          <p:cNvPicPr>
            <a:picLocks noGrp="1" noChangeAspect="1"/>
          </p:cNvPicPr>
          <p:nvPr>
            <p:ph idx="1"/>
          </p:nvPr>
        </p:nvPicPr>
        <p:blipFill>
          <a:blip r:embed="rId2"/>
          <a:stretch>
            <a:fillRect/>
          </a:stretch>
        </p:blipFill>
        <p:spPr>
          <a:xfrm>
            <a:off x="4205132" y="2015182"/>
            <a:ext cx="5687272" cy="2831036"/>
          </a:xfrm>
        </p:spPr>
      </p:pic>
    </p:spTree>
    <p:extLst>
      <p:ext uri="{BB962C8B-B14F-4D97-AF65-F5344CB8AC3E}">
        <p14:creationId xmlns:p14="http://schemas.microsoft.com/office/powerpoint/2010/main" val="23177099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50BBE-A511-B4A7-3844-380B7BF28FBC}"/>
              </a:ext>
            </a:extLst>
          </p:cNvPr>
          <p:cNvSpPr>
            <a:spLocks noGrp="1"/>
          </p:cNvSpPr>
          <p:nvPr>
            <p:ph type="title"/>
          </p:nvPr>
        </p:nvSpPr>
        <p:spPr/>
        <p:txBody>
          <a:bodyPr/>
          <a:lstStyle/>
          <a:p>
            <a:r>
              <a:rPr lang="en-US" b="1" dirty="0"/>
              <a:t>Characteristics of Data Warehouse</a:t>
            </a:r>
          </a:p>
        </p:txBody>
      </p:sp>
      <p:sp>
        <p:nvSpPr>
          <p:cNvPr id="3" name="Content Placeholder 2">
            <a:extLst>
              <a:ext uri="{FF2B5EF4-FFF2-40B4-BE49-F238E27FC236}">
                <a16:creationId xmlns:a16="http://schemas.microsoft.com/office/drawing/2014/main" id="{9C83B195-536E-C0C1-EE38-0D49B27F5BAA}"/>
              </a:ext>
            </a:extLst>
          </p:cNvPr>
          <p:cNvSpPr>
            <a:spLocks noGrp="1"/>
          </p:cNvSpPr>
          <p:nvPr>
            <p:ph idx="1"/>
          </p:nvPr>
        </p:nvSpPr>
        <p:spPr/>
        <p:txBody>
          <a:bodyPr/>
          <a:lstStyle/>
          <a:p>
            <a:pPr>
              <a:buFont typeface="+mj-lt"/>
              <a:buAutoNum type="arabicPeriod"/>
            </a:pPr>
            <a:r>
              <a:rPr lang="en-US" b="1" dirty="0"/>
              <a:t>Subject Oriented: </a:t>
            </a:r>
            <a:r>
              <a:rPr lang="en-US" dirty="0"/>
              <a:t>Data to be organized towards the major subject areas of organization i.e. an insurance company oriented data by customer, premium and claims etc.</a:t>
            </a:r>
          </a:p>
          <a:p>
            <a:pPr>
              <a:buFont typeface="+mj-lt"/>
              <a:buAutoNum type="arabicPeriod"/>
            </a:pPr>
            <a:r>
              <a:rPr lang="en-US" b="1" dirty="0"/>
              <a:t>Integrated: </a:t>
            </a:r>
            <a:r>
              <a:rPr lang="en-US" dirty="0"/>
              <a:t>The way data is extracted and transformed is uniform, regardless of the original source.</a:t>
            </a:r>
          </a:p>
          <a:p>
            <a:pPr>
              <a:buFont typeface="+mj-lt"/>
              <a:buAutoNum type="arabicPeriod"/>
            </a:pPr>
            <a:r>
              <a:rPr lang="en-US" b="1" dirty="0"/>
              <a:t>Non-volatile: </a:t>
            </a:r>
            <a:r>
              <a:rPr lang="en-US" dirty="0"/>
              <a:t>A data warehouse is not updated in real time. It is periodically updated via the uploading od data, protecting it form the influence of momentary change.</a:t>
            </a:r>
          </a:p>
          <a:p>
            <a:pPr>
              <a:buFont typeface="+mj-lt"/>
              <a:buAutoNum type="arabicPeriod"/>
            </a:pPr>
            <a:r>
              <a:rPr lang="en-US" b="1" dirty="0"/>
              <a:t>Time-Variant: </a:t>
            </a:r>
            <a:r>
              <a:rPr lang="en-US" dirty="0"/>
              <a:t>Data is organized via time-periods(weekly, monthly, annually, etc.)</a:t>
            </a:r>
          </a:p>
        </p:txBody>
      </p:sp>
      <p:sp>
        <p:nvSpPr>
          <p:cNvPr id="4" name="Slide Number Placeholder 3">
            <a:extLst>
              <a:ext uri="{FF2B5EF4-FFF2-40B4-BE49-F238E27FC236}">
                <a16:creationId xmlns:a16="http://schemas.microsoft.com/office/drawing/2014/main" id="{959043C5-84C7-43B3-1B62-5F03787403B6}"/>
              </a:ext>
            </a:extLst>
          </p:cNvPr>
          <p:cNvSpPr>
            <a:spLocks noGrp="1"/>
          </p:cNvSpPr>
          <p:nvPr>
            <p:ph type="sldNum" sz="quarter" idx="12"/>
          </p:nvPr>
        </p:nvSpPr>
        <p:spPr/>
        <p:txBody>
          <a:bodyPr/>
          <a:lstStyle/>
          <a:p>
            <a:fld id="{D57F1E4F-1CFF-5643-939E-217C01CDF565}" type="slidenum">
              <a:rPr lang="en-US" smtClean="0"/>
              <a:pPr/>
              <a:t>28</a:t>
            </a:fld>
            <a:endParaRPr lang="en-US" dirty="0"/>
          </a:p>
        </p:txBody>
      </p:sp>
    </p:spTree>
    <p:extLst>
      <p:ext uri="{BB962C8B-B14F-4D97-AF65-F5344CB8AC3E}">
        <p14:creationId xmlns:p14="http://schemas.microsoft.com/office/powerpoint/2010/main" val="4364863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Data mining</a:t>
            </a:r>
          </a:p>
        </p:txBody>
      </p:sp>
      <p:sp>
        <p:nvSpPr>
          <p:cNvPr id="3" name="Content Placeholder 2"/>
          <p:cNvSpPr>
            <a:spLocks noGrp="1"/>
          </p:cNvSpPr>
          <p:nvPr>
            <p:ph idx="1"/>
          </p:nvPr>
        </p:nvSpPr>
        <p:spPr/>
        <p:txBody>
          <a:bodyPr/>
          <a:lstStyle/>
          <a:p>
            <a:pPr algn="just"/>
            <a:r>
              <a:rPr lang="en-US" b="1" dirty="0"/>
              <a:t>Data mining </a:t>
            </a:r>
            <a:r>
              <a:rPr lang="en-US" dirty="0"/>
              <a:t>is the process of discovering patterns and knowledge from large amounts of data. It involves the use of algorithms and statistical models to extract insights and make predictions about data. The goal of data mining is to extract information from data and transform it into an understandable structure for further use.</a:t>
            </a:r>
          </a:p>
          <a:p>
            <a:pPr algn="just"/>
            <a:r>
              <a:rPr lang="en-US" dirty="0"/>
              <a:t>Advantages</a:t>
            </a:r>
          </a:p>
          <a:p>
            <a:pPr lvl="1" algn="just"/>
            <a:r>
              <a:rPr lang="en-US" dirty="0"/>
              <a:t>It is tool used for searching valuable business information in a large database. </a:t>
            </a:r>
          </a:p>
          <a:p>
            <a:pPr lvl="1" algn="just"/>
            <a:r>
              <a:rPr lang="en-US" dirty="0"/>
              <a:t>Automated prediction of trends and behaviors</a:t>
            </a:r>
          </a:p>
          <a:p>
            <a:pPr lvl="1" algn="just"/>
            <a:r>
              <a:rPr lang="en-US" dirty="0"/>
              <a:t>Automated discovery of previously unknown patterns: It can identify hidden patterns like fraudulent credit card transaction.</a:t>
            </a:r>
          </a:p>
          <a:p>
            <a:pPr lvl="1" algn="just"/>
            <a:r>
              <a:rPr lang="en-US" dirty="0"/>
              <a:t>Data mining scans full database variable rather than selecting limited variables.</a:t>
            </a:r>
          </a:p>
        </p:txBody>
      </p:sp>
      <p:sp>
        <p:nvSpPr>
          <p:cNvPr id="4" name="Slide Number Placeholder 3">
            <a:extLst>
              <a:ext uri="{FF2B5EF4-FFF2-40B4-BE49-F238E27FC236}">
                <a16:creationId xmlns:a16="http://schemas.microsoft.com/office/drawing/2014/main" id="{C6EB705C-FBB8-C43A-D0A3-74D1341176FA}"/>
              </a:ext>
            </a:extLst>
          </p:cNvPr>
          <p:cNvSpPr>
            <a:spLocks noGrp="1"/>
          </p:cNvSpPr>
          <p:nvPr>
            <p:ph type="sldNum" sz="quarter" idx="12"/>
          </p:nvPr>
        </p:nvSpPr>
        <p:spPr/>
        <p:txBody>
          <a:bodyPr/>
          <a:lstStyle/>
          <a:p>
            <a:fld id="{D57F1E4F-1CFF-5643-939E-217C01CDF565}" type="slidenum">
              <a:rPr lang="en-US" smtClean="0"/>
              <a:pPr/>
              <a:t>29</a:t>
            </a:fld>
            <a:endParaRPr lang="en-US" dirty="0"/>
          </a:p>
        </p:txBody>
      </p:sp>
    </p:spTree>
    <p:extLst>
      <p:ext uri="{BB962C8B-B14F-4D97-AF65-F5344CB8AC3E}">
        <p14:creationId xmlns:p14="http://schemas.microsoft.com/office/powerpoint/2010/main" val="12628627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Big Data</a:t>
            </a:r>
          </a:p>
        </p:txBody>
      </p:sp>
      <p:sp>
        <p:nvSpPr>
          <p:cNvPr id="3" name="Content Placeholder 2"/>
          <p:cNvSpPr>
            <a:spLocks noGrp="1"/>
          </p:cNvSpPr>
          <p:nvPr>
            <p:ph idx="1"/>
          </p:nvPr>
        </p:nvSpPr>
        <p:spPr/>
        <p:txBody>
          <a:bodyPr>
            <a:normAutofit/>
          </a:bodyPr>
          <a:lstStyle/>
          <a:p>
            <a:pPr algn="just"/>
            <a:r>
              <a:rPr lang="en-US" dirty="0"/>
              <a:t>Big data is high volume, high velocity and/or high variety information assets that demand cost effective, innovative forms of information processing that enable enhanced insight, decision making , and automation.</a:t>
            </a:r>
          </a:p>
          <a:p>
            <a:pPr lvl="1" algn="just"/>
            <a:r>
              <a:rPr lang="en-US" dirty="0"/>
              <a:t>Volume: Large amount of data- Terabyte to zettabyte</a:t>
            </a:r>
          </a:p>
          <a:p>
            <a:pPr lvl="1" algn="just"/>
            <a:r>
              <a:rPr lang="en-US" dirty="0"/>
              <a:t>Velocity: Large amount of data from transactions with high refresh rate, time to act on the basis of these data streams will often be very short 30KB to 30GBPS</a:t>
            </a:r>
          </a:p>
          <a:p>
            <a:pPr lvl="1" algn="just"/>
            <a:r>
              <a:rPr lang="en-US" dirty="0"/>
              <a:t>Variety: Data from different data sources(enterprise data, experimental/observational data, social media), data types( structured, unstructured, and semi structured)</a:t>
            </a:r>
          </a:p>
        </p:txBody>
      </p:sp>
      <p:sp>
        <p:nvSpPr>
          <p:cNvPr id="4" name="Slide Number Placeholder 3">
            <a:extLst>
              <a:ext uri="{FF2B5EF4-FFF2-40B4-BE49-F238E27FC236}">
                <a16:creationId xmlns:a16="http://schemas.microsoft.com/office/drawing/2014/main" id="{F2D6E86E-4BA6-B3C0-2F32-740E26BB83FC}"/>
              </a:ext>
            </a:extLst>
          </p:cNvPr>
          <p:cNvSpPr>
            <a:spLocks noGrp="1"/>
          </p:cNvSpPr>
          <p:nvPr>
            <p:ph type="sldNum" sz="quarter" idx="12"/>
          </p:nvPr>
        </p:nvSpPr>
        <p:spPr/>
        <p:txBody>
          <a:bodyPr/>
          <a:lstStyle/>
          <a:p>
            <a:fld id="{D57F1E4F-1CFF-5643-939E-217C01CDF565}" type="slidenum">
              <a:rPr lang="en-US" smtClean="0"/>
              <a:pPr/>
              <a:t>30</a:t>
            </a:fld>
            <a:endParaRPr lang="en-US" dirty="0"/>
          </a:p>
        </p:txBody>
      </p:sp>
    </p:spTree>
    <p:extLst>
      <p:ext uri="{BB962C8B-B14F-4D97-AF65-F5344CB8AC3E}">
        <p14:creationId xmlns:p14="http://schemas.microsoft.com/office/powerpoint/2010/main" val="22023315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Big Data</a:t>
            </a:r>
          </a:p>
        </p:txBody>
      </p:sp>
      <p:sp>
        <p:nvSpPr>
          <p:cNvPr id="4" name="Slide Number Placeholder 3">
            <a:extLst>
              <a:ext uri="{FF2B5EF4-FFF2-40B4-BE49-F238E27FC236}">
                <a16:creationId xmlns:a16="http://schemas.microsoft.com/office/drawing/2014/main" id="{F2D6E86E-4BA6-B3C0-2F32-740E26BB83FC}"/>
              </a:ext>
            </a:extLst>
          </p:cNvPr>
          <p:cNvSpPr>
            <a:spLocks noGrp="1"/>
          </p:cNvSpPr>
          <p:nvPr>
            <p:ph type="sldNum" sz="quarter" idx="12"/>
          </p:nvPr>
        </p:nvSpPr>
        <p:spPr/>
        <p:txBody>
          <a:bodyPr/>
          <a:lstStyle/>
          <a:p>
            <a:fld id="{D57F1E4F-1CFF-5643-939E-217C01CDF565}" type="slidenum">
              <a:rPr lang="en-US" smtClean="0"/>
              <a:pPr/>
              <a:t>31</a:t>
            </a:fld>
            <a:endParaRPr lang="en-US" dirty="0"/>
          </a:p>
        </p:txBody>
      </p:sp>
      <p:pic>
        <p:nvPicPr>
          <p:cNvPr id="8" name="Content Placeholder 7">
            <a:extLst>
              <a:ext uri="{FF2B5EF4-FFF2-40B4-BE49-F238E27FC236}">
                <a16:creationId xmlns:a16="http://schemas.microsoft.com/office/drawing/2014/main" id="{8B4BF8E3-3E51-EC49-0CEB-870E2DCCB445}"/>
              </a:ext>
            </a:extLst>
          </p:cNvPr>
          <p:cNvPicPr>
            <a:picLocks noGrp="1" noChangeAspect="1"/>
          </p:cNvPicPr>
          <p:nvPr>
            <p:ph idx="1"/>
          </p:nvPr>
        </p:nvPicPr>
        <p:blipFill>
          <a:blip r:embed="rId2"/>
          <a:stretch>
            <a:fillRect/>
          </a:stretch>
        </p:blipFill>
        <p:spPr>
          <a:xfrm>
            <a:off x="3690324" y="1905000"/>
            <a:ext cx="6716888" cy="3778250"/>
          </a:xfrm>
        </p:spPr>
      </p:pic>
    </p:spTree>
    <p:extLst>
      <p:ext uri="{BB962C8B-B14F-4D97-AF65-F5344CB8AC3E}">
        <p14:creationId xmlns:p14="http://schemas.microsoft.com/office/powerpoint/2010/main" val="27101484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sp>
        <p:nvSpPr>
          <p:cNvPr id="3" name="Content Placeholder 2"/>
          <p:cNvSpPr>
            <a:spLocks noGrp="1"/>
          </p:cNvSpPr>
          <p:nvPr>
            <p:ph idx="1"/>
          </p:nvPr>
        </p:nvSpPr>
        <p:spPr/>
        <p:txBody>
          <a:bodyPr/>
          <a:lstStyle/>
          <a:p>
            <a:r>
              <a:rPr lang="en-US" dirty="0"/>
              <a:t>Write short notes on:</a:t>
            </a:r>
          </a:p>
          <a:p>
            <a:r>
              <a:rPr lang="en-US" dirty="0"/>
              <a:t>Database Users</a:t>
            </a:r>
          </a:p>
          <a:p>
            <a:r>
              <a:rPr lang="en-US" dirty="0"/>
              <a:t>Database Administrator</a:t>
            </a:r>
          </a:p>
          <a:p>
            <a:r>
              <a:rPr lang="en-US" dirty="0"/>
              <a:t>Database </a:t>
            </a:r>
            <a:r>
              <a:rPr lang="en-US"/>
              <a:t>system architecture</a:t>
            </a:r>
            <a:endParaRPr lang="en-US" dirty="0"/>
          </a:p>
          <a:p>
            <a:r>
              <a:rPr lang="en-US" dirty="0"/>
              <a:t>Data warehouse</a:t>
            </a:r>
          </a:p>
          <a:p>
            <a:r>
              <a:rPr lang="en-US" dirty="0"/>
              <a:t>Data mining</a:t>
            </a:r>
          </a:p>
          <a:p>
            <a:r>
              <a:rPr lang="en-US" dirty="0"/>
              <a:t>Bigdata</a:t>
            </a:r>
          </a:p>
        </p:txBody>
      </p:sp>
      <p:sp>
        <p:nvSpPr>
          <p:cNvPr id="4" name="Slide Number Placeholder 3">
            <a:extLst>
              <a:ext uri="{FF2B5EF4-FFF2-40B4-BE49-F238E27FC236}">
                <a16:creationId xmlns:a16="http://schemas.microsoft.com/office/drawing/2014/main" id="{1A22FF7F-5354-F2F7-2F60-B72E997BE0EC}"/>
              </a:ext>
            </a:extLst>
          </p:cNvPr>
          <p:cNvSpPr>
            <a:spLocks noGrp="1"/>
          </p:cNvSpPr>
          <p:nvPr>
            <p:ph type="sldNum" sz="quarter" idx="12"/>
          </p:nvPr>
        </p:nvSpPr>
        <p:spPr/>
        <p:txBody>
          <a:bodyPr/>
          <a:lstStyle/>
          <a:p>
            <a:fld id="{D57F1E4F-1CFF-5643-939E-217C01CDF565}" type="slidenum">
              <a:rPr lang="en-US" smtClean="0"/>
              <a:pPr/>
              <a:t>32</a:t>
            </a:fld>
            <a:endParaRPr lang="en-US" dirty="0"/>
          </a:p>
        </p:txBody>
      </p:sp>
    </p:spTree>
    <p:extLst>
      <p:ext uri="{BB962C8B-B14F-4D97-AF65-F5344CB8AC3E}">
        <p14:creationId xmlns:p14="http://schemas.microsoft.com/office/powerpoint/2010/main" val="232932275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520</TotalTime>
  <Words>2049</Words>
  <Application>Microsoft Office PowerPoint</Application>
  <PresentationFormat>Widescreen</PresentationFormat>
  <Paragraphs>201</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Century Gothic</vt:lpstr>
      <vt:lpstr>Wingdings</vt:lpstr>
      <vt:lpstr>Wingdings 3</vt:lpstr>
      <vt:lpstr>Wisp</vt:lpstr>
      <vt:lpstr>Unit 4 Database Management System</vt:lpstr>
      <vt:lpstr>Syllabus</vt:lpstr>
      <vt:lpstr>Data &amp; Information</vt:lpstr>
      <vt:lpstr>Database:</vt:lpstr>
      <vt:lpstr>Characteristics of data in database:</vt:lpstr>
      <vt:lpstr>PowerPoint Presentation</vt:lpstr>
      <vt:lpstr>Database Management System:</vt:lpstr>
      <vt:lpstr>PowerPoint Presentation</vt:lpstr>
      <vt:lpstr>Example:</vt:lpstr>
      <vt:lpstr>Objective of DBMS</vt:lpstr>
      <vt:lpstr>Components of Database System</vt:lpstr>
      <vt:lpstr>  Applications of DBMS: </vt:lpstr>
      <vt:lpstr>  Disadvantages of DBMS</vt:lpstr>
      <vt:lpstr>Question 1:</vt:lpstr>
      <vt:lpstr>Database System Architectures </vt:lpstr>
      <vt:lpstr>Centralized Database Architecture </vt:lpstr>
      <vt:lpstr>Centralized Database Architecture </vt:lpstr>
      <vt:lpstr>Decentralized Database Architecture </vt:lpstr>
      <vt:lpstr>Decentralized Database Architecture </vt:lpstr>
      <vt:lpstr>1 tier architecture(Standalone)</vt:lpstr>
      <vt:lpstr>2 tier architecture(Client Server Architecture)</vt:lpstr>
      <vt:lpstr>3 tier architecture</vt:lpstr>
      <vt:lpstr>Database users and administrators</vt:lpstr>
      <vt:lpstr>PowerPoint Presentation</vt:lpstr>
      <vt:lpstr>Data Warehouse</vt:lpstr>
      <vt:lpstr>Data warehousing</vt:lpstr>
      <vt:lpstr>Data cube</vt:lpstr>
      <vt:lpstr>Characteristics of Data Warehouse</vt:lpstr>
      <vt:lpstr>Data mining</vt:lpstr>
      <vt:lpstr>Big Data</vt:lpstr>
      <vt:lpstr>Big Data</vt:lpstr>
      <vt:lpstr>Question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4 Database Management System</dc:title>
  <dc:creator>Hp</dc:creator>
  <cp:lastModifiedBy>Yachu</cp:lastModifiedBy>
  <cp:revision>51</cp:revision>
  <dcterms:created xsi:type="dcterms:W3CDTF">2023-01-25T06:12:40Z</dcterms:created>
  <dcterms:modified xsi:type="dcterms:W3CDTF">2024-02-11T05:43:33Z</dcterms:modified>
</cp:coreProperties>
</file>