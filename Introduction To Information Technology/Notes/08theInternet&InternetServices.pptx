
<file path=[Content_Types].xml><?xml version="1.0" encoding="utf-8"?>
<Types xmlns="http://schemas.openxmlformats.org/package/2006/content-types">
  <Default Extension="1&amp;s=af8659f0cbbb73d31ad89c1ff1ca2296" ContentType="image/jpeg"/>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Lst>
  <p:notesMasterIdLst>
    <p:notesMasterId r:id="rId80"/>
  </p:notesMasterIdLst>
  <p:sldIdLst>
    <p:sldId id="256" r:id="rId2"/>
    <p:sldId id="257" r:id="rId3"/>
    <p:sldId id="258" r:id="rId4"/>
    <p:sldId id="259" r:id="rId5"/>
    <p:sldId id="302" r:id="rId6"/>
    <p:sldId id="303" r:id="rId7"/>
    <p:sldId id="305" r:id="rId8"/>
    <p:sldId id="304" r:id="rId9"/>
    <p:sldId id="306" r:id="rId10"/>
    <p:sldId id="308" r:id="rId11"/>
    <p:sldId id="309" r:id="rId12"/>
    <p:sldId id="310" r:id="rId13"/>
    <p:sldId id="311" r:id="rId14"/>
    <p:sldId id="313" r:id="rId15"/>
    <p:sldId id="312" r:id="rId16"/>
    <p:sldId id="307" r:id="rId17"/>
    <p:sldId id="285" r:id="rId18"/>
    <p:sldId id="287" r:id="rId19"/>
    <p:sldId id="263" r:id="rId20"/>
    <p:sldId id="335"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286" r:id="rId36"/>
    <p:sldId id="264"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280" r:id="rId53"/>
    <p:sldId id="281" r:id="rId54"/>
    <p:sldId id="282" r:id="rId55"/>
    <p:sldId id="283" r:id="rId56"/>
    <p:sldId id="329" r:id="rId57"/>
    <p:sldId id="330" r:id="rId58"/>
    <p:sldId id="331" r:id="rId59"/>
    <p:sldId id="332" r:id="rId60"/>
    <p:sldId id="333" r:id="rId61"/>
    <p:sldId id="334" r:id="rId62"/>
    <p:sldId id="265" r:id="rId63"/>
    <p:sldId id="266" r:id="rId64"/>
    <p:sldId id="262" r:id="rId65"/>
    <p:sldId id="267" r:id="rId66"/>
    <p:sldId id="268" r:id="rId67"/>
    <p:sldId id="269" r:id="rId68"/>
    <p:sldId id="270" r:id="rId69"/>
    <p:sldId id="271" r:id="rId70"/>
    <p:sldId id="272" r:id="rId71"/>
    <p:sldId id="273" r:id="rId72"/>
    <p:sldId id="274" r:id="rId73"/>
    <p:sldId id="275" r:id="rId74"/>
    <p:sldId id="276" r:id="rId75"/>
    <p:sldId id="277" r:id="rId76"/>
    <p:sldId id="278" r:id="rId77"/>
    <p:sldId id="279" r:id="rId78"/>
    <p:sldId id="284"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32830-BA25-4274-A531-40EF424F641E}" type="datetimeFigureOut">
              <a:rPr lang="en-US" smtClean="0"/>
              <a:t>1/17/2024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CE6E10-B447-4E80-B1CE-B7082135C0FF}" type="slidenum">
              <a:rPr lang="en-US" smtClean="0"/>
              <a:t>‹#›</a:t>
            </a:fld>
            <a:endParaRPr lang="en-US"/>
          </a:p>
        </p:txBody>
      </p:sp>
    </p:spTree>
    <p:extLst>
      <p:ext uri="{BB962C8B-B14F-4D97-AF65-F5344CB8AC3E}">
        <p14:creationId xmlns:p14="http://schemas.microsoft.com/office/powerpoint/2010/main" val="2087432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71B56BE-624A-4B64-9C3B-940A974A31BF}" type="datetimeFigureOut">
              <a:rPr lang="en-US" smtClean="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78140086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1B56BE-624A-4B64-9C3B-940A974A31BF}" type="datetimeFigureOut">
              <a:rPr lang="en-US" smtClean="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359258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71B56BE-624A-4B64-9C3B-940A974A31BF}" type="datetimeFigureOut">
              <a:rPr lang="en-US" smtClean="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87143019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71B56BE-624A-4B64-9C3B-940A974A31BF}" type="datetimeFigureOut">
              <a:rPr lang="en-US" smtClean="0"/>
              <a:t>1/17/2024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72984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71B56BE-624A-4B64-9C3B-940A974A31BF}" type="datetimeFigureOut">
              <a:rPr lang="en-US" smtClean="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44449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1B56BE-624A-4B64-9C3B-940A974A31BF}" type="datetimeFigureOut">
              <a:rPr lang="en-US" smtClean="0"/>
              <a:t>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22557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1B56BE-624A-4B64-9C3B-940A974A31BF}" type="datetimeFigureOut">
              <a:rPr lang="en-US" smtClean="0"/>
              <a:t>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203833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71B56BE-624A-4B64-9C3B-940A974A31BF}" type="datetimeFigureOut">
              <a:rPr lang="en-US" smtClean="0"/>
              <a:t>1/17/2024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133513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71B56BE-624A-4B64-9C3B-940A974A31BF}" type="datetimeFigureOut">
              <a:rPr lang="en-US" smtClean="0"/>
              <a:t>1/17/2024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144099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1B56BE-624A-4B64-9C3B-940A974A31BF}"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2706764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1B56BE-624A-4B64-9C3B-940A974A31BF}"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115075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71B56BE-624A-4B64-9C3B-940A974A31BF}" type="datetimeFigureOut">
              <a:rPr lang="en-US" smtClean="0"/>
              <a:t>1/17/2024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6CD995C-22B0-4CDA-991E-B9ED335A84B6}" type="slidenum">
              <a:rPr lang="en-US" smtClean="0"/>
              <a:t>‹#›</a:t>
            </a:fld>
            <a:endParaRPr lang="en-US"/>
          </a:p>
        </p:txBody>
      </p:sp>
    </p:spTree>
    <p:extLst>
      <p:ext uri="{BB962C8B-B14F-4D97-AF65-F5344CB8AC3E}">
        <p14:creationId xmlns:p14="http://schemas.microsoft.com/office/powerpoint/2010/main" val="224055534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web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www.ntc.org.np/"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webp"/><Relationship Id="rId2" Type="http://schemas.openxmlformats.org/officeDocument/2006/relationships/hyperlink" Target="http://tuservicescommision.edu.np/notice.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web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1&amp;s=af8659f0cbbb73d31ad89c1ff1ca2296"/><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www.example.com/"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EAB905-6F13-0E3C-F8E7-FA5180CD5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7022969"/>
          </a:xfrm>
          <a:prstGeom prst="rect">
            <a:avLst/>
          </a:prstGeom>
        </p:spPr>
      </p:pic>
      <p:sp>
        <p:nvSpPr>
          <p:cNvPr id="2" name="Title 1"/>
          <p:cNvSpPr>
            <a:spLocks noGrp="1"/>
          </p:cNvSpPr>
          <p:nvPr>
            <p:ph type="ctrTitle"/>
          </p:nvPr>
        </p:nvSpPr>
        <p:spPr>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a:normAutofit/>
          </a:bodyPr>
          <a:lstStyle/>
          <a:p>
            <a:r>
              <a:rPr lang="en-US" dirty="0">
                <a:latin typeface="Bahnschrift SemiBold Condensed" panose="020B0502040204020203" pitchFamily="34" charset="0"/>
              </a:rPr>
              <a:t>Unit 8</a:t>
            </a:r>
            <a:br>
              <a:rPr lang="en-US" dirty="0">
                <a:latin typeface="Bahnschrift SemiBold Condensed" panose="020B0502040204020203" pitchFamily="34" charset="0"/>
              </a:rPr>
            </a:br>
            <a:r>
              <a:rPr lang="en-US" dirty="0">
                <a:latin typeface="Bahnschrift SemiBold Condensed" panose="020B0502040204020203" pitchFamily="34" charset="0"/>
              </a:rPr>
              <a:t>The internet and </a:t>
            </a:r>
            <a:r>
              <a:rPr lang="en-US">
                <a:latin typeface="Bahnschrift SemiBold Condensed" panose="020B0502040204020203" pitchFamily="34" charset="0"/>
              </a:rPr>
              <a:t>internet services</a:t>
            </a:r>
            <a:endParaRPr lang="en-US" dirty="0">
              <a:latin typeface="Bahnschrift SemiBold Condensed" panose="020B0502040204020203" pitchFamily="34" charset="0"/>
            </a:endParaRPr>
          </a:p>
        </p:txBody>
      </p:sp>
    </p:spTree>
    <p:extLst>
      <p:ext uri="{BB962C8B-B14F-4D97-AF65-F5344CB8AC3E}">
        <p14:creationId xmlns:p14="http://schemas.microsoft.com/office/powerpoint/2010/main" val="2783484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8A694A-7D7C-3656-ABB9-D8750ACDD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b="1" dirty="0"/>
              <a:t>History of Internet</a:t>
            </a:r>
          </a:p>
        </p:txBody>
      </p:sp>
      <p:sp>
        <p:nvSpPr>
          <p:cNvPr id="3" name="Content Placeholder 2"/>
          <p:cNvSpPr>
            <a:spLocks noGrp="1"/>
          </p:cNvSpPr>
          <p:nvPr>
            <p:ph idx="1"/>
          </p:nvPr>
        </p:nvSpPr>
        <p:spPr>
          <a:xfrm>
            <a:off x="782425" y="2638044"/>
            <a:ext cx="11010507" cy="3809890"/>
          </a:xfrm>
          <a:solidFill>
            <a:schemeClr val="tx2">
              <a:lumMod val="50000"/>
            </a:schemeClr>
          </a:solidFill>
        </p:spPr>
        <p:txBody>
          <a:bodyPr>
            <a:normAutofit fontScale="92500" lnSpcReduction="10000"/>
          </a:bodyPr>
          <a:lstStyle/>
          <a:p>
            <a:pPr algn="just"/>
            <a:r>
              <a:rPr lang="en-US" dirty="0">
                <a:solidFill>
                  <a:schemeClr val="bg1">
                    <a:lumMod val="95000"/>
                  </a:schemeClr>
                </a:solidFill>
              </a:rPr>
              <a:t>In1957 During Cold War,  Soviet Union projected first artificial satellite Sputnik in to the space.</a:t>
            </a:r>
          </a:p>
          <a:p>
            <a:pPr algn="just"/>
            <a:r>
              <a:rPr lang="en-US" dirty="0">
                <a:solidFill>
                  <a:schemeClr val="bg1">
                    <a:lumMod val="95000"/>
                  </a:schemeClr>
                </a:solidFill>
              </a:rPr>
              <a:t>In1960s, when the U.S. Department of Defense's Advanced Research Projects Agency (ARPA later called DARPA)  began researching ways to create a decentralized communication system that would be resilient in the event of a nuclear attack.</a:t>
            </a:r>
          </a:p>
          <a:p>
            <a:pPr algn="just"/>
            <a:r>
              <a:rPr lang="en-US" dirty="0">
                <a:solidFill>
                  <a:schemeClr val="bg1">
                    <a:lumMod val="95000"/>
                  </a:schemeClr>
                </a:solidFill>
              </a:rPr>
              <a:t>In the late 1960s, ARPA's research resulted in the creation of the ARPANET, a network of 2 computers that were connected to each other using packet switching technology. Packet switching allowed data to be broken up into small packets and sent over a network, with each packet being routed individually based on the destination address.</a:t>
            </a:r>
          </a:p>
          <a:p>
            <a:pPr algn="just"/>
            <a:r>
              <a:rPr lang="en-US" dirty="0">
                <a:solidFill>
                  <a:schemeClr val="bg1">
                    <a:lumMod val="95000"/>
                  </a:schemeClr>
                </a:solidFill>
              </a:rPr>
              <a:t>In the 1970s, ARPANET grew rapidly, connecting hundreds of universities and research institutions across the United States. TCP/IP protocol was used for standardizing packeting. The development of email and file transfer protocols made the network even more useful for sharing information.</a:t>
            </a:r>
          </a:p>
          <a:p>
            <a:pPr algn="just"/>
            <a:r>
              <a:rPr lang="en-US" dirty="0">
                <a:solidFill>
                  <a:schemeClr val="bg1">
                    <a:lumMod val="95000"/>
                  </a:schemeClr>
                </a:solidFill>
              </a:rPr>
              <a:t>In the 1980s, the National Science Foundation (NSF) created NSFNET, a faster and more reliable network that was open to all academic and research institutions. This led to the creation of the first internet service providers (ISPs), which provided commercial internet access to businesses and consumers.</a:t>
            </a:r>
          </a:p>
          <a:p>
            <a:pPr algn="just"/>
            <a:endParaRPr lang="en-US" dirty="0"/>
          </a:p>
        </p:txBody>
      </p:sp>
    </p:spTree>
    <p:extLst>
      <p:ext uri="{BB962C8B-B14F-4D97-AF65-F5344CB8AC3E}">
        <p14:creationId xmlns:p14="http://schemas.microsoft.com/office/powerpoint/2010/main" val="1781434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FE1FFC-E844-74F6-3696-64F32222A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p:cNvSpPr>
            <a:spLocks noGrp="1"/>
          </p:cNvSpPr>
          <p:nvPr>
            <p:ph type="title"/>
          </p:nvPr>
        </p:nvSpPr>
        <p:spPr/>
        <p:txBody>
          <a:bodyPr/>
          <a:lstStyle/>
          <a:p>
            <a:r>
              <a:rPr lang="en-US" b="1" dirty="0"/>
              <a:t>History of Internet</a:t>
            </a:r>
          </a:p>
        </p:txBody>
      </p:sp>
      <p:sp>
        <p:nvSpPr>
          <p:cNvPr id="3" name="Content Placeholder 2"/>
          <p:cNvSpPr>
            <a:spLocks noGrp="1"/>
          </p:cNvSpPr>
          <p:nvPr>
            <p:ph idx="1"/>
          </p:nvPr>
        </p:nvSpPr>
        <p:spPr>
          <a:xfrm>
            <a:off x="4317726" y="2638044"/>
            <a:ext cx="7729729" cy="4139828"/>
          </a:xfrm>
          <a:solidFill>
            <a:schemeClr val="bg1"/>
          </a:solidFill>
        </p:spPr>
        <p:txBody>
          <a:bodyPr>
            <a:normAutofit/>
          </a:bodyPr>
          <a:lstStyle/>
          <a:p>
            <a:pPr algn="just"/>
            <a:r>
              <a:rPr lang="en-US" dirty="0"/>
              <a:t>The 1990s saw introduction World Wide Web developed by Tim Berners Lee, which made it easy to access and share information on the internet using a graphical interface. The introduction of web browsers like Mosaic and Netscape made it easy for non-technical users to navigate the web and find information. HTML is used to develop webpages till now.</a:t>
            </a:r>
          </a:p>
          <a:p>
            <a:pPr algn="just"/>
            <a:r>
              <a:rPr lang="en-US" dirty="0"/>
              <a:t>In the early 2000s, social networking sites like Friendster and </a:t>
            </a:r>
            <a:r>
              <a:rPr lang="en-US" dirty="0" err="1"/>
              <a:t>MySpace</a:t>
            </a:r>
            <a:r>
              <a:rPr lang="en-US" dirty="0"/>
              <a:t> emerged, making it easy for users to connect and share information with each other online. The rise of mobile devices like smartphones and tablets led to a shift towards mobile-first web design, with websites and apps being optimized for small screens.</a:t>
            </a:r>
          </a:p>
          <a:p>
            <a:pPr algn="just"/>
            <a:r>
              <a:rPr lang="en-US" dirty="0"/>
              <a:t>Today, the internet has become an essential part of modern life, with billions of people using it every day for everything from communication and entertainment to shopping and education.</a:t>
            </a:r>
          </a:p>
        </p:txBody>
      </p:sp>
    </p:spTree>
    <p:extLst>
      <p:ext uri="{BB962C8B-B14F-4D97-AF65-F5344CB8AC3E}">
        <p14:creationId xmlns:p14="http://schemas.microsoft.com/office/powerpoint/2010/main" val="1943512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Internetworking Protocol</a:t>
            </a:r>
          </a:p>
        </p:txBody>
      </p:sp>
      <p:sp>
        <p:nvSpPr>
          <p:cNvPr id="3" name="Content Placeholder 2"/>
          <p:cNvSpPr>
            <a:spLocks noGrp="1"/>
          </p:cNvSpPr>
          <p:nvPr>
            <p:ph idx="1"/>
          </p:nvPr>
        </p:nvSpPr>
        <p:spPr>
          <a:xfrm>
            <a:off x="576859" y="2358155"/>
            <a:ext cx="11202186" cy="4083267"/>
          </a:xfrm>
        </p:spPr>
        <p:txBody>
          <a:bodyPr>
            <a:noAutofit/>
          </a:bodyPr>
          <a:lstStyle/>
          <a:p>
            <a:pPr algn="just">
              <a:buClrTx/>
              <a:buFont typeface="Wingdings" panose="05000000000000000000" pitchFamily="2" charset="2"/>
              <a:buChar char="Ø"/>
            </a:pPr>
            <a:r>
              <a:rPr lang="en-US" sz="2000" dirty="0"/>
              <a:t>A protocol is the set of standard rules for data representation, signaling, authentication and error detection required to send information over a communications channel.</a:t>
            </a:r>
          </a:p>
          <a:p>
            <a:pPr algn="just">
              <a:buClrTx/>
              <a:buFont typeface="Wingdings" panose="05000000000000000000" pitchFamily="2" charset="2"/>
              <a:buChar char="Ø"/>
            </a:pPr>
            <a:r>
              <a:rPr lang="en-US" sz="2000" dirty="0"/>
              <a:t>TCP/IP is the protocol used in the Internet.</a:t>
            </a:r>
          </a:p>
          <a:p>
            <a:pPr marL="0" indent="0" algn="just">
              <a:buNone/>
            </a:pPr>
            <a:r>
              <a:rPr lang="en-US" sz="2000" dirty="0"/>
              <a:t>How TCP/IP works?</a:t>
            </a:r>
          </a:p>
          <a:p>
            <a:pPr lvl="6">
              <a:buClrTx/>
              <a:buFont typeface="Wingdings" panose="05000000000000000000" pitchFamily="2" charset="2"/>
              <a:buChar char="ü"/>
            </a:pPr>
            <a:r>
              <a:rPr lang="en-US" sz="2000" dirty="0"/>
              <a:t>TCP protocol breaks data in packet containing address, sequencing information and error control information. Error control information is used to check that the packet arrived at the destination is the same as that sent from the source.</a:t>
            </a:r>
          </a:p>
          <a:p>
            <a:pPr lvl="5">
              <a:buClr>
                <a:schemeClr val="tx1"/>
              </a:buClr>
              <a:buFont typeface="Wingdings" panose="05000000000000000000" pitchFamily="2" charset="2"/>
              <a:buChar char="ü"/>
            </a:pPr>
            <a:r>
              <a:rPr lang="en-US" sz="2000" dirty="0"/>
              <a:t>IP handles the transmission of packets over the network. It handles the addressing of packets and ensures that a packet reaches its destination traveling through multiple networks with multiple standards</a:t>
            </a:r>
          </a:p>
          <a:p>
            <a:pPr lvl="5">
              <a:buClr>
                <a:schemeClr val="tx1"/>
              </a:buClr>
              <a:buFont typeface="Wingdings" panose="05000000000000000000" pitchFamily="2" charset="2"/>
              <a:buChar char="ü"/>
            </a:pPr>
            <a:r>
              <a:rPr lang="en-US" sz="2000" i="0" dirty="0">
                <a:solidFill>
                  <a:srgbClr val="000000"/>
                </a:solidFill>
                <a:effectLst/>
                <a:latin typeface="+mj-lt"/>
              </a:rPr>
              <a:t>TCP sequencing information in the packet is used to reassemble the packets in order, at their destination</a:t>
            </a:r>
          </a:p>
          <a:p>
            <a:pPr>
              <a:buClr>
                <a:schemeClr val="tx1"/>
              </a:buClr>
              <a:buFont typeface="Wingdings" panose="05000000000000000000" pitchFamily="2" charset="2"/>
              <a:buChar char="ü"/>
            </a:pPr>
            <a:endParaRPr lang="en-US" sz="2000" dirty="0"/>
          </a:p>
        </p:txBody>
      </p:sp>
    </p:spTree>
    <p:extLst>
      <p:ext uri="{BB962C8B-B14F-4D97-AF65-F5344CB8AC3E}">
        <p14:creationId xmlns:p14="http://schemas.microsoft.com/office/powerpoint/2010/main" val="138386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Transmission Control Protocol(tcp)</a:t>
            </a:r>
          </a:p>
        </p:txBody>
      </p:sp>
      <p:sp>
        <p:nvSpPr>
          <p:cNvPr id="3" name="Content Placeholder 2"/>
          <p:cNvSpPr>
            <a:spLocks noGrp="1"/>
          </p:cNvSpPr>
          <p:nvPr>
            <p:ph idx="1"/>
          </p:nvPr>
        </p:nvSpPr>
        <p:spPr>
          <a:xfrm>
            <a:off x="989814" y="2638044"/>
            <a:ext cx="11202186" cy="4083267"/>
          </a:xfrm>
        </p:spPr>
        <p:txBody>
          <a:bodyPr>
            <a:noAutofit/>
          </a:bodyPr>
          <a:lstStyle/>
          <a:p>
            <a:pPr>
              <a:buClr>
                <a:schemeClr val="tx1"/>
              </a:buClr>
              <a:buFont typeface="Wingdings" panose="05000000000000000000" pitchFamily="2" charset="2"/>
              <a:buChar char="ü"/>
            </a:pPr>
            <a:r>
              <a:rPr lang="en-US" sz="2000" dirty="0"/>
              <a:t>Key features of TCP:</a:t>
            </a:r>
          </a:p>
          <a:p>
            <a:pPr>
              <a:buClr>
                <a:schemeClr val="tx1"/>
              </a:buClr>
              <a:buFont typeface="Wingdings" panose="05000000000000000000" pitchFamily="2" charset="2"/>
              <a:buChar char="ü"/>
            </a:pPr>
            <a:r>
              <a:rPr lang="en-US" sz="2000" dirty="0"/>
              <a:t>End to End Packet Delivery</a:t>
            </a:r>
          </a:p>
          <a:p>
            <a:pPr>
              <a:buClr>
                <a:schemeClr val="tx1"/>
              </a:buClr>
              <a:buFont typeface="Wingdings" panose="05000000000000000000" pitchFamily="2" charset="2"/>
              <a:buChar char="ü"/>
            </a:pPr>
            <a:r>
              <a:rPr lang="en-US" sz="2000" dirty="0"/>
              <a:t>Data Packeting</a:t>
            </a:r>
          </a:p>
          <a:p>
            <a:pPr>
              <a:buClr>
                <a:schemeClr val="tx1"/>
              </a:buClr>
              <a:buFont typeface="Wingdings" panose="05000000000000000000" pitchFamily="2" charset="2"/>
              <a:buChar char="ü"/>
            </a:pPr>
            <a:r>
              <a:rPr lang="en-US" sz="2000" dirty="0"/>
              <a:t>Reliable and connection oriented protocol</a:t>
            </a:r>
          </a:p>
          <a:p>
            <a:pPr>
              <a:buClr>
                <a:schemeClr val="tx1"/>
              </a:buClr>
              <a:buFont typeface="Wingdings" panose="05000000000000000000" pitchFamily="2" charset="2"/>
              <a:buChar char="ü"/>
            </a:pPr>
            <a:r>
              <a:rPr lang="en-US" sz="2000" dirty="0"/>
              <a:t>Efficient Flow control, Full duplex operation and Multiplexing</a:t>
            </a:r>
          </a:p>
          <a:p>
            <a:pPr>
              <a:buClr>
                <a:schemeClr val="tx1"/>
              </a:buClr>
              <a:buFont typeface="Wingdings" panose="05000000000000000000" pitchFamily="2" charset="2"/>
              <a:buChar char="ü"/>
            </a:pPr>
            <a:r>
              <a:rPr lang="en-US" sz="2000" dirty="0"/>
              <a:t>Ensures reliability by sequencing bytes with a forwarding acknowledgement number that indicates to the destination the next byte the source expect to receive</a:t>
            </a:r>
          </a:p>
          <a:p>
            <a:pPr>
              <a:buClr>
                <a:schemeClr val="tx1"/>
              </a:buClr>
              <a:buFont typeface="Wingdings" panose="05000000000000000000" pitchFamily="2" charset="2"/>
              <a:buChar char="ü"/>
            </a:pPr>
            <a:r>
              <a:rPr lang="en-US" sz="2000" dirty="0"/>
              <a:t>It retransmits the bytes not acknowledged with in specified time period</a:t>
            </a:r>
          </a:p>
          <a:p>
            <a:pPr marL="0" indent="0">
              <a:buClr>
                <a:schemeClr val="tx1"/>
              </a:buClr>
              <a:buNone/>
            </a:pPr>
            <a:endParaRPr lang="en-US" sz="2000" dirty="0"/>
          </a:p>
        </p:txBody>
      </p:sp>
    </p:spTree>
    <p:extLst>
      <p:ext uri="{BB962C8B-B14F-4D97-AF65-F5344CB8AC3E}">
        <p14:creationId xmlns:p14="http://schemas.microsoft.com/office/powerpoint/2010/main" val="343005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Protocol(IP)</a:t>
            </a:r>
          </a:p>
        </p:txBody>
      </p:sp>
      <p:sp>
        <p:nvSpPr>
          <p:cNvPr id="3" name="Content Placeholder 2"/>
          <p:cNvSpPr>
            <a:spLocks noGrp="1"/>
          </p:cNvSpPr>
          <p:nvPr>
            <p:ph idx="1"/>
          </p:nvPr>
        </p:nvSpPr>
        <p:spPr>
          <a:xfrm>
            <a:off x="989814" y="2638044"/>
            <a:ext cx="11202186" cy="4083267"/>
          </a:xfrm>
        </p:spPr>
        <p:txBody>
          <a:bodyPr>
            <a:noAutofit/>
          </a:bodyPr>
          <a:lstStyle/>
          <a:p>
            <a:pPr>
              <a:buClr>
                <a:schemeClr val="tx1"/>
              </a:buClr>
              <a:buFont typeface="Wingdings" panose="05000000000000000000" pitchFamily="2" charset="2"/>
              <a:buChar char="ü"/>
            </a:pPr>
            <a:r>
              <a:rPr lang="en-US" sz="2000" dirty="0"/>
              <a:t>Key features of IP:</a:t>
            </a:r>
          </a:p>
          <a:p>
            <a:pPr>
              <a:buClr>
                <a:schemeClr val="tx1"/>
              </a:buClr>
              <a:buFont typeface="Wingdings" panose="05000000000000000000" pitchFamily="2" charset="2"/>
              <a:buChar char="ü"/>
            </a:pPr>
            <a:r>
              <a:rPr lang="en-US" sz="2000" dirty="0"/>
              <a:t>Main purpose is IP is the delivery of datagrams(piece of data) from the source host(source computer) to the destination host(receiving computer) based on their IP addresses.</a:t>
            </a:r>
          </a:p>
          <a:p>
            <a:pPr>
              <a:buClr>
                <a:schemeClr val="tx1"/>
              </a:buClr>
              <a:buFont typeface="Wingdings" panose="05000000000000000000" pitchFamily="2" charset="2"/>
              <a:buChar char="ü"/>
            </a:pPr>
            <a:r>
              <a:rPr lang="en-US" sz="2000" dirty="0"/>
              <a:t>Path determination and Routing of data packets.</a:t>
            </a:r>
          </a:p>
          <a:p>
            <a:pPr>
              <a:buClr>
                <a:schemeClr val="tx1"/>
              </a:buClr>
              <a:buFont typeface="Wingdings" panose="05000000000000000000" pitchFamily="2" charset="2"/>
              <a:buChar char="ü"/>
            </a:pPr>
            <a:r>
              <a:rPr lang="en-US" sz="2000" dirty="0"/>
              <a:t>IP is connectionless and unreliable protocol that doesn’t ensures the successful transmission of data. That’s why it is paired with reliable protocol such as TCP layer.</a:t>
            </a:r>
          </a:p>
        </p:txBody>
      </p:sp>
    </p:spTree>
    <p:extLst>
      <p:ext uri="{BB962C8B-B14F-4D97-AF65-F5344CB8AC3E}">
        <p14:creationId xmlns:p14="http://schemas.microsoft.com/office/powerpoint/2010/main" val="439557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6FBD-A2B4-CC90-6DFC-2682F28EFE07}"/>
              </a:ext>
            </a:extLst>
          </p:cNvPr>
          <p:cNvSpPr>
            <a:spLocks noGrp="1"/>
          </p:cNvSpPr>
          <p:nvPr>
            <p:ph type="title"/>
          </p:nvPr>
        </p:nvSpPr>
        <p:spPr/>
        <p:txBody>
          <a:bodyPr/>
          <a:lstStyle/>
          <a:p>
            <a:r>
              <a:rPr lang="en-US" b="1" dirty="0"/>
              <a:t>File transfer protocol(ftp)</a:t>
            </a:r>
          </a:p>
        </p:txBody>
      </p:sp>
      <p:sp>
        <p:nvSpPr>
          <p:cNvPr id="3" name="Content Placeholder 2">
            <a:extLst>
              <a:ext uri="{FF2B5EF4-FFF2-40B4-BE49-F238E27FC236}">
                <a16:creationId xmlns:a16="http://schemas.microsoft.com/office/drawing/2014/main" id="{AD4C3561-F4D7-F092-AAD5-DF76ED5FA3D5}"/>
              </a:ext>
            </a:extLst>
          </p:cNvPr>
          <p:cNvSpPr>
            <a:spLocks noGrp="1"/>
          </p:cNvSpPr>
          <p:nvPr>
            <p:ph idx="1"/>
          </p:nvPr>
        </p:nvSpPr>
        <p:spPr>
          <a:xfrm>
            <a:off x="4059936" y="2647876"/>
            <a:ext cx="7729728" cy="3101983"/>
          </a:xfrm>
        </p:spPr>
        <p:txBody>
          <a:bodyPr/>
          <a:lstStyle/>
          <a:p>
            <a:r>
              <a:rPr lang="en-US" dirty="0"/>
              <a:t>Key features of FTP:</a:t>
            </a:r>
          </a:p>
          <a:p>
            <a:r>
              <a:rPr lang="en-US" dirty="0"/>
              <a:t>It is standard Internet protocol for transmitting files between computers on the Internet over TCP/IP connections.</a:t>
            </a:r>
          </a:p>
          <a:p>
            <a:r>
              <a:rPr lang="en-US" dirty="0"/>
              <a:t>Using FTP, a client can upload, download, delete, rename, move and copy files on a server.</a:t>
            </a:r>
          </a:p>
          <a:p>
            <a:r>
              <a:rPr lang="en-US" dirty="0"/>
              <a:t>User typically needs to log on to the FTP server.</a:t>
            </a:r>
          </a:p>
          <a:p>
            <a:r>
              <a:rPr lang="en-US" dirty="0"/>
              <a:t>Some server make some or all of their content available without login known as anonymous FTP.</a:t>
            </a:r>
          </a:p>
        </p:txBody>
      </p:sp>
      <p:pic>
        <p:nvPicPr>
          <p:cNvPr id="5" name="Picture 4">
            <a:extLst>
              <a:ext uri="{FF2B5EF4-FFF2-40B4-BE49-F238E27FC236}">
                <a16:creationId xmlns:a16="http://schemas.microsoft.com/office/drawing/2014/main" id="{C25C30D3-C81E-3BB7-1951-295235A244C4}"/>
              </a:ext>
            </a:extLst>
          </p:cNvPr>
          <p:cNvPicPr>
            <a:picLocks noChangeAspect="1"/>
          </p:cNvPicPr>
          <p:nvPr/>
        </p:nvPicPr>
        <p:blipFill rotWithShape="1">
          <a:blip r:embed="rId2">
            <a:extLst>
              <a:ext uri="{28A0092B-C50C-407E-A947-70E740481C1C}">
                <a14:useLocalDpi xmlns:a14="http://schemas.microsoft.com/office/drawing/2010/main" val="0"/>
              </a:ext>
            </a:extLst>
          </a:blip>
          <a:srcRect t="8535"/>
          <a:stretch/>
        </p:blipFill>
        <p:spPr>
          <a:xfrm>
            <a:off x="133471" y="3429000"/>
            <a:ext cx="3926465" cy="2018070"/>
          </a:xfrm>
          <a:prstGeom prst="rect">
            <a:avLst/>
          </a:prstGeom>
        </p:spPr>
      </p:pic>
    </p:spTree>
    <p:extLst>
      <p:ext uri="{BB962C8B-B14F-4D97-AF65-F5344CB8AC3E}">
        <p14:creationId xmlns:p14="http://schemas.microsoft.com/office/powerpoint/2010/main" val="2144019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Hypertext transfer protocol(http)</a:t>
            </a:r>
          </a:p>
        </p:txBody>
      </p:sp>
      <p:sp>
        <p:nvSpPr>
          <p:cNvPr id="3" name="Content Placeholder 2"/>
          <p:cNvSpPr>
            <a:spLocks noGrp="1"/>
          </p:cNvSpPr>
          <p:nvPr>
            <p:ph idx="1"/>
          </p:nvPr>
        </p:nvSpPr>
        <p:spPr>
          <a:xfrm>
            <a:off x="989814" y="2638044"/>
            <a:ext cx="11202186" cy="4083267"/>
          </a:xfrm>
        </p:spPr>
        <p:txBody>
          <a:bodyPr>
            <a:noAutofit/>
          </a:bodyPr>
          <a:lstStyle/>
          <a:p>
            <a:pPr>
              <a:buClr>
                <a:schemeClr val="tx1"/>
              </a:buClr>
              <a:buFont typeface="Wingdings" panose="05000000000000000000" pitchFamily="2" charset="2"/>
              <a:buChar char="ü"/>
            </a:pPr>
            <a:r>
              <a:rPr lang="en-US" sz="2000" dirty="0"/>
              <a:t>Key features of HTTP:</a:t>
            </a:r>
          </a:p>
          <a:p>
            <a:pPr>
              <a:buClr>
                <a:schemeClr val="tx1"/>
              </a:buClr>
              <a:buFont typeface="Wingdings" panose="05000000000000000000" pitchFamily="2" charset="2"/>
              <a:buChar char="ü"/>
            </a:pPr>
            <a:r>
              <a:rPr lang="en-US" sz="2000" dirty="0"/>
              <a:t>It is set of rules  for transferring files(text, graphic, images, sound, video, and other multimedia files) on the World Wide Web.</a:t>
            </a:r>
          </a:p>
          <a:p>
            <a:pPr>
              <a:buClr>
                <a:schemeClr val="tx1"/>
              </a:buClr>
              <a:buFont typeface="Wingdings" panose="05000000000000000000" pitchFamily="2" charset="2"/>
              <a:buChar char="ü"/>
            </a:pPr>
            <a:r>
              <a:rPr lang="en-US" sz="2000" dirty="0"/>
              <a:t>It is an application protocol that runs on top of the TCP/IP suite of protocols.</a:t>
            </a:r>
          </a:p>
          <a:p>
            <a:pPr>
              <a:buClr>
                <a:schemeClr val="tx1"/>
              </a:buClr>
              <a:buFont typeface="Wingdings" panose="05000000000000000000" pitchFamily="2" charset="2"/>
              <a:buChar char="ü"/>
            </a:pPr>
            <a:r>
              <a:rPr lang="en-US" sz="2000" dirty="0"/>
              <a:t>When you enter a URL  in your, this actually sends an HTTP command to the web server directing it to fetch and transmit the requested web page.</a:t>
            </a:r>
          </a:p>
          <a:p>
            <a:pPr marL="0" indent="0">
              <a:buClr>
                <a:schemeClr val="tx1"/>
              </a:buClr>
              <a:buNone/>
            </a:pPr>
            <a:endParaRPr lang="en-US" sz="2000" dirty="0"/>
          </a:p>
        </p:txBody>
      </p:sp>
      <p:pic>
        <p:nvPicPr>
          <p:cNvPr id="5" name="Picture 4">
            <a:extLst>
              <a:ext uri="{FF2B5EF4-FFF2-40B4-BE49-F238E27FC236}">
                <a16:creationId xmlns:a16="http://schemas.microsoft.com/office/drawing/2014/main" id="{E55DB16A-AB1C-4216-3D2A-40BB0E4C7F1C}"/>
              </a:ext>
            </a:extLst>
          </p:cNvPr>
          <p:cNvPicPr>
            <a:picLocks noChangeAspect="1"/>
          </p:cNvPicPr>
          <p:nvPr/>
        </p:nvPicPr>
        <p:blipFill rotWithShape="1">
          <a:blip r:embed="rId2">
            <a:extLst>
              <a:ext uri="{28A0092B-C50C-407E-A947-70E740481C1C}">
                <a14:useLocalDpi xmlns:a14="http://schemas.microsoft.com/office/drawing/2010/main" val="0"/>
              </a:ext>
            </a:extLst>
          </a:blip>
          <a:srcRect l="11452" t="40460" r="9355" b="28459"/>
          <a:stretch/>
        </p:blipFill>
        <p:spPr>
          <a:xfrm>
            <a:off x="3401960" y="5075562"/>
            <a:ext cx="5958349" cy="1315406"/>
          </a:xfrm>
          <a:prstGeom prst="rect">
            <a:avLst/>
          </a:prstGeom>
        </p:spPr>
      </p:pic>
    </p:spTree>
    <p:extLst>
      <p:ext uri="{BB962C8B-B14F-4D97-AF65-F5344CB8AC3E}">
        <p14:creationId xmlns:p14="http://schemas.microsoft.com/office/powerpoint/2010/main" val="1785839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6FBD-A2B4-CC90-6DFC-2682F28EFE07}"/>
              </a:ext>
            </a:extLst>
          </p:cNvPr>
          <p:cNvSpPr>
            <a:spLocks noGrp="1"/>
          </p:cNvSpPr>
          <p:nvPr>
            <p:ph type="title"/>
          </p:nvPr>
        </p:nvSpPr>
        <p:spPr/>
        <p:txBody>
          <a:bodyPr/>
          <a:lstStyle/>
          <a:p>
            <a:r>
              <a:rPr lang="en-US" b="1" dirty="0"/>
              <a:t>Simple Mail Transfer Protocol(SMTP)</a:t>
            </a:r>
          </a:p>
        </p:txBody>
      </p:sp>
      <p:sp>
        <p:nvSpPr>
          <p:cNvPr id="3" name="Content Placeholder 2">
            <a:extLst>
              <a:ext uri="{FF2B5EF4-FFF2-40B4-BE49-F238E27FC236}">
                <a16:creationId xmlns:a16="http://schemas.microsoft.com/office/drawing/2014/main" id="{AD4C3561-F4D7-F092-AAD5-DF76ED5FA3D5}"/>
              </a:ext>
            </a:extLst>
          </p:cNvPr>
          <p:cNvSpPr>
            <a:spLocks noGrp="1"/>
          </p:cNvSpPr>
          <p:nvPr>
            <p:ph idx="1"/>
          </p:nvPr>
        </p:nvSpPr>
        <p:spPr>
          <a:xfrm>
            <a:off x="4059936" y="2647876"/>
            <a:ext cx="7729728" cy="3101983"/>
          </a:xfrm>
        </p:spPr>
        <p:txBody>
          <a:bodyPr/>
          <a:lstStyle/>
          <a:p>
            <a:r>
              <a:rPr lang="en-US" dirty="0"/>
              <a:t>Key features of SMTP:</a:t>
            </a:r>
          </a:p>
          <a:p>
            <a:r>
              <a:rPr lang="en-US" dirty="0"/>
              <a:t>It is application layer protocol/push protocol used to send the mail.</a:t>
            </a:r>
          </a:p>
          <a:p>
            <a:r>
              <a:rPr lang="en-US" dirty="0"/>
              <a:t>The client who wants to send the mail opens a TCP connection to the SMTP server.</a:t>
            </a:r>
          </a:p>
          <a:p>
            <a:r>
              <a:rPr lang="en-US" dirty="0"/>
              <a:t>SMTP  server is always on listening mode.</a:t>
            </a:r>
          </a:p>
          <a:p>
            <a:r>
              <a:rPr lang="en-US" dirty="0"/>
              <a:t>Once connection is established client can send mail to mail server</a:t>
            </a:r>
          </a:p>
          <a:p>
            <a:endParaRPr lang="en-US" dirty="0"/>
          </a:p>
        </p:txBody>
      </p:sp>
      <p:pic>
        <p:nvPicPr>
          <p:cNvPr id="8" name="Picture 7">
            <a:extLst>
              <a:ext uri="{FF2B5EF4-FFF2-40B4-BE49-F238E27FC236}">
                <a16:creationId xmlns:a16="http://schemas.microsoft.com/office/drawing/2014/main" id="{97745216-46BA-D0E7-7667-4EC0C413A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38" y="4342540"/>
            <a:ext cx="4288395" cy="2412222"/>
          </a:xfrm>
          <a:prstGeom prst="rect">
            <a:avLst/>
          </a:prstGeom>
        </p:spPr>
      </p:pic>
    </p:spTree>
    <p:extLst>
      <p:ext uri="{BB962C8B-B14F-4D97-AF65-F5344CB8AC3E}">
        <p14:creationId xmlns:p14="http://schemas.microsoft.com/office/powerpoint/2010/main" val="3180263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4EAE-9E9A-CE49-39B5-24DD726336AF}"/>
              </a:ext>
            </a:extLst>
          </p:cNvPr>
          <p:cNvSpPr>
            <a:spLocks noGrp="1"/>
          </p:cNvSpPr>
          <p:nvPr>
            <p:ph type="title"/>
          </p:nvPr>
        </p:nvSpPr>
        <p:spPr/>
        <p:txBody>
          <a:bodyPr/>
          <a:lstStyle/>
          <a:p>
            <a:r>
              <a:rPr lang="en-US" b="1" dirty="0"/>
              <a:t>Post office Protocol(POP)</a:t>
            </a:r>
          </a:p>
        </p:txBody>
      </p:sp>
      <p:sp>
        <p:nvSpPr>
          <p:cNvPr id="3" name="Content Placeholder 2">
            <a:extLst>
              <a:ext uri="{FF2B5EF4-FFF2-40B4-BE49-F238E27FC236}">
                <a16:creationId xmlns:a16="http://schemas.microsoft.com/office/drawing/2014/main" id="{4E997DC9-E894-7685-7817-44966B443983}"/>
              </a:ext>
            </a:extLst>
          </p:cNvPr>
          <p:cNvSpPr>
            <a:spLocks noGrp="1"/>
          </p:cNvSpPr>
          <p:nvPr>
            <p:ph idx="1"/>
          </p:nvPr>
        </p:nvSpPr>
        <p:spPr/>
        <p:txBody>
          <a:bodyPr/>
          <a:lstStyle/>
          <a:p>
            <a:r>
              <a:rPr lang="en-US" dirty="0"/>
              <a:t>POP application layer protocol used by email clients to retrieve email from mail server in IP network.</a:t>
            </a:r>
          </a:p>
          <a:p>
            <a:r>
              <a:rPr lang="en-US" dirty="0"/>
              <a:t>POP3 is version 3,most recent level of development in common use.</a:t>
            </a:r>
          </a:p>
          <a:p>
            <a:r>
              <a:rPr lang="en-US" dirty="0"/>
              <a:t>POP uses the TCP/IP protocol stack for network connection and works with SMTP for end to end email communication, where POP pulls messages and SMTP pushes to email server. </a:t>
            </a:r>
          </a:p>
          <a:p>
            <a:r>
              <a:rPr lang="en-US" dirty="0"/>
              <a:t>Alternative POP is IMAP( Internet Message Access Protocol) that provides more features that POP</a:t>
            </a:r>
          </a:p>
        </p:txBody>
      </p:sp>
    </p:spTree>
    <p:extLst>
      <p:ext uri="{BB962C8B-B14F-4D97-AF65-F5344CB8AC3E}">
        <p14:creationId xmlns:p14="http://schemas.microsoft.com/office/powerpoint/2010/main" val="2763107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ED1D-3510-54CE-2D70-6B8CD2AEE153}"/>
              </a:ext>
            </a:extLst>
          </p:cNvPr>
          <p:cNvSpPr>
            <a:spLocks noGrp="1"/>
          </p:cNvSpPr>
          <p:nvPr>
            <p:ph type="title"/>
          </p:nvPr>
        </p:nvSpPr>
        <p:spPr>
          <a:xfrm>
            <a:off x="2231136" y="964692"/>
            <a:ext cx="8989044" cy="1188720"/>
          </a:xfrm>
        </p:spPr>
        <p:txBody>
          <a:bodyPr/>
          <a:lstStyle/>
          <a:p>
            <a:r>
              <a:rPr lang="en-US" b="1" dirty="0"/>
              <a:t>Telnet</a:t>
            </a:r>
          </a:p>
        </p:txBody>
      </p:sp>
      <p:sp>
        <p:nvSpPr>
          <p:cNvPr id="3" name="Content Placeholder 2">
            <a:extLst>
              <a:ext uri="{FF2B5EF4-FFF2-40B4-BE49-F238E27FC236}">
                <a16:creationId xmlns:a16="http://schemas.microsoft.com/office/drawing/2014/main" id="{C2FAAC95-40ED-BAAB-A39E-B572BB059CB8}"/>
              </a:ext>
            </a:extLst>
          </p:cNvPr>
          <p:cNvSpPr>
            <a:spLocks noGrp="1"/>
          </p:cNvSpPr>
          <p:nvPr>
            <p:ph idx="1"/>
          </p:nvPr>
        </p:nvSpPr>
        <p:spPr/>
        <p:txBody>
          <a:bodyPr>
            <a:normAutofit lnSpcReduction="10000"/>
          </a:bodyPr>
          <a:lstStyle/>
          <a:p>
            <a:r>
              <a:rPr lang="en-US" dirty="0"/>
              <a:t>Features of TelNet:</a:t>
            </a:r>
          </a:p>
          <a:p>
            <a:r>
              <a:rPr lang="en-US" dirty="0"/>
              <a:t>It allows you to connect to remote computers over TCP/IP network.</a:t>
            </a:r>
          </a:p>
          <a:p>
            <a:r>
              <a:rPr lang="en-US" dirty="0"/>
              <a:t>Using Telnet client software on your computer, you can make a connection to a telnet server( i.e. remote host).</a:t>
            </a:r>
          </a:p>
          <a:p>
            <a:r>
              <a:rPr lang="en-US" dirty="0"/>
              <a:t>You’ll need to log into the remote host requiring the ID of host and permission of host.</a:t>
            </a:r>
          </a:p>
          <a:p>
            <a:r>
              <a:rPr lang="en-US" dirty="0"/>
              <a:t>Inbuilt application for remote login in windows is Remote login Desktop.</a:t>
            </a:r>
          </a:p>
          <a:p>
            <a:r>
              <a:rPr lang="en-US" dirty="0"/>
              <a:t>Several third party applications are available for all OS.</a:t>
            </a:r>
          </a:p>
          <a:p>
            <a:r>
              <a:rPr lang="en-US" dirty="0" err="1"/>
              <a:t>Anydesk</a:t>
            </a:r>
            <a:r>
              <a:rPr lang="en-US" dirty="0"/>
              <a:t>, </a:t>
            </a:r>
            <a:r>
              <a:rPr lang="en-US" dirty="0" err="1"/>
              <a:t>Teamviewer</a:t>
            </a:r>
            <a:r>
              <a:rPr lang="en-US" dirty="0"/>
              <a:t> </a:t>
            </a:r>
            <a:r>
              <a:rPr lang="en-US" dirty="0" err="1"/>
              <a:t>etc</a:t>
            </a:r>
            <a:endParaRPr lang="en-US" dirty="0"/>
          </a:p>
        </p:txBody>
      </p:sp>
    </p:spTree>
    <p:extLst>
      <p:ext uri="{BB962C8B-B14F-4D97-AF65-F5344CB8AC3E}">
        <p14:creationId xmlns:p14="http://schemas.microsoft.com/office/powerpoint/2010/main" val="1225364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ED1D-3510-54CE-2D70-6B8CD2AEE153}"/>
              </a:ext>
            </a:extLst>
          </p:cNvPr>
          <p:cNvSpPr>
            <a:spLocks noGrp="1"/>
          </p:cNvSpPr>
          <p:nvPr>
            <p:ph type="title"/>
          </p:nvPr>
        </p:nvSpPr>
        <p:spPr>
          <a:xfrm>
            <a:off x="3490452" y="964692"/>
            <a:ext cx="4650658" cy="1188720"/>
          </a:xfrm>
        </p:spPr>
        <p:txBody>
          <a:bodyPr/>
          <a:lstStyle/>
          <a:p>
            <a:r>
              <a:rPr lang="en-US" b="1" dirty="0"/>
              <a:t>Telnet</a:t>
            </a:r>
          </a:p>
        </p:txBody>
      </p:sp>
      <p:pic>
        <p:nvPicPr>
          <p:cNvPr id="5" name="Picture 4">
            <a:extLst>
              <a:ext uri="{FF2B5EF4-FFF2-40B4-BE49-F238E27FC236}">
                <a16:creationId xmlns:a16="http://schemas.microsoft.com/office/drawing/2014/main" id="{701E3155-2C36-5FCB-6A59-7B2F81A76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8050" y="501998"/>
            <a:ext cx="3876675" cy="2409825"/>
          </a:xfrm>
          <a:prstGeom prst="rect">
            <a:avLst/>
          </a:prstGeom>
        </p:spPr>
      </p:pic>
      <p:pic>
        <p:nvPicPr>
          <p:cNvPr id="7" name="Picture 6">
            <a:extLst>
              <a:ext uri="{FF2B5EF4-FFF2-40B4-BE49-F238E27FC236}">
                <a16:creationId xmlns:a16="http://schemas.microsoft.com/office/drawing/2014/main" id="{8100D554-C803-6DD4-E2D6-F2FAE10D2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62" y="387477"/>
            <a:ext cx="3295650" cy="2343150"/>
          </a:xfrm>
          <a:prstGeom prst="rect">
            <a:avLst/>
          </a:prstGeom>
        </p:spPr>
      </p:pic>
      <p:pic>
        <p:nvPicPr>
          <p:cNvPr id="9" name="Picture 8">
            <a:extLst>
              <a:ext uri="{FF2B5EF4-FFF2-40B4-BE49-F238E27FC236}">
                <a16:creationId xmlns:a16="http://schemas.microsoft.com/office/drawing/2014/main" id="{CC58B1D4-E969-19A8-DD61-51B82971B4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89701" y="3178683"/>
            <a:ext cx="5852160" cy="3291840"/>
          </a:xfrm>
          <a:prstGeom prst="rect">
            <a:avLst/>
          </a:prstGeom>
        </p:spPr>
      </p:pic>
    </p:spTree>
    <p:extLst>
      <p:ext uri="{BB962C8B-B14F-4D97-AF65-F5344CB8AC3E}">
        <p14:creationId xmlns:p14="http://schemas.microsoft.com/office/powerpoint/2010/main" val="4159781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E91F-157C-E97B-8AAC-54B2747E182A}"/>
              </a:ext>
            </a:extLst>
          </p:cNvPr>
          <p:cNvSpPr>
            <a:spLocks noGrp="1"/>
          </p:cNvSpPr>
          <p:nvPr>
            <p:ph type="title"/>
          </p:nvPr>
        </p:nvSpPr>
        <p:spPr/>
        <p:txBody>
          <a:bodyPr/>
          <a:lstStyle/>
          <a:p>
            <a:r>
              <a:rPr lang="en-US" b="1" dirty="0"/>
              <a:t>Gopher</a:t>
            </a:r>
          </a:p>
        </p:txBody>
      </p:sp>
      <p:sp>
        <p:nvSpPr>
          <p:cNvPr id="3" name="Content Placeholder 2">
            <a:extLst>
              <a:ext uri="{FF2B5EF4-FFF2-40B4-BE49-F238E27FC236}">
                <a16:creationId xmlns:a16="http://schemas.microsoft.com/office/drawing/2014/main" id="{DE5B2DA6-DFFA-B4BF-7BD8-0A4D0E6C87EE}"/>
              </a:ext>
            </a:extLst>
          </p:cNvPr>
          <p:cNvSpPr>
            <a:spLocks noGrp="1"/>
          </p:cNvSpPr>
          <p:nvPr>
            <p:ph idx="1"/>
          </p:nvPr>
        </p:nvSpPr>
        <p:spPr/>
        <p:txBody>
          <a:bodyPr>
            <a:normAutofit/>
          </a:bodyPr>
          <a:lstStyle/>
          <a:p>
            <a:r>
              <a:rPr lang="en-US" sz="2000" dirty="0"/>
              <a:t>Features of Gopher are:</a:t>
            </a:r>
          </a:p>
          <a:p>
            <a:r>
              <a:rPr lang="en-US" sz="2000" dirty="0"/>
              <a:t>It is a communication protocol designed for distributing, searching, and retrieving documents in Internet Protocol networks. </a:t>
            </a:r>
          </a:p>
          <a:p>
            <a:r>
              <a:rPr lang="en-US" sz="2000" dirty="0"/>
              <a:t>The design of the Gopher protocol and user interface is menu driven and presented an alternative to the world wide web in its early stages but ultimately fell into HTTP.</a:t>
            </a:r>
          </a:p>
          <a:p>
            <a:endParaRPr lang="en-US" sz="2000" dirty="0"/>
          </a:p>
        </p:txBody>
      </p:sp>
    </p:spTree>
    <p:extLst>
      <p:ext uri="{BB962C8B-B14F-4D97-AF65-F5344CB8AC3E}">
        <p14:creationId xmlns:p14="http://schemas.microsoft.com/office/powerpoint/2010/main" val="2217385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E91F-157C-E97B-8AAC-54B2747E182A}"/>
              </a:ext>
            </a:extLst>
          </p:cNvPr>
          <p:cNvSpPr>
            <a:spLocks noGrp="1"/>
          </p:cNvSpPr>
          <p:nvPr>
            <p:ph type="title"/>
          </p:nvPr>
        </p:nvSpPr>
        <p:spPr/>
        <p:txBody>
          <a:bodyPr/>
          <a:lstStyle/>
          <a:p>
            <a:r>
              <a:rPr lang="en-US" b="1" dirty="0"/>
              <a:t>Gopher</a:t>
            </a:r>
          </a:p>
        </p:txBody>
      </p:sp>
      <p:sp>
        <p:nvSpPr>
          <p:cNvPr id="3" name="Content Placeholder 2">
            <a:extLst>
              <a:ext uri="{FF2B5EF4-FFF2-40B4-BE49-F238E27FC236}">
                <a16:creationId xmlns:a16="http://schemas.microsoft.com/office/drawing/2014/main" id="{DE5B2DA6-DFFA-B4BF-7BD8-0A4D0E6C87EE}"/>
              </a:ext>
            </a:extLst>
          </p:cNvPr>
          <p:cNvSpPr>
            <a:spLocks noGrp="1"/>
          </p:cNvSpPr>
          <p:nvPr>
            <p:ph idx="1"/>
          </p:nvPr>
        </p:nvSpPr>
        <p:spPr/>
        <p:txBody>
          <a:bodyPr>
            <a:normAutofit/>
          </a:bodyPr>
          <a:lstStyle/>
          <a:p>
            <a:r>
              <a:rPr lang="en-US" sz="2000" dirty="0"/>
              <a:t>Features of Gopher are:</a:t>
            </a:r>
          </a:p>
          <a:p>
            <a:r>
              <a:rPr lang="en-US" sz="2000" dirty="0"/>
              <a:t>It is a communication protocol designed for distributing, searching, and retrieving documents in Internet Protocol networks. </a:t>
            </a:r>
          </a:p>
          <a:p>
            <a:r>
              <a:rPr lang="en-US" sz="2000" dirty="0"/>
              <a:t>The design of the Gopher protocol and user interface is menu driven and presented an alternative to the world wide web in its early stages but ultimately fell into HTTP.</a:t>
            </a:r>
          </a:p>
          <a:p>
            <a:endParaRPr lang="en-US" sz="2000" dirty="0"/>
          </a:p>
        </p:txBody>
      </p:sp>
      <p:pic>
        <p:nvPicPr>
          <p:cNvPr id="5" name="Picture 4">
            <a:extLst>
              <a:ext uri="{FF2B5EF4-FFF2-40B4-BE49-F238E27FC236}">
                <a16:creationId xmlns:a16="http://schemas.microsoft.com/office/drawing/2014/main" id="{A56405E3-CB7F-8647-D547-8C41A2B83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5330" y="577850"/>
            <a:ext cx="9753600" cy="5702300"/>
          </a:xfrm>
          <a:prstGeom prst="rect">
            <a:avLst/>
          </a:prstGeom>
        </p:spPr>
      </p:pic>
    </p:spTree>
    <p:extLst>
      <p:ext uri="{BB962C8B-B14F-4D97-AF65-F5344CB8AC3E}">
        <p14:creationId xmlns:p14="http://schemas.microsoft.com/office/powerpoint/2010/main" val="2054314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3C21-3F61-0A54-CABF-C6D1F2805F4D}"/>
              </a:ext>
            </a:extLst>
          </p:cNvPr>
          <p:cNvSpPr>
            <a:spLocks noGrp="1"/>
          </p:cNvSpPr>
          <p:nvPr>
            <p:ph type="title"/>
          </p:nvPr>
        </p:nvSpPr>
        <p:spPr/>
        <p:txBody>
          <a:bodyPr/>
          <a:lstStyle/>
          <a:p>
            <a:r>
              <a:rPr lang="en-US" b="1" dirty="0"/>
              <a:t>Wide area Information server(WAIS)</a:t>
            </a:r>
          </a:p>
        </p:txBody>
      </p:sp>
      <p:sp>
        <p:nvSpPr>
          <p:cNvPr id="3" name="Content Placeholder 2">
            <a:extLst>
              <a:ext uri="{FF2B5EF4-FFF2-40B4-BE49-F238E27FC236}">
                <a16:creationId xmlns:a16="http://schemas.microsoft.com/office/drawing/2014/main" id="{782CA969-DEA0-F362-432F-92010AE3D08B}"/>
              </a:ext>
            </a:extLst>
          </p:cNvPr>
          <p:cNvSpPr>
            <a:spLocks noGrp="1"/>
          </p:cNvSpPr>
          <p:nvPr>
            <p:ph idx="1"/>
          </p:nvPr>
        </p:nvSpPr>
        <p:spPr/>
        <p:txBody>
          <a:bodyPr>
            <a:normAutofit/>
          </a:bodyPr>
          <a:lstStyle/>
          <a:p>
            <a:r>
              <a:rPr lang="en-US" sz="2000" b="0" i="0" dirty="0">
                <a:solidFill>
                  <a:srgbClr val="333333"/>
                </a:solidFill>
                <a:effectLst/>
                <a:latin typeface="+mj-lt"/>
              </a:rPr>
              <a:t>Wide area information service is a content-search service that finds the name of file given some information about the contents. It is very difficult for WAIS to search the contents of all files in the world. Therefore, the database has been divided into different sources. The user must limit the search to a particular source.</a:t>
            </a:r>
          </a:p>
          <a:p>
            <a:r>
              <a:rPr lang="en-US" sz="2000" dirty="0">
                <a:solidFill>
                  <a:srgbClr val="333333"/>
                </a:solidFill>
                <a:latin typeface="+mj-lt"/>
              </a:rPr>
              <a:t>We can call it as outdated search engine.</a:t>
            </a:r>
            <a:endParaRPr lang="en-US" sz="2000" dirty="0">
              <a:latin typeface="+mj-lt"/>
            </a:endParaRPr>
          </a:p>
        </p:txBody>
      </p:sp>
      <p:pic>
        <p:nvPicPr>
          <p:cNvPr id="9" name="Picture 8">
            <a:extLst>
              <a:ext uri="{FF2B5EF4-FFF2-40B4-BE49-F238E27FC236}">
                <a16:creationId xmlns:a16="http://schemas.microsoft.com/office/drawing/2014/main" id="{83E7E30E-1886-877E-180D-1C74C1100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4408" y="4110552"/>
            <a:ext cx="3228392" cy="2427599"/>
          </a:xfrm>
          <a:prstGeom prst="rect">
            <a:avLst/>
          </a:prstGeom>
        </p:spPr>
      </p:pic>
    </p:spTree>
    <p:extLst>
      <p:ext uri="{BB962C8B-B14F-4D97-AF65-F5344CB8AC3E}">
        <p14:creationId xmlns:p14="http://schemas.microsoft.com/office/powerpoint/2010/main" val="2276508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5B4A-9F15-A4E7-9DE7-935B05A0314E}"/>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2AEC1792-E117-64FC-9F19-D37C6D3A0ECD}"/>
              </a:ext>
            </a:extLst>
          </p:cNvPr>
          <p:cNvSpPr>
            <a:spLocks noGrp="1"/>
          </p:cNvSpPr>
          <p:nvPr>
            <p:ph idx="1"/>
          </p:nvPr>
        </p:nvSpPr>
        <p:spPr/>
        <p:txBody>
          <a:bodyPr>
            <a:normAutofit/>
          </a:bodyPr>
          <a:lstStyle/>
          <a:p>
            <a:r>
              <a:rPr lang="en-US" sz="2000" dirty="0"/>
              <a:t>Write the step by step process of SMTP and POP?</a:t>
            </a:r>
          </a:p>
        </p:txBody>
      </p:sp>
    </p:spTree>
    <p:extLst>
      <p:ext uri="{BB962C8B-B14F-4D97-AF65-F5344CB8AC3E}">
        <p14:creationId xmlns:p14="http://schemas.microsoft.com/office/powerpoint/2010/main" val="1335904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Architecture</a:t>
            </a:r>
          </a:p>
        </p:txBody>
      </p:sp>
      <p:sp>
        <p:nvSpPr>
          <p:cNvPr id="5" name="TextBox 4">
            <a:extLst>
              <a:ext uri="{FF2B5EF4-FFF2-40B4-BE49-F238E27FC236}">
                <a16:creationId xmlns:a16="http://schemas.microsoft.com/office/drawing/2014/main" id="{1D7E22D5-F89D-A75D-ED2C-ADD9AA183DB3}"/>
              </a:ext>
            </a:extLst>
          </p:cNvPr>
          <p:cNvSpPr txBox="1"/>
          <p:nvPr/>
        </p:nvSpPr>
        <p:spPr>
          <a:xfrm>
            <a:off x="707923" y="2153412"/>
            <a:ext cx="10776154" cy="1938992"/>
          </a:xfrm>
          <a:prstGeom prst="rect">
            <a:avLst/>
          </a:prstGeom>
          <a:noFill/>
        </p:spPr>
        <p:txBody>
          <a:bodyPr wrap="square" rtlCol="0">
            <a:spAutoFit/>
          </a:bodyPr>
          <a:lstStyle/>
          <a:p>
            <a:r>
              <a:rPr lang="en-US" sz="2000" b="1" dirty="0"/>
              <a:t>Backbone</a:t>
            </a:r>
          </a:p>
          <a:p>
            <a:pPr marL="342900" indent="-342900">
              <a:buFont typeface="Arial" panose="020B0604020202020204" pitchFamily="34" charset="0"/>
              <a:buChar char="•"/>
            </a:pPr>
            <a:r>
              <a:rPr lang="en-US" sz="2000" dirty="0"/>
              <a:t>Backbone are formed by large corporations like AT &amp; T.  Those corporations have their own server farms connected to the backbone.</a:t>
            </a:r>
          </a:p>
          <a:p>
            <a:pPr marL="342900" indent="-342900">
              <a:buFont typeface="Arial" panose="020B0604020202020204" pitchFamily="34" charset="0"/>
              <a:buChar char="•"/>
            </a:pPr>
            <a:r>
              <a:rPr lang="en-US" sz="2000" dirty="0"/>
              <a:t>Backbone is a giant pipeline capable of transporting data around the world in milliseconds.</a:t>
            </a:r>
          </a:p>
          <a:p>
            <a:pPr marL="342900" indent="-342900">
              <a:buFont typeface="Arial" panose="020B0604020202020204" pitchFamily="34" charset="0"/>
              <a:buChar char="•"/>
            </a:pPr>
            <a:r>
              <a:rPr lang="en-US" sz="2000" dirty="0"/>
              <a:t>There are many backbones in the world that are connected by network access point so that data can travel from one backbone to another backbone.</a:t>
            </a:r>
          </a:p>
        </p:txBody>
      </p:sp>
      <p:sp>
        <p:nvSpPr>
          <p:cNvPr id="8" name="TextBox 7">
            <a:extLst>
              <a:ext uri="{FF2B5EF4-FFF2-40B4-BE49-F238E27FC236}">
                <a16:creationId xmlns:a16="http://schemas.microsoft.com/office/drawing/2014/main" id="{1D384CCF-4D03-D4B1-3B12-7409885F44B4}"/>
              </a:ext>
            </a:extLst>
          </p:cNvPr>
          <p:cNvSpPr txBox="1"/>
          <p:nvPr/>
        </p:nvSpPr>
        <p:spPr>
          <a:xfrm>
            <a:off x="707923" y="4163962"/>
            <a:ext cx="10776154" cy="2554545"/>
          </a:xfrm>
          <a:prstGeom prst="rect">
            <a:avLst/>
          </a:prstGeom>
          <a:noFill/>
        </p:spPr>
        <p:txBody>
          <a:bodyPr wrap="square" rtlCol="0">
            <a:spAutoFit/>
          </a:bodyPr>
          <a:lstStyle/>
          <a:p>
            <a:r>
              <a:rPr lang="en-US" sz="2000" b="1" dirty="0"/>
              <a:t>Internet Service Provider(ISP)</a:t>
            </a:r>
          </a:p>
          <a:p>
            <a:pPr marL="342900" indent="-342900">
              <a:buFont typeface="Arial" panose="020B0604020202020204" pitchFamily="34" charset="0"/>
              <a:buChar char="•"/>
            </a:pPr>
            <a:r>
              <a:rPr lang="en-US" sz="2000" dirty="0"/>
              <a:t>ISP is a company that provides customer with internet access</a:t>
            </a:r>
          </a:p>
          <a:p>
            <a:pPr marL="342900" indent="-342900">
              <a:buFont typeface="Arial" panose="020B0604020202020204" pitchFamily="34" charset="0"/>
              <a:buChar char="•"/>
            </a:pPr>
            <a:r>
              <a:rPr lang="en-US" sz="2000" dirty="0"/>
              <a:t>Data may be transmitted using several technologies including dialup, DSL, cable modem, wireless or dedicated highspeed interconnection.</a:t>
            </a:r>
          </a:p>
          <a:p>
            <a:pPr marL="342900" indent="-342900">
              <a:buFont typeface="Arial" panose="020B0604020202020204" pitchFamily="34" charset="0"/>
              <a:buChar char="•"/>
            </a:pPr>
            <a:r>
              <a:rPr lang="en-US" sz="2000" dirty="0"/>
              <a:t>Internet started as a closed network between government research laboratory and universities and colleges but now customer are allowed to be connected in internet through ISP</a:t>
            </a:r>
          </a:p>
          <a:p>
            <a:pPr marL="342900" indent="-342900">
              <a:buFont typeface="Arial" panose="020B0604020202020204" pitchFamily="34" charset="0"/>
              <a:buChar char="•"/>
            </a:pPr>
            <a:r>
              <a:rPr lang="en-US" sz="2000" dirty="0"/>
              <a:t>Customer get connection from Local ISP and Local ISP get connections from regional ISP and further multiple ISP reaching tier 1.</a:t>
            </a:r>
          </a:p>
        </p:txBody>
      </p:sp>
    </p:spTree>
    <p:extLst>
      <p:ext uri="{BB962C8B-B14F-4D97-AF65-F5344CB8AC3E}">
        <p14:creationId xmlns:p14="http://schemas.microsoft.com/office/powerpoint/2010/main" val="257546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Architecture</a:t>
            </a:r>
          </a:p>
        </p:txBody>
      </p:sp>
      <p:sp>
        <p:nvSpPr>
          <p:cNvPr id="5" name="TextBox 4">
            <a:extLst>
              <a:ext uri="{FF2B5EF4-FFF2-40B4-BE49-F238E27FC236}">
                <a16:creationId xmlns:a16="http://schemas.microsoft.com/office/drawing/2014/main" id="{1D7E22D5-F89D-A75D-ED2C-ADD9AA183DB3}"/>
              </a:ext>
            </a:extLst>
          </p:cNvPr>
          <p:cNvSpPr txBox="1"/>
          <p:nvPr/>
        </p:nvSpPr>
        <p:spPr>
          <a:xfrm>
            <a:off x="786581" y="2438400"/>
            <a:ext cx="10776154" cy="1015663"/>
          </a:xfrm>
          <a:prstGeom prst="rect">
            <a:avLst/>
          </a:prstGeom>
          <a:noFill/>
        </p:spPr>
        <p:txBody>
          <a:bodyPr wrap="square" rtlCol="0">
            <a:spAutoFit/>
          </a:bodyPr>
          <a:lstStyle/>
          <a:p>
            <a:r>
              <a:rPr lang="en-US" sz="2000" b="1" dirty="0"/>
              <a:t>Clients</a:t>
            </a:r>
          </a:p>
          <a:p>
            <a:pPr marL="342900" indent="-342900">
              <a:buFont typeface="Arial" panose="020B0604020202020204" pitchFamily="34" charset="0"/>
              <a:buChar char="•"/>
            </a:pPr>
            <a:r>
              <a:rPr lang="en-US" sz="2000" dirty="0"/>
              <a:t>Clients lie at lowest level of internet hierarchy. Thes are the computers at home or offices that are connected to local ISP’s.</a:t>
            </a:r>
          </a:p>
        </p:txBody>
      </p:sp>
    </p:spTree>
    <p:extLst>
      <p:ext uri="{BB962C8B-B14F-4D97-AF65-F5344CB8AC3E}">
        <p14:creationId xmlns:p14="http://schemas.microsoft.com/office/powerpoint/2010/main" val="3160165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Oval 2133">
            <a:extLst>
              <a:ext uri="{FF2B5EF4-FFF2-40B4-BE49-F238E27FC236}">
                <a16:creationId xmlns:a16="http://schemas.microsoft.com/office/drawing/2014/main" id="{300B7704-90DC-1B7E-874D-B55BBA803F9D}"/>
              </a:ext>
            </a:extLst>
          </p:cNvPr>
          <p:cNvSpPr/>
          <p:nvPr/>
        </p:nvSpPr>
        <p:spPr>
          <a:xfrm>
            <a:off x="3297821" y="193388"/>
            <a:ext cx="5364480" cy="14554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 </a:t>
            </a:r>
          </a:p>
        </p:txBody>
      </p:sp>
      <p:sp>
        <p:nvSpPr>
          <p:cNvPr id="2135" name="Oval 2134">
            <a:extLst>
              <a:ext uri="{FF2B5EF4-FFF2-40B4-BE49-F238E27FC236}">
                <a16:creationId xmlns:a16="http://schemas.microsoft.com/office/drawing/2014/main" id="{15EB6D77-D912-BF3F-F001-FD58846B5700}"/>
              </a:ext>
            </a:extLst>
          </p:cNvPr>
          <p:cNvSpPr/>
          <p:nvPr/>
        </p:nvSpPr>
        <p:spPr>
          <a:xfrm>
            <a:off x="3922661" y="451833"/>
            <a:ext cx="4244340" cy="78295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36" name="Text Box 3">
            <a:extLst>
              <a:ext uri="{FF2B5EF4-FFF2-40B4-BE49-F238E27FC236}">
                <a16:creationId xmlns:a16="http://schemas.microsoft.com/office/drawing/2014/main" id="{50F4BB2A-0581-17A9-E2DA-B27E2BB768B1}"/>
              </a:ext>
            </a:extLst>
          </p:cNvPr>
          <p:cNvSpPr txBox="1">
            <a:spLocks noChangeArrowheads="1"/>
          </p:cNvSpPr>
          <p:nvPr/>
        </p:nvSpPr>
        <p:spPr bwMode="auto">
          <a:xfrm>
            <a:off x="5119687" y="741393"/>
            <a:ext cx="1676400" cy="2444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Backbone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37" name="Text Box 4">
            <a:extLst>
              <a:ext uri="{FF2B5EF4-FFF2-40B4-BE49-F238E27FC236}">
                <a16:creationId xmlns:a16="http://schemas.microsoft.com/office/drawing/2014/main" id="{E3221294-3E5C-131F-A79E-DC75F1F9195A}"/>
              </a:ext>
            </a:extLst>
          </p:cNvPr>
          <p:cNvSpPr txBox="1">
            <a:spLocks noChangeArrowheads="1"/>
          </p:cNvSpPr>
          <p:nvPr/>
        </p:nvSpPr>
        <p:spPr bwMode="auto">
          <a:xfrm>
            <a:off x="7638681" y="662940"/>
            <a:ext cx="1592263" cy="2889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&amp;T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38" name="Text Box 186">
            <a:extLst>
              <a:ext uri="{FF2B5EF4-FFF2-40B4-BE49-F238E27FC236}">
                <a16:creationId xmlns:a16="http://schemas.microsoft.com/office/drawing/2014/main" id="{128996CB-DA84-5578-779F-7026F9F3A245}"/>
              </a:ext>
            </a:extLst>
          </p:cNvPr>
          <p:cNvSpPr txBox="1">
            <a:spLocks noChangeArrowheads="1"/>
          </p:cNvSpPr>
          <p:nvPr/>
        </p:nvSpPr>
        <p:spPr bwMode="auto">
          <a:xfrm>
            <a:off x="2834763" y="662940"/>
            <a:ext cx="1592263" cy="2889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Hyundai</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39" name="Text Box 185">
            <a:extLst>
              <a:ext uri="{FF2B5EF4-FFF2-40B4-BE49-F238E27FC236}">
                <a16:creationId xmlns:a16="http://schemas.microsoft.com/office/drawing/2014/main" id="{3A3C27E3-7C8C-6460-C826-6109208E6CA3}"/>
              </a:ext>
            </a:extLst>
          </p:cNvPr>
          <p:cNvSpPr txBox="1">
            <a:spLocks noChangeArrowheads="1"/>
          </p:cNvSpPr>
          <p:nvPr/>
        </p:nvSpPr>
        <p:spPr bwMode="auto">
          <a:xfrm>
            <a:off x="5093601" y="163615"/>
            <a:ext cx="1592263" cy="2889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British telecom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40" name="Text Box 5">
            <a:extLst>
              <a:ext uri="{FF2B5EF4-FFF2-40B4-BE49-F238E27FC236}">
                <a16:creationId xmlns:a16="http://schemas.microsoft.com/office/drawing/2014/main" id="{8E620726-2055-73A5-0AF7-DF10246167EE}"/>
              </a:ext>
            </a:extLst>
          </p:cNvPr>
          <p:cNvSpPr txBox="1">
            <a:spLocks noChangeArrowheads="1"/>
          </p:cNvSpPr>
          <p:nvPr/>
        </p:nvSpPr>
        <p:spPr bwMode="auto">
          <a:xfrm>
            <a:off x="6595376" y="1817400"/>
            <a:ext cx="1790700" cy="381000"/>
          </a:xfrm>
          <a:prstGeom prst="rect">
            <a:avLst/>
          </a:prstGeom>
          <a:solidFill>
            <a:srgbClr val="393737"/>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Network Access Points</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141" name="Text Box 240">
            <a:extLst>
              <a:ext uri="{FF2B5EF4-FFF2-40B4-BE49-F238E27FC236}">
                <a16:creationId xmlns:a16="http://schemas.microsoft.com/office/drawing/2014/main" id="{1F6DC249-7962-ADDF-032F-563EADF37906}"/>
              </a:ext>
            </a:extLst>
          </p:cNvPr>
          <p:cNvSpPr txBox="1">
            <a:spLocks noChangeArrowheads="1"/>
          </p:cNvSpPr>
          <p:nvPr/>
        </p:nvSpPr>
        <p:spPr bwMode="auto">
          <a:xfrm>
            <a:off x="3165741" y="1834863"/>
            <a:ext cx="1790700" cy="381000"/>
          </a:xfrm>
          <a:prstGeom prst="rect">
            <a:avLst/>
          </a:prstGeom>
          <a:solidFill>
            <a:srgbClr val="393737"/>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Network Access Points</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cxnSp>
        <p:nvCxnSpPr>
          <p:cNvPr id="2142" name="Straight Connector 2141">
            <a:extLst>
              <a:ext uri="{FF2B5EF4-FFF2-40B4-BE49-F238E27FC236}">
                <a16:creationId xmlns:a16="http://schemas.microsoft.com/office/drawing/2014/main" id="{59A10123-3AE6-C1D5-B862-55D9D8507386}"/>
              </a:ext>
            </a:extLst>
          </p:cNvPr>
          <p:cNvCxnSpPr/>
          <p:nvPr/>
        </p:nvCxnSpPr>
        <p:spPr>
          <a:xfrm>
            <a:off x="4134659" y="985868"/>
            <a:ext cx="0" cy="861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3" name="Straight Connector 2142">
            <a:extLst>
              <a:ext uri="{FF2B5EF4-FFF2-40B4-BE49-F238E27FC236}">
                <a16:creationId xmlns:a16="http://schemas.microsoft.com/office/drawing/2014/main" id="{F4A281B5-7B29-9BF3-987C-545B994C4F7B}"/>
              </a:ext>
            </a:extLst>
          </p:cNvPr>
          <p:cNvCxnSpPr>
            <a:cxnSpLocks/>
          </p:cNvCxnSpPr>
          <p:nvPr/>
        </p:nvCxnSpPr>
        <p:spPr>
          <a:xfrm>
            <a:off x="7337374" y="1423532"/>
            <a:ext cx="0" cy="408156"/>
          </a:xfrm>
          <a:prstGeom prst="line">
            <a:avLst/>
          </a:prstGeom>
        </p:spPr>
        <p:style>
          <a:lnRef idx="1">
            <a:schemeClr val="accent1"/>
          </a:lnRef>
          <a:fillRef idx="0">
            <a:schemeClr val="accent1"/>
          </a:fillRef>
          <a:effectRef idx="0">
            <a:schemeClr val="accent1"/>
          </a:effectRef>
          <a:fontRef idx="minor">
            <a:schemeClr val="tx1"/>
          </a:fontRef>
        </p:style>
      </p:cxnSp>
      <p:sp>
        <p:nvSpPr>
          <p:cNvPr id="2144" name="Oval 2143">
            <a:extLst>
              <a:ext uri="{FF2B5EF4-FFF2-40B4-BE49-F238E27FC236}">
                <a16:creationId xmlns:a16="http://schemas.microsoft.com/office/drawing/2014/main" id="{EC649B97-226D-9484-E41B-83857E1D0C8F}"/>
              </a:ext>
            </a:extLst>
          </p:cNvPr>
          <p:cNvSpPr/>
          <p:nvPr/>
        </p:nvSpPr>
        <p:spPr>
          <a:xfrm>
            <a:off x="2330081" y="2496533"/>
            <a:ext cx="3360420" cy="118872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5" name="Oval 2144">
            <a:extLst>
              <a:ext uri="{FF2B5EF4-FFF2-40B4-BE49-F238E27FC236}">
                <a16:creationId xmlns:a16="http://schemas.microsoft.com/office/drawing/2014/main" id="{99D2FC1B-5606-3A81-C90A-3BFA3DD55BDC}"/>
              </a:ext>
            </a:extLst>
          </p:cNvPr>
          <p:cNvSpPr/>
          <p:nvPr/>
        </p:nvSpPr>
        <p:spPr>
          <a:xfrm>
            <a:off x="5988316" y="2515882"/>
            <a:ext cx="3223260" cy="1188720"/>
          </a:xfrm>
          <a:prstGeom prst="ellipse">
            <a:avLst/>
          </a:prstGeom>
          <a:solidFill>
            <a:schemeClr val="bg2">
              <a:lumMod val="75000"/>
            </a:schemeClr>
          </a:solidFill>
          <a:ln w="12700" cap="flat" cmpd="sng" algn="ctr">
            <a:solidFill>
              <a:srgbClr val="4472C4">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6" name="Oval 2145">
            <a:extLst>
              <a:ext uri="{FF2B5EF4-FFF2-40B4-BE49-F238E27FC236}">
                <a16:creationId xmlns:a16="http://schemas.microsoft.com/office/drawing/2014/main" id="{F0EF9700-D2F4-DF27-F6C1-3D006BFBB5D9}"/>
              </a:ext>
            </a:extLst>
          </p:cNvPr>
          <p:cNvSpPr/>
          <p:nvPr/>
        </p:nvSpPr>
        <p:spPr>
          <a:xfrm>
            <a:off x="584968" y="3994498"/>
            <a:ext cx="1432560" cy="8001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7" name="Oval 2146">
            <a:extLst>
              <a:ext uri="{FF2B5EF4-FFF2-40B4-BE49-F238E27FC236}">
                <a16:creationId xmlns:a16="http://schemas.microsoft.com/office/drawing/2014/main" id="{C5E993D5-267F-8D6D-17B5-847FB0FAD763}"/>
              </a:ext>
            </a:extLst>
          </p:cNvPr>
          <p:cNvSpPr/>
          <p:nvPr/>
        </p:nvSpPr>
        <p:spPr>
          <a:xfrm>
            <a:off x="2202490" y="4012278"/>
            <a:ext cx="1432560" cy="800100"/>
          </a:xfrm>
          <a:prstGeom prst="ellipse">
            <a:avLst/>
          </a:prstGeom>
          <a:solidFill>
            <a:srgbClr val="A5A5A5"/>
          </a:solidFill>
          <a:ln w="12700" cap="flat" cmpd="sng" algn="ctr">
            <a:solidFill>
              <a:srgbClr val="A5A5A5">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8" name="Oval 2147">
            <a:extLst>
              <a:ext uri="{FF2B5EF4-FFF2-40B4-BE49-F238E27FC236}">
                <a16:creationId xmlns:a16="http://schemas.microsoft.com/office/drawing/2014/main" id="{89D8697C-C42B-B2DF-5D84-39BB6017B842}"/>
              </a:ext>
            </a:extLst>
          </p:cNvPr>
          <p:cNvSpPr/>
          <p:nvPr/>
        </p:nvSpPr>
        <p:spPr>
          <a:xfrm>
            <a:off x="5679880" y="4016723"/>
            <a:ext cx="1432560" cy="800100"/>
          </a:xfrm>
          <a:prstGeom prst="ellipse">
            <a:avLst/>
          </a:prstGeom>
          <a:solidFill>
            <a:srgbClr val="A5A5A5"/>
          </a:solidFill>
          <a:ln w="12700" cap="flat" cmpd="sng" algn="ctr">
            <a:solidFill>
              <a:srgbClr val="A5A5A5">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49" name="Oval 2148">
            <a:extLst>
              <a:ext uri="{FF2B5EF4-FFF2-40B4-BE49-F238E27FC236}">
                <a16:creationId xmlns:a16="http://schemas.microsoft.com/office/drawing/2014/main" id="{8FA00D0E-3311-57C3-E37F-5DE6A7FA74D4}"/>
              </a:ext>
            </a:extLst>
          </p:cNvPr>
          <p:cNvSpPr/>
          <p:nvPr/>
        </p:nvSpPr>
        <p:spPr>
          <a:xfrm>
            <a:off x="3936141" y="4035376"/>
            <a:ext cx="1432560" cy="800100"/>
          </a:xfrm>
          <a:prstGeom prst="ellipse">
            <a:avLst/>
          </a:prstGeom>
          <a:solidFill>
            <a:srgbClr val="A5A5A5"/>
          </a:solidFill>
          <a:ln w="12700" cap="flat" cmpd="sng" algn="ctr">
            <a:solidFill>
              <a:srgbClr val="A5A5A5">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50" name="Oval 2149">
            <a:extLst>
              <a:ext uri="{FF2B5EF4-FFF2-40B4-BE49-F238E27FC236}">
                <a16:creationId xmlns:a16="http://schemas.microsoft.com/office/drawing/2014/main" id="{517964C6-B4AB-9FC4-5B9D-B788D316134E}"/>
              </a:ext>
            </a:extLst>
          </p:cNvPr>
          <p:cNvSpPr/>
          <p:nvPr/>
        </p:nvSpPr>
        <p:spPr>
          <a:xfrm>
            <a:off x="771975" y="4982824"/>
            <a:ext cx="865496"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1" name="Oval 2150">
            <a:extLst>
              <a:ext uri="{FF2B5EF4-FFF2-40B4-BE49-F238E27FC236}">
                <a16:creationId xmlns:a16="http://schemas.microsoft.com/office/drawing/2014/main" id="{E744DC56-1897-61FA-41A8-CC1C70014BC7}"/>
              </a:ext>
            </a:extLst>
          </p:cNvPr>
          <p:cNvSpPr/>
          <p:nvPr/>
        </p:nvSpPr>
        <p:spPr>
          <a:xfrm>
            <a:off x="2399153" y="4920062"/>
            <a:ext cx="798982"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52" name="Oval 2151">
            <a:extLst>
              <a:ext uri="{FF2B5EF4-FFF2-40B4-BE49-F238E27FC236}">
                <a16:creationId xmlns:a16="http://schemas.microsoft.com/office/drawing/2014/main" id="{8AF346F3-FD3C-995F-A31E-FAFA400B9754}"/>
              </a:ext>
            </a:extLst>
          </p:cNvPr>
          <p:cNvSpPr/>
          <p:nvPr/>
        </p:nvSpPr>
        <p:spPr>
          <a:xfrm>
            <a:off x="3508843" y="4908918"/>
            <a:ext cx="800100"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3" name="Oval 2152">
            <a:extLst>
              <a:ext uri="{FF2B5EF4-FFF2-40B4-BE49-F238E27FC236}">
                <a16:creationId xmlns:a16="http://schemas.microsoft.com/office/drawing/2014/main" id="{75A28A83-AC74-6E1D-EED2-B4A29A23C0EA}"/>
              </a:ext>
            </a:extLst>
          </p:cNvPr>
          <p:cNvSpPr/>
          <p:nvPr/>
        </p:nvSpPr>
        <p:spPr>
          <a:xfrm>
            <a:off x="4380478" y="4880922"/>
            <a:ext cx="797477"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75" name="Oval 2174">
            <a:extLst>
              <a:ext uri="{FF2B5EF4-FFF2-40B4-BE49-F238E27FC236}">
                <a16:creationId xmlns:a16="http://schemas.microsoft.com/office/drawing/2014/main" id="{A8DBF93A-05EE-E6CA-68CE-285D338CC809}"/>
              </a:ext>
            </a:extLst>
          </p:cNvPr>
          <p:cNvSpPr/>
          <p:nvPr/>
        </p:nvSpPr>
        <p:spPr>
          <a:xfrm>
            <a:off x="5541331" y="4858194"/>
            <a:ext cx="764584"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pic>
        <p:nvPicPr>
          <p:cNvPr id="2239" name="Picture 3">
            <a:extLst>
              <a:ext uri="{FF2B5EF4-FFF2-40B4-BE49-F238E27FC236}">
                <a16:creationId xmlns:a16="http://schemas.microsoft.com/office/drawing/2014/main" id="{E68686CC-EBBC-7A3A-2AE6-6F2A387673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2929997" y="270175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1" name="Picture 193">
            <a:extLst>
              <a:ext uri="{FF2B5EF4-FFF2-40B4-BE49-F238E27FC236}">
                <a16:creationId xmlns:a16="http://schemas.microsoft.com/office/drawing/2014/main" id="{69A4B9D2-E09B-F4F3-B182-32A5B75CFA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3774547" y="325897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0" name="Picture 192">
            <a:extLst>
              <a:ext uri="{FF2B5EF4-FFF2-40B4-BE49-F238E27FC236}">
                <a16:creationId xmlns:a16="http://schemas.microsoft.com/office/drawing/2014/main" id="{C3838CF4-EFA9-A9DB-A87B-33613A4834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3774547" y="270175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2" name="Picture 194">
            <a:extLst>
              <a:ext uri="{FF2B5EF4-FFF2-40B4-BE49-F238E27FC236}">
                <a16:creationId xmlns:a16="http://schemas.microsoft.com/office/drawing/2014/main" id="{4EB9B65B-C157-A815-DFFF-BF833450E1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4644497" y="273985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3" name="Picture 195">
            <a:extLst>
              <a:ext uri="{FF2B5EF4-FFF2-40B4-BE49-F238E27FC236}">
                <a16:creationId xmlns:a16="http://schemas.microsoft.com/office/drawing/2014/main" id="{97AD3226-9FD5-BF70-05D9-A199915A33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97427" y="280262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4" name="Picture 196">
            <a:extLst>
              <a:ext uri="{FF2B5EF4-FFF2-40B4-BE49-F238E27FC236}">
                <a16:creationId xmlns:a16="http://schemas.microsoft.com/office/drawing/2014/main" id="{EF9CDC4E-B64F-853C-8AD9-E8F05C9858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1977" y="280262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5" name="Picture 197">
            <a:extLst>
              <a:ext uri="{FF2B5EF4-FFF2-40B4-BE49-F238E27FC236}">
                <a16:creationId xmlns:a16="http://schemas.microsoft.com/office/drawing/2014/main" id="{28F09900-388C-0E8E-D442-3EC039CDB0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35727" y="280262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6" name="Picture 198">
            <a:extLst>
              <a:ext uri="{FF2B5EF4-FFF2-40B4-BE49-F238E27FC236}">
                <a16:creationId xmlns:a16="http://schemas.microsoft.com/office/drawing/2014/main" id="{524F85A0-9957-AF03-E600-C9E4C1748C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4202" y="327410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7" name="Picture 199">
            <a:extLst>
              <a:ext uri="{FF2B5EF4-FFF2-40B4-BE49-F238E27FC236}">
                <a16:creationId xmlns:a16="http://schemas.microsoft.com/office/drawing/2014/main" id="{FC4A239F-AF78-30E9-E497-FEB230193B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559" y="4270989"/>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48" name="Picture 200">
            <a:extLst>
              <a:ext uri="{FF2B5EF4-FFF2-40B4-BE49-F238E27FC236}">
                <a16:creationId xmlns:a16="http://schemas.microsoft.com/office/drawing/2014/main" id="{831D6B82-A803-099F-953A-AD9C2ED2C7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1085" y="4248764"/>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0" name="Picture 202">
            <a:extLst>
              <a:ext uri="{FF2B5EF4-FFF2-40B4-BE49-F238E27FC236}">
                <a16:creationId xmlns:a16="http://schemas.microsoft.com/office/drawing/2014/main" id="{6F1CDB1B-AF50-2A08-80EB-CB955BC356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9478" y="4297260"/>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49" name="Picture 201">
            <a:extLst>
              <a:ext uri="{FF2B5EF4-FFF2-40B4-BE49-F238E27FC236}">
                <a16:creationId xmlns:a16="http://schemas.microsoft.com/office/drawing/2014/main" id="{8CE42835-C485-647D-8F65-5ADE62062C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6156" y="4277390"/>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1" name="Picture 203">
            <a:extLst>
              <a:ext uri="{FF2B5EF4-FFF2-40B4-BE49-F238E27FC236}">
                <a16:creationId xmlns:a16="http://schemas.microsoft.com/office/drawing/2014/main" id="{9472C424-8B92-954A-4F84-CAEA15691E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3433" y="429946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2" name="Picture 204">
            <a:extLst>
              <a:ext uri="{FF2B5EF4-FFF2-40B4-BE49-F238E27FC236}">
                <a16:creationId xmlns:a16="http://schemas.microsoft.com/office/drawing/2014/main" id="{AB4F7158-4D94-96DC-6169-BF6B6E472F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4933" y="429946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3" name="Picture 205">
            <a:extLst>
              <a:ext uri="{FF2B5EF4-FFF2-40B4-BE49-F238E27FC236}">
                <a16:creationId xmlns:a16="http://schemas.microsoft.com/office/drawing/2014/main" id="{2D8BA289-2989-ECCB-D234-E1E5CEAFA8B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50708" y="4319538"/>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4" name="Picture 206">
            <a:extLst>
              <a:ext uri="{FF2B5EF4-FFF2-40B4-BE49-F238E27FC236}">
                <a16:creationId xmlns:a16="http://schemas.microsoft.com/office/drawing/2014/main" id="{9716D4F2-2064-37EC-633B-A00AF3CB45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2502" y="4316519"/>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5" name="Picture 207">
            <a:extLst>
              <a:ext uri="{FF2B5EF4-FFF2-40B4-BE49-F238E27FC236}">
                <a16:creationId xmlns:a16="http://schemas.microsoft.com/office/drawing/2014/main" id="{B2FC833E-A78D-F1D4-2B08-E432D5A7B6B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3273" y="542261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6" name="Picture 208">
            <a:extLst>
              <a:ext uri="{FF2B5EF4-FFF2-40B4-BE49-F238E27FC236}">
                <a16:creationId xmlns:a16="http://schemas.microsoft.com/office/drawing/2014/main" id="{B14031C3-E89E-959F-75C9-EE7E696B34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194" y="535530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7" name="Picture 209">
            <a:extLst>
              <a:ext uri="{FF2B5EF4-FFF2-40B4-BE49-F238E27FC236}">
                <a16:creationId xmlns:a16="http://schemas.microsoft.com/office/drawing/2014/main" id="{8824A154-2D23-40F4-4121-4B7DF80900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6791" y="528798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8" name="Picture 210">
            <a:extLst>
              <a:ext uri="{FF2B5EF4-FFF2-40B4-BE49-F238E27FC236}">
                <a16:creationId xmlns:a16="http://schemas.microsoft.com/office/drawing/2014/main" id="{92522730-7ADC-DFA0-7DAE-B9060786AB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0273" y="5313920"/>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9" name="Picture 211">
            <a:extLst>
              <a:ext uri="{FF2B5EF4-FFF2-40B4-BE49-F238E27FC236}">
                <a16:creationId xmlns:a16="http://schemas.microsoft.com/office/drawing/2014/main" id="{3B3EC9F6-B83E-30F0-AF21-D59A5225EA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3833" y="5230984"/>
            <a:ext cx="342900" cy="231775"/>
          </a:xfrm>
          <a:prstGeom prst="rect">
            <a:avLst/>
          </a:prstGeom>
          <a:noFill/>
          <a:extLst>
            <a:ext uri="{909E8E84-426E-40DD-AFC4-6F175D3DCCD1}">
              <a14:hiddenFill xmlns:a14="http://schemas.microsoft.com/office/drawing/2010/main">
                <a:solidFill>
                  <a:srgbClr val="FFFFFF"/>
                </a:solidFill>
              </a14:hiddenFill>
            </a:ext>
          </a:extLst>
        </p:spPr>
      </p:pic>
      <p:cxnSp>
        <p:nvCxnSpPr>
          <p:cNvPr id="2260" name="Straight Connector 2259">
            <a:extLst>
              <a:ext uri="{FF2B5EF4-FFF2-40B4-BE49-F238E27FC236}">
                <a16:creationId xmlns:a16="http://schemas.microsoft.com/office/drawing/2014/main" id="{4D14E477-C4ED-5532-7955-0FC28D39762B}"/>
              </a:ext>
            </a:extLst>
          </p:cNvPr>
          <p:cNvCxnSpPr/>
          <p:nvPr/>
        </p:nvCxnSpPr>
        <p:spPr>
          <a:xfrm flipH="1">
            <a:off x="3960659" y="2200623"/>
            <a:ext cx="396240" cy="426720"/>
          </a:xfrm>
          <a:prstGeom prst="line">
            <a:avLst/>
          </a:prstGeom>
        </p:spPr>
        <p:style>
          <a:lnRef idx="1">
            <a:schemeClr val="dk1"/>
          </a:lnRef>
          <a:fillRef idx="0">
            <a:schemeClr val="dk1"/>
          </a:fillRef>
          <a:effectRef idx="0">
            <a:schemeClr val="dk1"/>
          </a:effectRef>
          <a:fontRef idx="minor">
            <a:schemeClr val="tx1"/>
          </a:fontRef>
        </p:style>
      </p:cxnSp>
      <p:cxnSp>
        <p:nvCxnSpPr>
          <p:cNvPr id="2261" name="Straight Connector 2260">
            <a:extLst>
              <a:ext uri="{FF2B5EF4-FFF2-40B4-BE49-F238E27FC236}">
                <a16:creationId xmlns:a16="http://schemas.microsoft.com/office/drawing/2014/main" id="{E9F529E8-7553-FEE5-6469-E8E2FD41C39F}"/>
              </a:ext>
            </a:extLst>
          </p:cNvPr>
          <p:cNvCxnSpPr>
            <a:cxnSpLocks/>
            <a:endCxn id="2244" idx="0"/>
          </p:cNvCxnSpPr>
          <p:nvPr/>
        </p:nvCxnSpPr>
        <p:spPr>
          <a:xfrm>
            <a:off x="4843257" y="2111088"/>
            <a:ext cx="2734464" cy="691532"/>
          </a:xfrm>
          <a:prstGeom prst="line">
            <a:avLst/>
          </a:prstGeom>
        </p:spPr>
        <p:style>
          <a:lnRef idx="1">
            <a:schemeClr val="dk1"/>
          </a:lnRef>
          <a:fillRef idx="0">
            <a:schemeClr val="dk1"/>
          </a:fillRef>
          <a:effectRef idx="0">
            <a:schemeClr val="dk1"/>
          </a:effectRef>
          <a:fontRef idx="minor">
            <a:schemeClr val="tx1"/>
          </a:fontRef>
        </p:style>
      </p:cxnSp>
      <p:cxnSp>
        <p:nvCxnSpPr>
          <p:cNvPr id="2262" name="Straight Connector 2261">
            <a:extLst>
              <a:ext uri="{FF2B5EF4-FFF2-40B4-BE49-F238E27FC236}">
                <a16:creationId xmlns:a16="http://schemas.microsoft.com/office/drawing/2014/main" id="{7AAF023B-AC3C-B01B-767E-DBB1582CA08F}"/>
              </a:ext>
            </a:extLst>
          </p:cNvPr>
          <p:cNvCxnSpPr>
            <a:cxnSpLocks/>
          </p:cNvCxnSpPr>
          <p:nvPr/>
        </p:nvCxnSpPr>
        <p:spPr>
          <a:xfrm flipH="1">
            <a:off x="1475823" y="3518514"/>
            <a:ext cx="2328834" cy="781419"/>
          </a:xfrm>
          <a:prstGeom prst="line">
            <a:avLst/>
          </a:prstGeom>
        </p:spPr>
        <p:style>
          <a:lnRef idx="1">
            <a:schemeClr val="dk1"/>
          </a:lnRef>
          <a:fillRef idx="0">
            <a:schemeClr val="dk1"/>
          </a:fillRef>
          <a:effectRef idx="0">
            <a:schemeClr val="dk1"/>
          </a:effectRef>
          <a:fontRef idx="minor">
            <a:schemeClr val="tx1"/>
          </a:fontRef>
        </p:style>
      </p:cxnSp>
      <p:cxnSp>
        <p:nvCxnSpPr>
          <p:cNvPr id="2263" name="Straight Connector 2262">
            <a:extLst>
              <a:ext uri="{FF2B5EF4-FFF2-40B4-BE49-F238E27FC236}">
                <a16:creationId xmlns:a16="http://schemas.microsoft.com/office/drawing/2014/main" id="{1034060D-1BC6-9244-C8E4-E5B60FC6D9D7}"/>
              </a:ext>
            </a:extLst>
          </p:cNvPr>
          <p:cNvCxnSpPr>
            <a:cxnSpLocks/>
            <a:endCxn id="2251" idx="0"/>
          </p:cNvCxnSpPr>
          <p:nvPr/>
        </p:nvCxnSpPr>
        <p:spPr>
          <a:xfrm>
            <a:off x="4140575" y="3531982"/>
            <a:ext cx="224308" cy="767481"/>
          </a:xfrm>
          <a:prstGeom prst="line">
            <a:avLst/>
          </a:prstGeom>
        </p:spPr>
        <p:style>
          <a:lnRef idx="1">
            <a:schemeClr val="dk1"/>
          </a:lnRef>
          <a:fillRef idx="0">
            <a:schemeClr val="dk1"/>
          </a:fillRef>
          <a:effectRef idx="0">
            <a:schemeClr val="dk1"/>
          </a:effectRef>
          <a:fontRef idx="minor">
            <a:schemeClr val="tx1"/>
          </a:fontRef>
        </p:style>
      </p:cxnSp>
      <p:cxnSp>
        <p:nvCxnSpPr>
          <p:cNvPr id="2264" name="Straight Connector 2263">
            <a:extLst>
              <a:ext uri="{FF2B5EF4-FFF2-40B4-BE49-F238E27FC236}">
                <a16:creationId xmlns:a16="http://schemas.microsoft.com/office/drawing/2014/main" id="{9B3AE1C5-B348-26B7-5076-8CF3E8A522AE}"/>
              </a:ext>
            </a:extLst>
          </p:cNvPr>
          <p:cNvCxnSpPr>
            <a:cxnSpLocks/>
          </p:cNvCxnSpPr>
          <p:nvPr/>
        </p:nvCxnSpPr>
        <p:spPr>
          <a:xfrm>
            <a:off x="4252729" y="3558170"/>
            <a:ext cx="1727332" cy="780462"/>
          </a:xfrm>
          <a:prstGeom prst="line">
            <a:avLst/>
          </a:prstGeom>
        </p:spPr>
        <p:style>
          <a:lnRef idx="1">
            <a:schemeClr val="dk1"/>
          </a:lnRef>
          <a:fillRef idx="0">
            <a:schemeClr val="dk1"/>
          </a:fillRef>
          <a:effectRef idx="0">
            <a:schemeClr val="dk1"/>
          </a:effectRef>
          <a:fontRef idx="minor">
            <a:schemeClr val="tx1"/>
          </a:fontRef>
        </p:style>
      </p:cxnSp>
      <p:cxnSp>
        <p:nvCxnSpPr>
          <p:cNvPr id="2265" name="Straight Connector 2264">
            <a:extLst>
              <a:ext uri="{FF2B5EF4-FFF2-40B4-BE49-F238E27FC236}">
                <a16:creationId xmlns:a16="http://schemas.microsoft.com/office/drawing/2014/main" id="{B7345D68-3C54-1EB6-7B8B-8A0D664E7A87}"/>
              </a:ext>
            </a:extLst>
          </p:cNvPr>
          <p:cNvCxnSpPr>
            <a:cxnSpLocks/>
            <a:stCxn id="2251" idx="2"/>
          </p:cNvCxnSpPr>
          <p:nvPr/>
        </p:nvCxnSpPr>
        <p:spPr>
          <a:xfrm>
            <a:off x="4364883" y="4531238"/>
            <a:ext cx="465397" cy="779854"/>
          </a:xfrm>
          <a:prstGeom prst="line">
            <a:avLst/>
          </a:prstGeom>
        </p:spPr>
        <p:style>
          <a:lnRef idx="1">
            <a:schemeClr val="dk1"/>
          </a:lnRef>
          <a:fillRef idx="0">
            <a:schemeClr val="dk1"/>
          </a:fillRef>
          <a:effectRef idx="0">
            <a:schemeClr val="dk1"/>
          </a:effectRef>
          <a:fontRef idx="minor">
            <a:schemeClr val="tx1"/>
          </a:fontRef>
        </p:style>
      </p:cxnSp>
      <p:cxnSp>
        <p:nvCxnSpPr>
          <p:cNvPr id="2266" name="Straight Connector 2265">
            <a:extLst>
              <a:ext uri="{FF2B5EF4-FFF2-40B4-BE49-F238E27FC236}">
                <a16:creationId xmlns:a16="http://schemas.microsoft.com/office/drawing/2014/main" id="{70BD9D8D-7946-5B18-8768-16EE5C2F316F}"/>
              </a:ext>
            </a:extLst>
          </p:cNvPr>
          <p:cNvCxnSpPr>
            <a:cxnSpLocks/>
            <a:stCxn id="2241" idx="2"/>
          </p:cNvCxnSpPr>
          <p:nvPr/>
        </p:nvCxnSpPr>
        <p:spPr>
          <a:xfrm flipH="1">
            <a:off x="3198135" y="3579192"/>
            <a:ext cx="800106" cy="745025"/>
          </a:xfrm>
          <a:prstGeom prst="line">
            <a:avLst/>
          </a:prstGeom>
        </p:spPr>
        <p:style>
          <a:lnRef idx="1">
            <a:schemeClr val="dk1"/>
          </a:lnRef>
          <a:fillRef idx="0">
            <a:schemeClr val="dk1"/>
          </a:fillRef>
          <a:effectRef idx="0">
            <a:schemeClr val="dk1"/>
          </a:effectRef>
          <a:fontRef idx="minor">
            <a:schemeClr val="tx1"/>
          </a:fontRef>
        </p:style>
      </p:cxnSp>
      <p:cxnSp>
        <p:nvCxnSpPr>
          <p:cNvPr id="2267" name="Straight Connector 2266">
            <a:extLst>
              <a:ext uri="{FF2B5EF4-FFF2-40B4-BE49-F238E27FC236}">
                <a16:creationId xmlns:a16="http://schemas.microsoft.com/office/drawing/2014/main" id="{F73F0C58-2BEA-2449-6D05-7B63ADAC7F1D}"/>
              </a:ext>
            </a:extLst>
          </p:cNvPr>
          <p:cNvCxnSpPr>
            <a:cxnSpLocks/>
            <a:endCxn id="2256" idx="0"/>
          </p:cNvCxnSpPr>
          <p:nvPr/>
        </p:nvCxnSpPr>
        <p:spPr>
          <a:xfrm>
            <a:off x="2732181" y="4502764"/>
            <a:ext cx="66463" cy="852539"/>
          </a:xfrm>
          <a:prstGeom prst="line">
            <a:avLst/>
          </a:prstGeom>
        </p:spPr>
        <p:style>
          <a:lnRef idx="1">
            <a:schemeClr val="dk1"/>
          </a:lnRef>
          <a:fillRef idx="0">
            <a:schemeClr val="dk1"/>
          </a:fillRef>
          <a:effectRef idx="0">
            <a:schemeClr val="dk1"/>
          </a:effectRef>
          <a:fontRef idx="minor">
            <a:schemeClr val="tx1"/>
          </a:fontRef>
        </p:style>
      </p:cxnSp>
      <p:cxnSp>
        <p:nvCxnSpPr>
          <p:cNvPr id="2268" name="Straight Connector 2267">
            <a:extLst>
              <a:ext uri="{FF2B5EF4-FFF2-40B4-BE49-F238E27FC236}">
                <a16:creationId xmlns:a16="http://schemas.microsoft.com/office/drawing/2014/main" id="{4C43B401-23A7-115F-0AA4-012E16051914}"/>
              </a:ext>
            </a:extLst>
          </p:cNvPr>
          <p:cNvCxnSpPr>
            <a:cxnSpLocks/>
            <a:stCxn id="2247" idx="2"/>
            <a:endCxn id="2255" idx="0"/>
          </p:cNvCxnSpPr>
          <p:nvPr/>
        </p:nvCxnSpPr>
        <p:spPr>
          <a:xfrm>
            <a:off x="925009" y="4502764"/>
            <a:ext cx="279714" cy="919849"/>
          </a:xfrm>
          <a:prstGeom prst="line">
            <a:avLst/>
          </a:prstGeom>
        </p:spPr>
        <p:style>
          <a:lnRef idx="1">
            <a:schemeClr val="dk1"/>
          </a:lnRef>
          <a:fillRef idx="0">
            <a:schemeClr val="dk1"/>
          </a:fillRef>
          <a:effectRef idx="0">
            <a:schemeClr val="dk1"/>
          </a:effectRef>
          <a:fontRef idx="minor">
            <a:schemeClr val="tx1"/>
          </a:fontRef>
        </p:style>
      </p:cxnSp>
      <p:cxnSp>
        <p:nvCxnSpPr>
          <p:cNvPr id="2269" name="Straight Connector 2268">
            <a:extLst>
              <a:ext uri="{FF2B5EF4-FFF2-40B4-BE49-F238E27FC236}">
                <a16:creationId xmlns:a16="http://schemas.microsoft.com/office/drawing/2014/main" id="{2ACBDC02-AD49-18C0-595E-34917EAD6AAB}"/>
              </a:ext>
            </a:extLst>
          </p:cNvPr>
          <p:cNvCxnSpPr>
            <a:cxnSpLocks/>
            <a:stCxn id="2251" idx="2"/>
          </p:cNvCxnSpPr>
          <p:nvPr/>
        </p:nvCxnSpPr>
        <p:spPr>
          <a:xfrm flipH="1">
            <a:off x="3982760" y="4531238"/>
            <a:ext cx="382123" cy="744138"/>
          </a:xfrm>
          <a:prstGeom prst="line">
            <a:avLst/>
          </a:prstGeom>
        </p:spPr>
        <p:style>
          <a:lnRef idx="1">
            <a:schemeClr val="dk1"/>
          </a:lnRef>
          <a:fillRef idx="0">
            <a:schemeClr val="dk1"/>
          </a:fillRef>
          <a:effectRef idx="0">
            <a:schemeClr val="dk1"/>
          </a:effectRef>
          <a:fontRef idx="minor">
            <a:schemeClr val="tx1"/>
          </a:fontRef>
        </p:style>
      </p:cxnSp>
      <p:cxnSp>
        <p:nvCxnSpPr>
          <p:cNvPr id="2271" name="Straight Connector 2270">
            <a:extLst>
              <a:ext uri="{FF2B5EF4-FFF2-40B4-BE49-F238E27FC236}">
                <a16:creationId xmlns:a16="http://schemas.microsoft.com/office/drawing/2014/main" id="{C587D034-0A01-B63D-86B5-F8AFAE8CD34B}"/>
              </a:ext>
            </a:extLst>
          </p:cNvPr>
          <p:cNvCxnSpPr>
            <a:cxnSpLocks/>
            <a:stCxn id="2255" idx="2"/>
            <a:endCxn id="2281" idx="0"/>
          </p:cNvCxnSpPr>
          <p:nvPr/>
        </p:nvCxnSpPr>
        <p:spPr>
          <a:xfrm flipH="1">
            <a:off x="622139" y="5654388"/>
            <a:ext cx="582584" cy="619125"/>
          </a:xfrm>
          <a:prstGeom prst="line">
            <a:avLst/>
          </a:prstGeom>
        </p:spPr>
        <p:style>
          <a:lnRef idx="1">
            <a:schemeClr val="dk1"/>
          </a:lnRef>
          <a:fillRef idx="0">
            <a:schemeClr val="dk1"/>
          </a:fillRef>
          <a:effectRef idx="0">
            <a:schemeClr val="dk1"/>
          </a:effectRef>
          <a:fontRef idx="minor">
            <a:schemeClr val="tx1"/>
          </a:fontRef>
        </p:style>
      </p:cxnSp>
      <p:cxnSp>
        <p:nvCxnSpPr>
          <p:cNvPr id="2273" name="Straight Connector 2272">
            <a:extLst>
              <a:ext uri="{FF2B5EF4-FFF2-40B4-BE49-F238E27FC236}">
                <a16:creationId xmlns:a16="http://schemas.microsoft.com/office/drawing/2014/main" id="{5715EEA4-6D3E-21EB-005F-E4F10B99F527}"/>
              </a:ext>
            </a:extLst>
          </p:cNvPr>
          <p:cNvCxnSpPr>
            <a:cxnSpLocks/>
            <a:stCxn id="2255" idx="2"/>
          </p:cNvCxnSpPr>
          <p:nvPr/>
        </p:nvCxnSpPr>
        <p:spPr>
          <a:xfrm>
            <a:off x="1204723" y="5654388"/>
            <a:ext cx="523240" cy="599645"/>
          </a:xfrm>
          <a:prstGeom prst="line">
            <a:avLst/>
          </a:prstGeom>
        </p:spPr>
        <p:style>
          <a:lnRef idx="1">
            <a:schemeClr val="dk1"/>
          </a:lnRef>
          <a:fillRef idx="0">
            <a:schemeClr val="dk1"/>
          </a:fillRef>
          <a:effectRef idx="0">
            <a:schemeClr val="dk1"/>
          </a:effectRef>
          <a:fontRef idx="minor">
            <a:schemeClr val="tx1"/>
          </a:fontRef>
        </p:style>
      </p:cxnSp>
      <p:cxnSp>
        <p:nvCxnSpPr>
          <p:cNvPr id="2279" name="Straight Connector 2278">
            <a:extLst>
              <a:ext uri="{FF2B5EF4-FFF2-40B4-BE49-F238E27FC236}">
                <a16:creationId xmlns:a16="http://schemas.microsoft.com/office/drawing/2014/main" id="{2A13C93B-BDA8-E36A-B07E-8A3D1680E2EE}"/>
              </a:ext>
            </a:extLst>
          </p:cNvPr>
          <p:cNvCxnSpPr>
            <a:cxnSpLocks/>
            <a:endCxn id="2259" idx="0"/>
          </p:cNvCxnSpPr>
          <p:nvPr/>
        </p:nvCxnSpPr>
        <p:spPr>
          <a:xfrm flipH="1">
            <a:off x="5975283" y="4525530"/>
            <a:ext cx="61275" cy="705454"/>
          </a:xfrm>
          <a:prstGeom prst="line">
            <a:avLst/>
          </a:prstGeom>
        </p:spPr>
        <p:style>
          <a:lnRef idx="1">
            <a:schemeClr val="dk1"/>
          </a:lnRef>
          <a:fillRef idx="0">
            <a:schemeClr val="dk1"/>
          </a:fillRef>
          <a:effectRef idx="0">
            <a:schemeClr val="dk1"/>
          </a:effectRef>
          <a:fontRef idx="minor">
            <a:schemeClr val="tx1"/>
          </a:fontRef>
        </p:style>
      </p:cxnSp>
      <p:sp>
        <p:nvSpPr>
          <p:cNvPr id="2281" name="Text Box 20">
            <a:extLst>
              <a:ext uri="{FF2B5EF4-FFF2-40B4-BE49-F238E27FC236}">
                <a16:creationId xmlns:a16="http://schemas.microsoft.com/office/drawing/2014/main" id="{05E1EBBB-3B52-DA89-1538-6442256EBE96}"/>
              </a:ext>
            </a:extLst>
          </p:cNvPr>
          <p:cNvSpPr txBox="1">
            <a:spLocks noChangeArrowheads="1"/>
          </p:cNvSpPr>
          <p:nvPr/>
        </p:nvSpPr>
        <p:spPr bwMode="auto">
          <a:xfrm>
            <a:off x="151945" y="6273513"/>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85" name="Text Box 228">
            <a:extLst>
              <a:ext uri="{FF2B5EF4-FFF2-40B4-BE49-F238E27FC236}">
                <a16:creationId xmlns:a16="http://schemas.microsoft.com/office/drawing/2014/main" id="{97F7D03C-C365-3356-1CA2-FD0DF10DCE51}"/>
              </a:ext>
            </a:extLst>
          </p:cNvPr>
          <p:cNvSpPr txBox="1">
            <a:spLocks noChangeArrowheads="1"/>
          </p:cNvSpPr>
          <p:nvPr/>
        </p:nvSpPr>
        <p:spPr bwMode="auto">
          <a:xfrm>
            <a:off x="7407842" y="4209128"/>
            <a:ext cx="2444079" cy="4064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Regional Service Provider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86" name="Text Box 226">
            <a:extLst>
              <a:ext uri="{FF2B5EF4-FFF2-40B4-BE49-F238E27FC236}">
                <a16:creationId xmlns:a16="http://schemas.microsoft.com/office/drawing/2014/main" id="{A9E9A145-7A86-DA05-A183-F4756FA3B9B6}"/>
              </a:ext>
            </a:extLst>
          </p:cNvPr>
          <p:cNvSpPr txBox="1">
            <a:spLocks noChangeArrowheads="1"/>
          </p:cNvSpPr>
          <p:nvPr/>
        </p:nvSpPr>
        <p:spPr bwMode="auto">
          <a:xfrm>
            <a:off x="6396159" y="5069040"/>
            <a:ext cx="2266141" cy="35357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Internet Service Provider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87" name="Text Box 227">
            <a:extLst>
              <a:ext uri="{FF2B5EF4-FFF2-40B4-BE49-F238E27FC236}">
                <a16:creationId xmlns:a16="http://schemas.microsoft.com/office/drawing/2014/main" id="{5BC508AD-8F34-133E-98D4-B08B5D497184}"/>
              </a:ext>
            </a:extLst>
          </p:cNvPr>
          <p:cNvSpPr txBox="1">
            <a:spLocks noChangeArrowheads="1"/>
          </p:cNvSpPr>
          <p:nvPr/>
        </p:nvSpPr>
        <p:spPr bwMode="auto">
          <a:xfrm>
            <a:off x="9509391" y="2762364"/>
            <a:ext cx="1977157" cy="554663"/>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Network Service Provider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88" name="Rectangle 241">
            <a:extLst>
              <a:ext uri="{FF2B5EF4-FFF2-40B4-BE49-F238E27FC236}">
                <a16:creationId xmlns:a16="http://schemas.microsoft.com/office/drawing/2014/main" id="{B92DA7B5-FFC6-E5E3-5D0D-0786D8FCCEFE}"/>
              </a:ext>
            </a:extLst>
          </p:cNvPr>
          <p:cNvSpPr>
            <a:spLocks noChangeArrowheads="1"/>
          </p:cNvSpPr>
          <p:nvPr/>
        </p:nvSpPr>
        <p:spPr bwMode="auto">
          <a:xfrm>
            <a:off x="2487561" y="8125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79" name="Text Box 20">
            <a:extLst>
              <a:ext uri="{FF2B5EF4-FFF2-40B4-BE49-F238E27FC236}">
                <a16:creationId xmlns:a16="http://schemas.microsoft.com/office/drawing/2014/main" id="{6055A299-2745-773C-697D-33C37324F7C3}"/>
              </a:ext>
            </a:extLst>
          </p:cNvPr>
          <p:cNvSpPr txBox="1">
            <a:spLocks noChangeArrowheads="1"/>
          </p:cNvSpPr>
          <p:nvPr/>
        </p:nvSpPr>
        <p:spPr bwMode="auto">
          <a:xfrm>
            <a:off x="1224688" y="6273513"/>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80" name="Text Box 20">
            <a:extLst>
              <a:ext uri="{FF2B5EF4-FFF2-40B4-BE49-F238E27FC236}">
                <a16:creationId xmlns:a16="http://schemas.microsoft.com/office/drawing/2014/main" id="{059304C5-62E0-D69E-29E3-9758E64C83B2}"/>
              </a:ext>
            </a:extLst>
          </p:cNvPr>
          <p:cNvSpPr txBox="1">
            <a:spLocks noChangeArrowheads="1"/>
          </p:cNvSpPr>
          <p:nvPr/>
        </p:nvSpPr>
        <p:spPr bwMode="auto">
          <a:xfrm>
            <a:off x="2390436" y="6274230"/>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86" name="Text Box 20">
            <a:extLst>
              <a:ext uri="{FF2B5EF4-FFF2-40B4-BE49-F238E27FC236}">
                <a16:creationId xmlns:a16="http://schemas.microsoft.com/office/drawing/2014/main" id="{22637037-0E4D-F3CC-382C-4C3C259751D1}"/>
              </a:ext>
            </a:extLst>
          </p:cNvPr>
          <p:cNvSpPr txBox="1">
            <a:spLocks noChangeArrowheads="1"/>
          </p:cNvSpPr>
          <p:nvPr/>
        </p:nvSpPr>
        <p:spPr bwMode="auto">
          <a:xfrm>
            <a:off x="3465947" y="6273513"/>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87" name="Text Box 20">
            <a:extLst>
              <a:ext uri="{FF2B5EF4-FFF2-40B4-BE49-F238E27FC236}">
                <a16:creationId xmlns:a16="http://schemas.microsoft.com/office/drawing/2014/main" id="{852973BB-D044-3DE2-14C9-18D7EB0BA29A}"/>
              </a:ext>
            </a:extLst>
          </p:cNvPr>
          <p:cNvSpPr txBox="1">
            <a:spLocks noChangeArrowheads="1"/>
          </p:cNvSpPr>
          <p:nvPr/>
        </p:nvSpPr>
        <p:spPr bwMode="auto">
          <a:xfrm>
            <a:off x="4542603" y="6284697"/>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88" name="Text Box 20">
            <a:extLst>
              <a:ext uri="{FF2B5EF4-FFF2-40B4-BE49-F238E27FC236}">
                <a16:creationId xmlns:a16="http://schemas.microsoft.com/office/drawing/2014/main" id="{842D5FCB-8284-13BF-0899-06A3FBBDB1F1}"/>
              </a:ext>
            </a:extLst>
          </p:cNvPr>
          <p:cNvSpPr txBox="1">
            <a:spLocks noChangeArrowheads="1"/>
          </p:cNvSpPr>
          <p:nvPr/>
        </p:nvSpPr>
        <p:spPr bwMode="auto">
          <a:xfrm>
            <a:off x="5751746" y="6274865"/>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189" name="Straight Connector 2188">
            <a:extLst>
              <a:ext uri="{FF2B5EF4-FFF2-40B4-BE49-F238E27FC236}">
                <a16:creationId xmlns:a16="http://schemas.microsoft.com/office/drawing/2014/main" id="{8467EC54-37ED-0440-1E6D-BE881F48E3F3}"/>
              </a:ext>
            </a:extLst>
          </p:cNvPr>
          <p:cNvCxnSpPr>
            <a:cxnSpLocks/>
            <a:endCxn id="2180" idx="0"/>
          </p:cNvCxnSpPr>
          <p:nvPr/>
        </p:nvCxnSpPr>
        <p:spPr>
          <a:xfrm flipH="1">
            <a:off x="2860630" y="5545695"/>
            <a:ext cx="53438" cy="728535"/>
          </a:xfrm>
          <a:prstGeom prst="line">
            <a:avLst/>
          </a:prstGeom>
        </p:spPr>
        <p:style>
          <a:lnRef idx="1">
            <a:schemeClr val="dk1"/>
          </a:lnRef>
          <a:fillRef idx="0">
            <a:schemeClr val="dk1"/>
          </a:fillRef>
          <a:effectRef idx="0">
            <a:schemeClr val="dk1"/>
          </a:effectRef>
          <a:fontRef idx="minor">
            <a:schemeClr val="tx1"/>
          </a:fontRef>
        </p:style>
      </p:cxnSp>
      <p:cxnSp>
        <p:nvCxnSpPr>
          <p:cNvPr id="2190" name="Straight Connector 2189">
            <a:extLst>
              <a:ext uri="{FF2B5EF4-FFF2-40B4-BE49-F238E27FC236}">
                <a16:creationId xmlns:a16="http://schemas.microsoft.com/office/drawing/2014/main" id="{E2A4564F-C470-43B9-0695-B3294E39663A}"/>
              </a:ext>
            </a:extLst>
          </p:cNvPr>
          <p:cNvCxnSpPr>
            <a:cxnSpLocks/>
            <a:endCxn id="2180" idx="0"/>
          </p:cNvCxnSpPr>
          <p:nvPr/>
        </p:nvCxnSpPr>
        <p:spPr>
          <a:xfrm flipH="1">
            <a:off x="2860630" y="5545695"/>
            <a:ext cx="53438" cy="728535"/>
          </a:xfrm>
          <a:prstGeom prst="line">
            <a:avLst/>
          </a:prstGeom>
        </p:spPr>
        <p:style>
          <a:lnRef idx="1">
            <a:schemeClr val="dk1"/>
          </a:lnRef>
          <a:fillRef idx="0">
            <a:schemeClr val="dk1"/>
          </a:fillRef>
          <a:effectRef idx="0">
            <a:schemeClr val="dk1"/>
          </a:effectRef>
          <a:fontRef idx="minor">
            <a:schemeClr val="tx1"/>
          </a:fontRef>
        </p:style>
      </p:cxnSp>
      <p:cxnSp>
        <p:nvCxnSpPr>
          <p:cNvPr id="2193" name="Straight Connector 2192">
            <a:extLst>
              <a:ext uri="{FF2B5EF4-FFF2-40B4-BE49-F238E27FC236}">
                <a16:creationId xmlns:a16="http://schemas.microsoft.com/office/drawing/2014/main" id="{A991380B-1912-1211-5E3E-D7FD2232D3E3}"/>
              </a:ext>
            </a:extLst>
          </p:cNvPr>
          <p:cNvCxnSpPr>
            <a:cxnSpLocks/>
            <a:stCxn id="2256" idx="0"/>
            <a:endCxn id="2186" idx="0"/>
          </p:cNvCxnSpPr>
          <p:nvPr/>
        </p:nvCxnSpPr>
        <p:spPr>
          <a:xfrm>
            <a:off x="2798644" y="5355303"/>
            <a:ext cx="1137497" cy="918210"/>
          </a:xfrm>
          <a:prstGeom prst="line">
            <a:avLst/>
          </a:prstGeom>
        </p:spPr>
        <p:style>
          <a:lnRef idx="1">
            <a:schemeClr val="dk1"/>
          </a:lnRef>
          <a:fillRef idx="0">
            <a:schemeClr val="dk1"/>
          </a:fillRef>
          <a:effectRef idx="0">
            <a:schemeClr val="dk1"/>
          </a:effectRef>
          <a:fontRef idx="minor">
            <a:schemeClr val="tx1"/>
          </a:fontRef>
        </p:style>
      </p:cxnSp>
      <p:cxnSp>
        <p:nvCxnSpPr>
          <p:cNvPr id="2194" name="Straight Connector 2193">
            <a:extLst>
              <a:ext uri="{FF2B5EF4-FFF2-40B4-BE49-F238E27FC236}">
                <a16:creationId xmlns:a16="http://schemas.microsoft.com/office/drawing/2014/main" id="{20C3BD87-3C6D-E037-F374-F645F2613F0B}"/>
              </a:ext>
            </a:extLst>
          </p:cNvPr>
          <p:cNvCxnSpPr>
            <a:cxnSpLocks/>
            <a:stCxn id="2256" idx="3"/>
            <a:endCxn id="2186" idx="0"/>
          </p:cNvCxnSpPr>
          <p:nvPr/>
        </p:nvCxnSpPr>
        <p:spPr>
          <a:xfrm>
            <a:off x="2970094" y="5471191"/>
            <a:ext cx="966047" cy="802322"/>
          </a:xfrm>
          <a:prstGeom prst="line">
            <a:avLst/>
          </a:prstGeom>
        </p:spPr>
        <p:style>
          <a:lnRef idx="1">
            <a:schemeClr val="dk1"/>
          </a:lnRef>
          <a:fillRef idx="0">
            <a:schemeClr val="dk1"/>
          </a:fillRef>
          <a:effectRef idx="0">
            <a:schemeClr val="dk1"/>
          </a:effectRef>
          <a:fontRef idx="minor">
            <a:schemeClr val="tx1"/>
          </a:fontRef>
        </p:style>
      </p:cxnSp>
      <p:cxnSp>
        <p:nvCxnSpPr>
          <p:cNvPr id="2199" name="Straight Connector 2198">
            <a:extLst>
              <a:ext uri="{FF2B5EF4-FFF2-40B4-BE49-F238E27FC236}">
                <a16:creationId xmlns:a16="http://schemas.microsoft.com/office/drawing/2014/main" id="{D3986D76-D099-487B-0F2B-14513758C9BD}"/>
              </a:ext>
            </a:extLst>
          </p:cNvPr>
          <p:cNvCxnSpPr>
            <a:cxnSpLocks/>
            <a:endCxn id="2187" idx="0"/>
          </p:cNvCxnSpPr>
          <p:nvPr/>
        </p:nvCxnSpPr>
        <p:spPr>
          <a:xfrm>
            <a:off x="3961772" y="5501015"/>
            <a:ext cx="1051025" cy="783682"/>
          </a:xfrm>
          <a:prstGeom prst="line">
            <a:avLst/>
          </a:prstGeom>
        </p:spPr>
        <p:style>
          <a:lnRef idx="1">
            <a:schemeClr val="dk1"/>
          </a:lnRef>
          <a:fillRef idx="0">
            <a:schemeClr val="dk1"/>
          </a:fillRef>
          <a:effectRef idx="0">
            <a:schemeClr val="dk1"/>
          </a:effectRef>
          <a:fontRef idx="minor">
            <a:schemeClr val="tx1"/>
          </a:fontRef>
        </p:style>
      </p:cxnSp>
      <p:cxnSp>
        <p:nvCxnSpPr>
          <p:cNvPr id="2200" name="Straight Connector 2199">
            <a:extLst>
              <a:ext uri="{FF2B5EF4-FFF2-40B4-BE49-F238E27FC236}">
                <a16:creationId xmlns:a16="http://schemas.microsoft.com/office/drawing/2014/main" id="{9A1C0217-D8C5-B08B-E501-23EB7A5636FD}"/>
              </a:ext>
            </a:extLst>
          </p:cNvPr>
          <p:cNvCxnSpPr>
            <a:cxnSpLocks/>
            <a:stCxn id="2257" idx="2"/>
            <a:endCxn id="2187" idx="0"/>
          </p:cNvCxnSpPr>
          <p:nvPr/>
        </p:nvCxnSpPr>
        <p:spPr>
          <a:xfrm>
            <a:off x="3998241" y="5519758"/>
            <a:ext cx="1014556" cy="764939"/>
          </a:xfrm>
          <a:prstGeom prst="line">
            <a:avLst/>
          </a:prstGeom>
        </p:spPr>
        <p:style>
          <a:lnRef idx="1">
            <a:schemeClr val="dk1"/>
          </a:lnRef>
          <a:fillRef idx="0">
            <a:schemeClr val="dk1"/>
          </a:fillRef>
          <a:effectRef idx="0">
            <a:schemeClr val="dk1"/>
          </a:effectRef>
          <a:fontRef idx="minor">
            <a:schemeClr val="tx1"/>
          </a:fontRef>
        </p:style>
      </p:cxnSp>
      <p:cxnSp>
        <p:nvCxnSpPr>
          <p:cNvPr id="2205" name="Straight Connector 2204">
            <a:extLst>
              <a:ext uri="{FF2B5EF4-FFF2-40B4-BE49-F238E27FC236}">
                <a16:creationId xmlns:a16="http://schemas.microsoft.com/office/drawing/2014/main" id="{EF83C2EB-1ECE-C6AE-3A1A-082DB9F9E93D}"/>
              </a:ext>
            </a:extLst>
          </p:cNvPr>
          <p:cNvCxnSpPr>
            <a:cxnSpLocks/>
            <a:stCxn id="2259" idx="2"/>
            <a:endCxn id="2188" idx="0"/>
          </p:cNvCxnSpPr>
          <p:nvPr/>
        </p:nvCxnSpPr>
        <p:spPr>
          <a:xfrm>
            <a:off x="5975283" y="5462759"/>
            <a:ext cx="246657" cy="812106"/>
          </a:xfrm>
          <a:prstGeom prst="line">
            <a:avLst/>
          </a:prstGeom>
        </p:spPr>
        <p:style>
          <a:lnRef idx="1">
            <a:schemeClr val="dk1"/>
          </a:lnRef>
          <a:fillRef idx="0">
            <a:schemeClr val="dk1"/>
          </a:fillRef>
          <a:effectRef idx="0">
            <a:schemeClr val="dk1"/>
          </a:effectRef>
          <a:fontRef idx="minor">
            <a:schemeClr val="tx1"/>
          </a:fontRef>
        </p:style>
      </p:cxnSp>
      <p:pic>
        <p:nvPicPr>
          <p:cNvPr id="2209" name="Picture 3">
            <a:extLst>
              <a:ext uri="{FF2B5EF4-FFF2-40B4-BE49-F238E27FC236}">
                <a16:creationId xmlns:a16="http://schemas.microsoft.com/office/drawing/2014/main" id="{6AADD35E-1BFC-BCE9-3352-5D4C013797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9404739" y="6230117"/>
            <a:ext cx="471488" cy="320675"/>
          </a:xfrm>
          <a:prstGeom prst="rect">
            <a:avLst/>
          </a:prstGeom>
          <a:noFill/>
          <a:extLst>
            <a:ext uri="{909E8E84-426E-40DD-AFC4-6F175D3DCCD1}">
              <a14:hiddenFill xmlns:a14="http://schemas.microsoft.com/office/drawing/2010/main">
                <a:solidFill>
                  <a:srgbClr val="FFFFFF"/>
                </a:solidFill>
              </a14:hiddenFill>
            </a:ext>
          </a:extLst>
        </p:spPr>
      </p:pic>
      <p:sp>
        <p:nvSpPr>
          <p:cNvPr id="2210" name="Text Box 3">
            <a:extLst>
              <a:ext uri="{FF2B5EF4-FFF2-40B4-BE49-F238E27FC236}">
                <a16:creationId xmlns:a16="http://schemas.microsoft.com/office/drawing/2014/main" id="{D3BD6E77-959A-E478-479E-2BFF16D1C3AD}"/>
              </a:ext>
            </a:extLst>
          </p:cNvPr>
          <p:cNvSpPr txBox="1">
            <a:spLocks noChangeArrowheads="1"/>
          </p:cNvSpPr>
          <p:nvPr/>
        </p:nvSpPr>
        <p:spPr bwMode="auto">
          <a:xfrm>
            <a:off x="10059146" y="6247821"/>
            <a:ext cx="1676400" cy="2444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400" dirty="0">
                <a:latin typeface="Calibri" panose="020F0502020204030204" pitchFamily="34" charset="0"/>
                <a:ea typeface="Calibri" panose="020F0502020204030204" pitchFamily="34" charset="0"/>
                <a:cs typeface="Times New Roman" panose="02020603050405020304" pitchFamily="18" charset="0"/>
              </a:rPr>
              <a:t>Router</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0522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Management</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lnSpcReduction="10000"/>
          </a:bodyPr>
          <a:lstStyle/>
          <a:p>
            <a:r>
              <a:rPr lang="en-US" sz="2000" dirty="0"/>
              <a:t>It is often said that there is no central control, administration, or management of Internet. While this is generally true, there are several well known organization that work together. in a relatively well structured and roughly democratic environment to collectively participate in the research, development and management of the Internet</a:t>
            </a:r>
          </a:p>
          <a:p>
            <a:r>
              <a:rPr lang="en-US" sz="2000" dirty="0"/>
              <a:t>Those organizations are:</a:t>
            </a:r>
          </a:p>
          <a:p>
            <a:pPr marL="457200" indent="-457200">
              <a:buFont typeface="+mj-lt"/>
              <a:buAutoNum type="arabicPeriod"/>
            </a:pPr>
            <a:r>
              <a:rPr lang="en-US" sz="2000" dirty="0"/>
              <a:t>Internet Society(ISOC)</a:t>
            </a:r>
          </a:p>
          <a:p>
            <a:pPr marL="457200" indent="-457200">
              <a:buFont typeface="+mj-lt"/>
              <a:buAutoNum type="arabicPeriod"/>
            </a:pPr>
            <a:r>
              <a:rPr lang="en-US" sz="2000" dirty="0"/>
              <a:t>Internet Architecture Board(IAB)</a:t>
            </a:r>
          </a:p>
          <a:p>
            <a:pPr marL="457200" indent="-457200">
              <a:buFont typeface="+mj-lt"/>
              <a:buAutoNum type="arabicPeriod"/>
            </a:pPr>
            <a:r>
              <a:rPr lang="en-US" sz="2000" dirty="0"/>
              <a:t>Internet Engineering Task Force(IETF)</a:t>
            </a:r>
          </a:p>
        </p:txBody>
      </p:sp>
      <p:pic>
        <p:nvPicPr>
          <p:cNvPr id="5" name="Picture 4">
            <a:extLst>
              <a:ext uri="{FF2B5EF4-FFF2-40B4-BE49-F238E27FC236}">
                <a16:creationId xmlns:a16="http://schemas.microsoft.com/office/drawing/2014/main" id="{829494BB-92F6-20B1-6FCD-55FD150272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213" y="2487561"/>
            <a:ext cx="1926922" cy="2033974"/>
          </a:xfrm>
          <a:prstGeom prst="rect">
            <a:avLst/>
          </a:prstGeom>
        </p:spPr>
      </p:pic>
      <p:sp>
        <p:nvSpPr>
          <p:cNvPr id="6" name="TextBox 5">
            <a:extLst>
              <a:ext uri="{FF2B5EF4-FFF2-40B4-BE49-F238E27FC236}">
                <a16:creationId xmlns:a16="http://schemas.microsoft.com/office/drawing/2014/main" id="{63E5F719-791A-1494-4B96-A2ABEB1E056F}"/>
              </a:ext>
            </a:extLst>
          </p:cNvPr>
          <p:cNvSpPr txBox="1"/>
          <p:nvPr/>
        </p:nvSpPr>
        <p:spPr>
          <a:xfrm>
            <a:off x="412955" y="1598914"/>
            <a:ext cx="2163097" cy="646331"/>
          </a:xfrm>
          <a:prstGeom prst="rect">
            <a:avLst/>
          </a:prstGeom>
          <a:noFill/>
        </p:spPr>
        <p:txBody>
          <a:bodyPr wrap="square" rtlCol="0">
            <a:spAutoFit/>
          </a:bodyPr>
          <a:lstStyle/>
          <a:p>
            <a:r>
              <a:rPr lang="en-US" dirty="0"/>
              <a:t>Who controls Internet?</a:t>
            </a:r>
          </a:p>
        </p:txBody>
      </p:sp>
    </p:spTree>
    <p:extLst>
      <p:ext uri="{BB962C8B-B14F-4D97-AF65-F5344CB8AC3E}">
        <p14:creationId xmlns:p14="http://schemas.microsoft.com/office/powerpoint/2010/main" val="622357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Management</a:t>
            </a:r>
          </a:p>
        </p:txBody>
      </p:sp>
      <p:pic>
        <p:nvPicPr>
          <p:cNvPr id="8" name="Content Placeholder 7">
            <a:extLst>
              <a:ext uri="{FF2B5EF4-FFF2-40B4-BE49-F238E27FC236}">
                <a16:creationId xmlns:a16="http://schemas.microsoft.com/office/drawing/2014/main" id="{0B18245C-8F35-B5F8-4232-15F1200A36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6492" y="2487561"/>
            <a:ext cx="8346016" cy="3648894"/>
          </a:xfrm>
          <a:prstGeom prst="rect">
            <a:avLst/>
          </a:prstGeom>
        </p:spPr>
      </p:pic>
    </p:spTree>
    <p:extLst>
      <p:ext uri="{BB962C8B-B14F-4D97-AF65-F5344CB8AC3E}">
        <p14:creationId xmlns:p14="http://schemas.microsoft.com/office/powerpoint/2010/main" val="3104483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Society</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a:bodyPr>
          <a:lstStyle/>
          <a:p>
            <a:pPr>
              <a:buClrTx/>
              <a:buFont typeface="Wingdings" panose="05000000000000000000" pitchFamily="2" charset="2"/>
              <a:buChar char="q"/>
            </a:pPr>
            <a:r>
              <a:rPr lang="en-US" sz="2000" dirty="0"/>
              <a:t> The ISOC oversees the other Internet management organizations described in the following points, and in some cases provides financial and other support. </a:t>
            </a:r>
          </a:p>
          <a:p>
            <a:pPr>
              <a:buClrTx/>
              <a:buFont typeface="Wingdings" panose="05000000000000000000" pitchFamily="2" charset="2"/>
              <a:buChar char="q"/>
            </a:pPr>
            <a:r>
              <a:rPr lang="en-US" sz="2000" dirty="0"/>
              <a:t>It also holds an annual International Networking conference, and coordinates internet related public policy and trade activities, regional and local chapters, standardization activities, and an international secretariat.</a:t>
            </a:r>
          </a:p>
          <a:p>
            <a:pPr>
              <a:buClrTx/>
              <a:buFont typeface="Wingdings" panose="05000000000000000000" pitchFamily="2" charset="2"/>
              <a:buChar char="q"/>
            </a:pPr>
            <a:r>
              <a:rPr lang="en-US" sz="2000" dirty="0"/>
              <a:t>One of the most important legal activities of the ISOC is defense of the free use of work “Internet” ensuring that it remains a generic term that is not trademarked or owned by any individual or corporation.</a:t>
            </a:r>
          </a:p>
        </p:txBody>
      </p:sp>
      <p:pic>
        <p:nvPicPr>
          <p:cNvPr id="7" name="Picture 6">
            <a:extLst>
              <a:ext uri="{FF2B5EF4-FFF2-40B4-BE49-F238E27FC236}">
                <a16:creationId xmlns:a16="http://schemas.microsoft.com/office/drawing/2014/main" id="{FE215683-EE29-9834-FEE5-76A479A289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7" y="2638044"/>
            <a:ext cx="2117968" cy="813987"/>
          </a:xfrm>
          <a:prstGeom prst="rect">
            <a:avLst/>
          </a:prstGeom>
        </p:spPr>
      </p:pic>
    </p:spTree>
    <p:extLst>
      <p:ext uri="{BB962C8B-B14F-4D97-AF65-F5344CB8AC3E}">
        <p14:creationId xmlns:p14="http://schemas.microsoft.com/office/powerpoint/2010/main" val="1750536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architecture board</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a:bodyPr>
          <a:lstStyle/>
          <a:p>
            <a:pPr>
              <a:buClrTx/>
              <a:buFont typeface="Wingdings" panose="05000000000000000000" pitchFamily="2" charset="2"/>
              <a:buChar char="q"/>
            </a:pPr>
            <a:r>
              <a:rPr lang="en-US" sz="2000" dirty="0"/>
              <a:t> The roles and responsibilities of the IAB are:</a:t>
            </a:r>
          </a:p>
          <a:p>
            <a:pPr lvl="1">
              <a:buClrTx/>
              <a:buFont typeface="Wingdings" panose="05000000000000000000" pitchFamily="2" charset="2"/>
              <a:buChar char="q"/>
            </a:pPr>
            <a:r>
              <a:rPr lang="en-US" sz="2000" dirty="0"/>
              <a:t>Provide oversight of the internet architecture, protocols, procedures, and standards, RFC( Request for Comment) management, IESG (Internet Engineering Steering Group) selection, IETF oversight etc.</a:t>
            </a:r>
          </a:p>
          <a:p>
            <a:pPr lvl="1">
              <a:buClrTx/>
              <a:buFont typeface="Wingdings" panose="05000000000000000000" pitchFamily="2" charset="2"/>
              <a:buChar char="q"/>
            </a:pPr>
            <a:r>
              <a:rPr lang="en-US" sz="2000" dirty="0"/>
              <a:t>The internet activities board was renamed to internet architecture board by internet society in 1992.</a:t>
            </a:r>
          </a:p>
        </p:txBody>
      </p:sp>
      <p:pic>
        <p:nvPicPr>
          <p:cNvPr id="5" name="Picture 4">
            <a:extLst>
              <a:ext uri="{FF2B5EF4-FFF2-40B4-BE49-F238E27FC236}">
                <a16:creationId xmlns:a16="http://schemas.microsoft.com/office/drawing/2014/main" id="{1E0E77F1-EF79-97E2-EFAE-102E3D81B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539" y="606552"/>
            <a:ext cx="1905000" cy="1905000"/>
          </a:xfrm>
          <a:prstGeom prst="rect">
            <a:avLst/>
          </a:prstGeom>
        </p:spPr>
      </p:pic>
    </p:spTree>
    <p:extLst>
      <p:ext uri="{BB962C8B-B14F-4D97-AF65-F5344CB8AC3E}">
        <p14:creationId xmlns:p14="http://schemas.microsoft.com/office/powerpoint/2010/main" val="1828357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engineering task force</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a:bodyPr>
          <a:lstStyle/>
          <a:p>
            <a:pPr>
              <a:buClrTx/>
              <a:buFont typeface="Wingdings" panose="05000000000000000000" pitchFamily="2" charset="2"/>
              <a:buChar char="q"/>
            </a:pPr>
            <a:r>
              <a:rPr lang="en-US" sz="2000" dirty="0"/>
              <a:t> IETF studies operational and technical problems with the internet, specifies protocols and architectural solutions and makes recommendations to its steering committee. </a:t>
            </a:r>
          </a:p>
          <a:p>
            <a:pPr>
              <a:buClrTx/>
              <a:buFont typeface="Wingdings" panose="05000000000000000000" pitchFamily="2" charset="2"/>
              <a:buChar char="q"/>
            </a:pPr>
            <a:r>
              <a:rPr lang="en-US" sz="2000" dirty="0"/>
              <a:t>Each are has one or two are directors.  When an are director considers a problem important enough to merit concern, the IETF sets up a working group for further investigation.</a:t>
            </a:r>
          </a:p>
        </p:txBody>
      </p:sp>
      <p:pic>
        <p:nvPicPr>
          <p:cNvPr id="6" name="Picture 5">
            <a:extLst>
              <a:ext uri="{FF2B5EF4-FFF2-40B4-BE49-F238E27FC236}">
                <a16:creationId xmlns:a16="http://schemas.microsoft.com/office/drawing/2014/main" id="{A9A5F0EB-9C58-6C44-22EE-EFA738B10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44" y="2403065"/>
            <a:ext cx="2157391" cy="1234870"/>
          </a:xfrm>
          <a:prstGeom prst="rect">
            <a:avLst/>
          </a:prstGeom>
        </p:spPr>
      </p:pic>
    </p:spTree>
    <p:extLst>
      <p:ext uri="{BB962C8B-B14F-4D97-AF65-F5344CB8AC3E}">
        <p14:creationId xmlns:p14="http://schemas.microsoft.com/office/powerpoint/2010/main" val="2390768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5F109-55B8-16FD-70F9-06E057307529}"/>
              </a:ext>
            </a:extLst>
          </p:cNvPr>
          <p:cNvSpPr>
            <a:spLocks noGrp="1"/>
          </p:cNvSpPr>
          <p:nvPr>
            <p:ph type="title"/>
          </p:nvPr>
        </p:nvSpPr>
        <p:spPr/>
        <p:txBody>
          <a:bodyPr/>
          <a:lstStyle/>
          <a:p>
            <a:r>
              <a:rPr lang="en-US" b="1" dirty="0"/>
              <a:t>Connecting to internet</a:t>
            </a:r>
          </a:p>
        </p:txBody>
      </p:sp>
      <p:sp>
        <p:nvSpPr>
          <p:cNvPr id="3" name="Content Placeholder 2">
            <a:extLst>
              <a:ext uri="{FF2B5EF4-FFF2-40B4-BE49-F238E27FC236}">
                <a16:creationId xmlns:a16="http://schemas.microsoft.com/office/drawing/2014/main" id="{BFE269A8-9C10-F3D3-576C-D341AA31204C}"/>
              </a:ext>
            </a:extLst>
          </p:cNvPr>
          <p:cNvSpPr>
            <a:spLocks noGrp="1"/>
          </p:cNvSpPr>
          <p:nvPr>
            <p:ph idx="1"/>
          </p:nvPr>
        </p:nvSpPr>
        <p:spPr/>
        <p:txBody>
          <a:bodyPr/>
          <a:lstStyle/>
          <a:p>
            <a:r>
              <a:rPr lang="en-US" sz="2400" dirty="0"/>
              <a:t>Connecting to internet with a modem</a:t>
            </a:r>
          </a:p>
          <a:p>
            <a:r>
              <a:rPr lang="en-US" sz="2400" dirty="0"/>
              <a:t>Connecting to internet with broadband connection</a:t>
            </a:r>
          </a:p>
          <a:p>
            <a:r>
              <a:rPr lang="en-US" sz="2400" dirty="0"/>
              <a:t>Connecting to internet with smartphone</a:t>
            </a:r>
          </a:p>
          <a:p>
            <a:endParaRPr lang="en-US" dirty="0"/>
          </a:p>
        </p:txBody>
      </p:sp>
    </p:spTree>
    <p:extLst>
      <p:ext uri="{BB962C8B-B14F-4D97-AF65-F5344CB8AC3E}">
        <p14:creationId xmlns:p14="http://schemas.microsoft.com/office/powerpoint/2010/main" val="1246321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9DDE-28B6-CEC2-7E02-F97C0E9A2CE2}"/>
              </a:ext>
            </a:extLst>
          </p:cNvPr>
          <p:cNvSpPr>
            <a:spLocks noGrp="1"/>
          </p:cNvSpPr>
          <p:nvPr>
            <p:ph type="title"/>
          </p:nvPr>
        </p:nvSpPr>
        <p:spPr/>
        <p:txBody>
          <a:bodyPr/>
          <a:lstStyle/>
          <a:p>
            <a:r>
              <a:rPr lang="en-US" b="1" dirty="0"/>
              <a:t>Connecting internet with modem</a:t>
            </a:r>
          </a:p>
        </p:txBody>
      </p:sp>
      <p:sp>
        <p:nvSpPr>
          <p:cNvPr id="3" name="Content Placeholder 2">
            <a:extLst>
              <a:ext uri="{FF2B5EF4-FFF2-40B4-BE49-F238E27FC236}">
                <a16:creationId xmlns:a16="http://schemas.microsoft.com/office/drawing/2014/main" id="{1CBC1141-6878-EB45-6148-D115AAB7CAB8}"/>
              </a:ext>
            </a:extLst>
          </p:cNvPr>
          <p:cNvSpPr>
            <a:spLocks noGrp="1"/>
          </p:cNvSpPr>
          <p:nvPr>
            <p:ph idx="1"/>
          </p:nvPr>
        </p:nvSpPr>
        <p:spPr>
          <a:xfrm>
            <a:off x="2299962" y="2677373"/>
            <a:ext cx="7729728" cy="3101983"/>
          </a:xfrm>
        </p:spPr>
        <p:txBody>
          <a:bodyPr/>
          <a:lstStyle/>
          <a:p>
            <a:r>
              <a:rPr lang="en-US" dirty="0"/>
              <a:t>Your computer must have internal modem or external modem connected to computer.</a:t>
            </a:r>
          </a:p>
          <a:p>
            <a:r>
              <a:rPr lang="en-US" dirty="0"/>
              <a:t>It must be connected to your home phone line also called as landline.</a:t>
            </a:r>
          </a:p>
          <a:p>
            <a:r>
              <a:rPr lang="en-US" dirty="0"/>
              <a:t>It is old form of internet connection of these types of modems are now obsolete</a:t>
            </a:r>
          </a:p>
          <a:p>
            <a:r>
              <a:rPr lang="en-US" dirty="0"/>
              <a:t>It can only provide slow bandwidth 56k and telephone line becomes unusable during internet use.</a:t>
            </a:r>
          </a:p>
        </p:txBody>
      </p:sp>
      <p:pic>
        <p:nvPicPr>
          <p:cNvPr id="5" name="Picture 4">
            <a:extLst>
              <a:ext uri="{FF2B5EF4-FFF2-40B4-BE49-F238E27FC236}">
                <a16:creationId xmlns:a16="http://schemas.microsoft.com/office/drawing/2014/main" id="{518221B7-0786-E601-5B6A-2025A76232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2829" y="4922728"/>
            <a:ext cx="2781300" cy="1573630"/>
          </a:xfrm>
          <a:prstGeom prst="rect">
            <a:avLst/>
          </a:prstGeom>
        </p:spPr>
      </p:pic>
    </p:spTree>
    <p:extLst>
      <p:ext uri="{BB962C8B-B14F-4D97-AF65-F5344CB8AC3E}">
        <p14:creationId xmlns:p14="http://schemas.microsoft.com/office/powerpoint/2010/main" val="461893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9DDE-28B6-CEC2-7E02-F97C0E9A2CE2}"/>
              </a:ext>
            </a:extLst>
          </p:cNvPr>
          <p:cNvSpPr>
            <a:spLocks noGrp="1"/>
          </p:cNvSpPr>
          <p:nvPr>
            <p:ph type="title"/>
          </p:nvPr>
        </p:nvSpPr>
        <p:spPr/>
        <p:txBody>
          <a:bodyPr/>
          <a:lstStyle/>
          <a:p>
            <a:r>
              <a:rPr lang="en-US" b="1" dirty="0"/>
              <a:t>Connecting internet with Broadband connection</a:t>
            </a:r>
          </a:p>
        </p:txBody>
      </p:sp>
      <p:sp>
        <p:nvSpPr>
          <p:cNvPr id="3" name="Content Placeholder 2">
            <a:extLst>
              <a:ext uri="{FF2B5EF4-FFF2-40B4-BE49-F238E27FC236}">
                <a16:creationId xmlns:a16="http://schemas.microsoft.com/office/drawing/2014/main" id="{1CBC1141-6878-EB45-6148-D115AAB7CAB8}"/>
              </a:ext>
            </a:extLst>
          </p:cNvPr>
          <p:cNvSpPr>
            <a:spLocks noGrp="1"/>
          </p:cNvSpPr>
          <p:nvPr>
            <p:ph idx="1"/>
          </p:nvPr>
        </p:nvSpPr>
        <p:spPr>
          <a:xfrm>
            <a:off x="2299962" y="2677373"/>
            <a:ext cx="7729728" cy="3101983"/>
          </a:xfrm>
        </p:spPr>
        <p:txBody>
          <a:bodyPr>
            <a:normAutofit fontScale="92500" lnSpcReduction="10000"/>
          </a:bodyPr>
          <a:lstStyle/>
          <a:p>
            <a:r>
              <a:rPr lang="en-US" dirty="0"/>
              <a:t>Broadband is the transmission of wide bandwidth data over a highspeed internet connection.</a:t>
            </a:r>
          </a:p>
          <a:p>
            <a:r>
              <a:rPr lang="en-US" dirty="0"/>
              <a:t>According to FCC(federal communication commission, the definition of broadband internet is a minimum of 25 Mbps download and 3Mbps upload speed</a:t>
            </a:r>
          </a:p>
          <a:p>
            <a:r>
              <a:rPr lang="en-US" dirty="0"/>
              <a:t>Broadband connection can be done with fiber optics, wireless, coax cable , DSL and satellite.</a:t>
            </a:r>
          </a:p>
          <a:p>
            <a:r>
              <a:rPr lang="en-US" dirty="0"/>
              <a:t>In fiberoptics, media converter is used to convert light signal to digital signal and allows it to be connect to computer through ethernet.</a:t>
            </a:r>
          </a:p>
          <a:p>
            <a:r>
              <a:rPr lang="en-US" dirty="0"/>
              <a:t>In Coax cable and DSL, it requires splitter and modem.</a:t>
            </a:r>
          </a:p>
          <a:p>
            <a:r>
              <a:rPr lang="en-US" dirty="0"/>
              <a:t>In case or wireless, we can use broadband internet from 4G network to new.</a:t>
            </a:r>
          </a:p>
        </p:txBody>
      </p:sp>
    </p:spTree>
    <p:extLst>
      <p:ext uri="{BB962C8B-B14F-4D97-AF65-F5344CB8AC3E}">
        <p14:creationId xmlns:p14="http://schemas.microsoft.com/office/powerpoint/2010/main" val="901313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4346-2F2E-1AA0-47BC-E2382AAAC58F}"/>
              </a:ext>
            </a:extLst>
          </p:cNvPr>
          <p:cNvSpPr>
            <a:spLocks noGrp="1"/>
          </p:cNvSpPr>
          <p:nvPr>
            <p:ph type="title"/>
          </p:nvPr>
        </p:nvSpPr>
        <p:spPr/>
        <p:txBody>
          <a:bodyPr/>
          <a:lstStyle/>
          <a:p>
            <a:r>
              <a:rPr lang="en-US" b="1" dirty="0"/>
              <a:t>Connecting internet with smartphones</a:t>
            </a:r>
          </a:p>
        </p:txBody>
      </p:sp>
      <p:sp>
        <p:nvSpPr>
          <p:cNvPr id="3" name="Content Placeholder 2">
            <a:extLst>
              <a:ext uri="{FF2B5EF4-FFF2-40B4-BE49-F238E27FC236}">
                <a16:creationId xmlns:a16="http://schemas.microsoft.com/office/drawing/2014/main" id="{7F8F3E8D-8F32-D99E-FE86-774F09D814AD}"/>
              </a:ext>
            </a:extLst>
          </p:cNvPr>
          <p:cNvSpPr>
            <a:spLocks noGrp="1"/>
          </p:cNvSpPr>
          <p:nvPr>
            <p:ph idx="1"/>
          </p:nvPr>
        </p:nvSpPr>
        <p:spPr/>
        <p:txBody>
          <a:bodyPr/>
          <a:lstStyle/>
          <a:p>
            <a:r>
              <a:rPr lang="en-US" dirty="0"/>
              <a:t>Todays, Smartphone is capable of hotspot and tethering the mobile cellular internet network to be distributed to computer laptop, other devices.</a:t>
            </a:r>
          </a:p>
          <a:p>
            <a:r>
              <a:rPr lang="en-US" dirty="0"/>
              <a:t>We cand either use USB cable for connection or WIFI network to establish hotspot</a:t>
            </a:r>
          </a:p>
        </p:txBody>
      </p:sp>
      <p:pic>
        <p:nvPicPr>
          <p:cNvPr id="5" name="Picture 4">
            <a:extLst>
              <a:ext uri="{FF2B5EF4-FFF2-40B4-BE49-F238E27FC236}">
                <a16:creationId xmlns:a16="http://schemas.microsoft.com/office/drawing/2014/main" id="{49A3FB8F-C8EE-C47D-F843-B560E13BA6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575" y="3927841"/>
            <a:ext cx="2875935" cy="2875935"/>
          </a:xfrm>
          <a:prstGeom prst="rect">
            <a:avLst/>
          </a:prstGeom>
        </p:spPr>
      </p:pic>
      <p:pic>
        <p:nvPicPr>
          <p:cNvPr id="7" name="Picture 6">
            <a:extLst>
              <a:ext uri="{FF2B5EF4-FFF2-40B4-BE49-F238E27FC236}">
                <a16:creationId xmlns:a16="http://schemas.microsoft.com/office/drawing/2014/main" id="{2FFECA13-BC6F-A594-0918-B19C201DB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1025" y="4087101"/>
            <a:ext cx="4566811" cy="2557414"/>
          </a:xfrm>
          <a:prstGeom prst="rect">
            <a:avLst/>
          </a:prstGeom>
        </p:spPr>
      </p:pic>
    </p:spTree>
    <p:extLst>
      <p:ext uri="{BB962C8B-B14F-4D97-AF65-F5344CB8AC3E}">
        <p14:creationId xmlns:p14="http://schemas.microsoft.com/office/powerpoint/2010/main" val="2949897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A31EA-C985-4112-1A95-291274E149CA}"/>
              </a:ext>
            </a:extLst>
          </p:cNvPr>
          <p:cNvSpPr>
            <a:spLocks noGrp="1"/>
          </p:cNvSpPr>
          <p:nvPr>
            <p:ph type="title"/>
          </p:nvPr>
        </p:nvSpPr>
        <p:spPr/>
        <p:txBody>
          <a:bodyPr/>
          <a:lstStyle/>
          <a:p>
            <a:r>
              <a:rPr lang="en-US" b="1" dirty="0"/>
              <a:t>Internet connections</a:t>
            </a:r>
          </a:p>
        </p:txBody>
      </p:sp>
      <p:sp>
        <p:nvSpPr>
          <p:cNvPr id="3" name="Content Placeholder 2">
            <a:extLst>
              <a:ext uri="{FF2B5EF4-FFF2-40B4-BE49-F238E27FC236}">
                <a16:creationId xmlns:a16="http://schemas.microsoft.com/office/drawing/2014/main" id="{9219E31D-D68F-D33D-8200-F6BB7C1E17CC}"/>
              </a:ext>
            </a:extLst>
          </p:cNvPr>
          <p:cNvSpPr>
            <a:spLocks noGrp="1"/>
          </p:cNvSpPr>
          <p:nvPr>
            <p:ph idx="1"/>
          </p:nvPr>
        </p:nvSpPr>
        <p:spPr/>
        <p:txBody>
          <a:bodyPr>
            <a:normAutofit/>
          </a:bodyPr>
          <a:lstStyle/>
          <a:p>
            <a:pPr>
              <a:buClrTx/>
              <a:buFont typeface="Wingdings" panose="05000000000000000000" pitchFamily="2" charset="2"/>
              <a:buChar char="Ø"/>
            </a:pPr>
            <a:r>
              <a:rPr lang="en-US" sz="2000" dirty="0"/>
              <a:t>Dial up connection</a:t>
            </a:r>
          </a:p>
          <a:p>
            <a:pPr>
              <a:buClrTx/>
              <a:buFont typeface="Wingdings" panose="05000000000000000000" pitchFamily="2" charset="2"/>
              <a:buChar char="Ø"/>
            </a:pPr>
            <a:r>
              <a:rPr lang="en-US" sz="2000" dirty="0"/>
              <a:t>ISDN</a:t>
            </a:r>
          </a:p>
          <a:p>
            <a:pPr>
              <a:buClrTx/>
              <a:buFont typeface="Wingdings" panose="05000000000000000000" pitchFamily="2" charset="2"/>
              <a:buChar char="Ø"/>
            </a:pPr>
            <a:r>
              <a:rPr lang="en-US" sz="2000" dirty="0"/>
              <a:t>DSL</a:t>
            </a:r>
          </a:p>
          <a:p>
            <a:pPr>
              <a:buClrTx/>
              <a:buFont typeface="Wingdings" panose="05000000000000000000" pitchFamily="2" charset="2"/>
              <a:buChar char="Ø"/>
            </a:pPr>
            <a:r>
              <a:rPr lang="en-US" sz="2000" dirty="0"/>
              <a:t>Cable TV internet connection</a:t>
            </a:r>
          </a:p>
          <a:p>
            <a:pPr>
              <a:buClrTx/>
              <a:buFont typeface="Wingdings" panose="05000000000000000000" pitchFamily="2" charset="2"/>
              <a:buChar char="Ø"/>
            </a:pPr>
            <a:r>
              <a:rPr lang="en-US" sz="2000" dirty="0"/>
              <a:t>Wireless internet connection</a:t>
            </a:r>
          </a:p>
        </p:txBody>
      </p:sp>
    </p:spTree>
    <p:extLst>
      <p:ext uri="{BB962C8B-B14F-4D97-AF65-F5344CB8AC3E}">
        <p14:creationId xmlns:p14="http://schemas.microsoft.com/office/powerpoint/2010/main" val="985634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1E0B4-5542-A7D6-A818-67919D5B9462}"/>
              </a:ext>
            </a:extLst>
          </p:cNvPr>
          <p:cNvSpPr>
            <a:spLocks noGrp="1"/>
          </p:cNvSpPr>
          <p:nvPr>
            <p:ph type="title"/>
          </p:nvPr>
        </p:nvSpPr>
        <p:spPr/>
        <p:txBody>
          <a:bodyPr/>
          <a:lstStyle/>
          <a:p>
            <a:r>
              <a:rPr lang="en-US" b="1" dirty="0"/>
              <a:t>Dial up connection</a:t>
            </a:r>
          </a:p>
        </p:txBody>
      </p:sp>
      <p:sp>
        <p:nvSpPr>
          <p:cNvPr id="3" name="Content Placeholder 2">
            <a:extLst>
              <a:ext uri="{FF2B5EF4-FFF2-40B4-BE49-F238E27FC236}">
                <a16:creationId xmlns:a16="http://schemas.microsoft.com/office/drawing/2014/main" id="{3EF83357-C3F1-FDE0-B526-D6C93BDFD9ED}"/>
              </a:ext>
            </a:extLst>
          </p:cNvPr>
          <p:cNvSpPr>
            <a:spLocks noGrp="1"/>
          </p:cNvSpPr>
          <p:nvPr>
            <p:ph idx="1"/>
          </p:nvPr>
        </p:nvSpPr>
        <p:spPr>
          <a:xfrm>
            <a:off x="696250" y="2286002"/>
            <a:ext cx="7729728" cy="3101983"/>
          </a:xfrm>
        </p:spPr>
        <p:txBody>
          <a:bodyPr/>
          <a:lstStyle/>
          <a:p>
            <a:r>
              <a:rPr lang="en-US" dirty="0"/>
              <a:t>Dial up connection uses telephone line to connect computer to the internet.</a:t>
            </a:r>
          </a:p>
          <a:p>
            <a:r>
              <a:rPr lang="en-US" dirty="0"/>
              <a:t>It requires modem to setup dial up connection.</a:t>
            </a:r>
          </a:p>
          <a:p>
            <a:r>
              <a:rPr lang="en-US" dirty="0"/>
              <a:t>It works as an interface between computer and the telephone line.</a:t>
            </a:r>
          </a:p>
          <a:p>
            <a:r>
              <a:rPr lang="en-US" dirty="0"/>
              <a:t>There is communication program that instructs the model to make a call to specific number provided by the ISP. </a:t>
            </a:r>
          </a:p>
          <a:p>
            <a:r>
              <a:rPr lang="en-US" dirty="0"/>
              <a:t>It supports up to 56 Kbps speed.</a:t>
            </a:r>
          </a:p>
        </p:txBody>
      </p:sp>
      <p:pic>
        <p:nvPicPr>
          <p:cNvPr id="5" name="Picture 4">
            <a:extLst>
              <a:ext uri="{FF2B5EF4-FFF2-40B4-BE49-F238E27FC236}">
                <a16:creationId xmlns:a16="http://schemas.microsoft.com/office/drawing/2014/main" id="{D6AA0114-A867-6227-E0F3-5177087F3D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87081" y="4571998"/>
            <a:ext cx="2174033" cy="2174033"/>
          </a:xfrm>
          <a:prstGeom prst="rect">
            <a:avLst/>
          </a:prstGeom>
        </p:spPr>
      </p:pic>
      <p:pic>
        <p:nvPicPr>
          <p:cNvPr id="7" name="Picture 6">
            <a:extLst>
              <a:ext uri="{FF2B5EF4-FFF2-40B4-BE49-F238E27FC236}">
                <a16:creationId xmlns:a16="http://schemas.microsoft.com/office/drawing/2014/main" id="{51D39286-9396-D6BB-870C-7EDEBA1B3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5978" y="2424189"/>
            <a:ext cx="3489701" cy="4252156"/>
          </a:xfrm>
          <a:prstGeom prst="rect">
            <a:avLst/>
          </a:prstGeom>
        </p:spPr>
      </p:pic>
    </p:spTree>
    <p:extLst>
      <p:ext uri="{BB962C8B-B14F-4D97-AF65-F5344CB8AC3E}">
        <p14:creationId xmlns:p14="http://schemas.microsoft.com/office/powerpoint/2010/main" val="2941995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BA254-115E-261D-2D67-FADE561F78A5}"/>
              </a:ext>
            </a:extLst>
          </p:cNvPr>
          <p:cNvSpPr>
            <a:spLocks noGrp="1"/>
          </p:cNvSpPr>
          <p:nvPr>
            <p:ph type="title"/>
          </p:nvPr>
        </p:nvSpPr>
        <p:spPr/>
        <p:txBody>
          <a:bodyPr/>
          <a:lstStyle/>
          <a:p>
            <a:r>
              <a:rPr lang="en-US" b="1" dirty="0"/>
              <a:t>Leased lines</a:t>
            </a:r>
          </a:p>
        </p:txBody>
      </p:sp>
      <p:sp>
        <p:nvSpPr>
          <p:cNvPr id="3" name="Content Placeholder 2">
            <a:extLst>
              <a:ext uri="{FF2B5EF4-FFF2-40B4-BE49-F238E27FC236}">
                <a16:creationId xmlns:a16="http://schemas.microsoft.com/office/drawing/2014/main" id="{67EF08AC-D21A-A725-36A9-DD61C7CE3311}"/>
              </a:ext>
            </a:extLst>
          </p:cNvPr>
          <p:cNvSpPr>
            <a:spLocks noGrp="1"/>
          </p:cNvSpPr>
          <p:nvPr>
            <p:ph idx="1"/>
          </p:nvPr>
        </p:nvSpPr>
        <p:spPr/>
        <p:txBody>
          <a:bodyPr/>
          <a:lstStyle/>
          <a:p>
            <a:r>
              <a:rPr lang="en-US" dirty="0"/>
              <a:t>It is Internet Leased line is usually a dedicated line which offers direct connectivity to the internet.</a:t>
            </a:r>
          </a:p>
          <a:p>
            <a:r>
              <a:rPr lang="en-US" dirty="0"/>
              <a:t>This is done by connection the nearest service provider node point customer premises with a dedicated copper line, optical fiver cable, radio links or combination of the above.</a:t>
            </a:r>
          </a:p>
          <a:p>
            <a:r>
              <a:rPr lang="en-US" dirty="0"/>
              <a:t>It support high speed bandwidth since it has dedicated line for internet.</a:t>
            </a:r>
          </a:p>
        </p:txBody>
      </p:sp>
      <p:pic>
        <p:nvPicPr>
          <p:cNvPr id="5" name="Picture 4">
            <a:extLst>
              <a:ext uri="{FF2B5EF4-FFF2-40B4-BE49-F238E27FC236}">
                <a16:creationId xmlns:a16="http://schemas.microsoft.com/office/drawing/2014/main" id="{2693E360-6CC4-DA6F-9555-9557292E9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6430" y="4747104"/>
            <a:ext cx="3703320" cy="1767840"/>
          </a:xfrm>
          <a:prstGeom prst="rect">
            <a:avLst/>
          </a:prstGeom>
        </p:spPr>
      </p:pic>
    </p:spTree>
    <p:extLst>
      <p:ext uri="{BB962C8B-B14F-4D97-AF65-F5344CB8AC3E}">
        <p14:creationId xmlns:p14="http://schemas.microsoft.com/office/powerpoint/2010/main" val="3320670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3EE93-AABD-F6B2-21F7-F2948C6AE9FF}"/>
              </a:ext>
            </a:extLst>
          </p:cNvPr>
          <p:cNvSpPr>
            <a:spLocks noGrp="1"/>
          </p:cNvSpPr>
          <p:nvPr>
            <p:ph type="title"/>
          </p:nvPr>
        </p:nvSpPr>
        <p:spPr/>
        <p:txBody>
          <a:bodyPr/>
          <a:lstStyle/>
          <a:p>
            <a:r>
              <a:rPr lang="en-US" b="1" dirty="0"/>
              <a:t>Integrated Service Digital Network(ISDN)</a:t>
            </a:r>
          </a:p>
        </p:txBody>
      </p:sp>
      <p:sp>
        <p:nvSpPr>
          <p:cNvPr id="3" name="Content Placeholder 2">
            <a:extLst>
              <a:ext uri="{FF2B5EF4-FFF2-40B4-BE49-F238E27FC236}">
                <a16:creationId xmlns:a16="http://schemas.microsoft.com/office/drawing/2014/main" id="{B96B1B36-CA94-F76E-5DC2-358CDD179D67}"/>
              </a:ext>
            </a:extLst>
          </p:cNvPr>
          <p:cNvSpPr>
            <a:spLocks noGrp="1"/>
          </p:cNvSpPr>
          <p:nvPr>
            <p:ph idx="1"/>
          </p:nvPr>
        </p:nvSpPr>
        <p:spPr/>
        <p:txBody>
          <a:bodyPr/>
          <a:lstStyle/>
          <a:p>
            <a:r>
              <a:rPr lang="en-US" dirty="0"/>
              <a:t>It establishes the connection using the phone lines which carry digital signal instead of analog signal. </a:t>
            </a:r>
          </a:p>
          <a:p>
            <a:r>
              <a:rPr lang="en-US" dirty="0"/>
              <a:t>It can carry both voice and internet signal through single line.</a:t>
            </a:r>
          </a:p>
          <a:p>
            <a:r>
              <a:rPr lang="en-US" dirty="0"/>
              <a:t>It doesn’t require modem rather than uses only ISDN adapter</a:t>
            </a:r>
          </a:p>
          <a:p>
            <a:r>
              <a:rPr lang="en-US" dirty="0"/>
              <a:t>Better bandwidth and reliable that dialup</a:t>
            </a:r>
          </a:p>
          <a:p>
            <a:r>
              <a:rPr lang="en-US" dirty="0"/>
              <a:t>ISDN lines are costlier and not widely available</a:t>
            </a:r>
          </a:p>
          <a:p>
            <a:r>
              <a:rPr lang="en-US" dirty="0"/>
              <a:t>Disadvantage of ISDN over DSL connection is ISDN still uses dialup mechanism and during connection telephone line are still disturbed.</a:t>
            </a:r>
          </a:p>
        </p:txBody>
      </p:sp>
    </p:spTree>
    <p:extLst>
      <p:ext uri="{BB962C8B-B14F-4D97-AF65-F5344CB8AC3E}">
        <p14:creationId xmlns:p14="http://schemas.microsoft.com/office/powerpoint/2010/main" val="2178947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4E96-C85D-0263-7B6C-BB854DEDEF38}"/>
              </a:ext>
            </a:extLst>
          </p:cNvPr>
          <p:cNvSpPr>
            <a:spLocks noGrp="1"/>
          </p:cNvSpPr>
          <p:nvPr>
            <p:ph type="title"/>
          </p:nvPr>
        </p:nvSpPr>
        <p:spPr/>
        <p:txBody>
          <a:bodyPr/>
          <a:lstStyle/>
          <a:p>
            <a:r>
              <a:rPr lang="en-US" b="1" dirty="0"/>
              <a:t>Digital Subscriber line(DSL)</a:t>
            </a:r>
          </a:p>
        </p:txBody>
      </p:sp>
      <p:sp>
        <p:nvSpPr>
          <p:cNvPr id="3" name="Content Placeholder 2">
            <a:extLst>
              <a:ext uri="{FF2B5EF4-FFF2-40B4-BE49-F238E27FC236}">
                <a16:creationId xmlns:a16="http://schemas.microsoft.com/office/drawing/2014/main" id="{052D1574-6BF5-7D7D-BDAB-029FA1F00B6A}"/>
              </a:ext>
            </a:extLst>
          </p:cNvPr>
          <p:cNvSpPr>
            <a:spLocks noGrp="1"/>
          </p:cNvSpPr>
          <p:nvPr>
            <p:ph idx="1"/>
          </p:nvPr>
        </p:nvSpPr>
        <p:spPr>
          <a:xfrm>
            <a:off x="1890135" y="2791325"/>
            <a:ext cx="7729728" cy="3101983"/>
          </a:xfrm>
        </p:spPr>
        <p:txBody>
          <a:bodyPr/>
          <a:lstStyle/>
          <a:p>
            <a:r>
              <a:rPr lang="en-US" dirty="0">
                <a:solidFill>
                  <a:schemeClr val="tx1"/>
                </a:solidFill>
              </a:rPr>
              <a:t>It is a form of broadband connection as if provides connection over ordinary telephone lines. Some commonly used version of DSL technique are : Asymmetric DSL(ADSL), Symmetric DSL (SDSL). High bit rate DSL etc. </a:t>
            </a:r>
          </a:p>
          <a:p>
            <a:r>
              <a:rPr lang="en-US" dirty="0">
                <a:solidFill>
                  <a:schemeClr val="tx1"/>
                </a:solidFill>
              </a:rPr>
              <a:t>All of the mentioned technologies differ in their upload and download speed, bit transfer rate and level of service. </a:t>
            </a:r>
          </a:p>
          <a:p>
            <a:r>
              <a:rPr lang="en-US" b="0" i="0" dirty="0">
                <a:solidFill>
                  <a:schemeClr val="tx1"/>
                </a:solidFill>
                <a:effectLst/>
                <a:latin typeface="motiva-sans"/>
              </a:rPr>
              <a:t>That’s because ISDN is a dial-up service that goes through a singular line. DSL connections never need to dial. They are sometimes called “always-on connections.”</a:t>
            </a:r>
            <a:br>
              <a:rPr lang="en-US" dirty="0">
                <a:solidFill>
                  <a:schemeClr val="tx1"/>
                </a:solidFill>
              </a:rPr>
            </a:br>
            <a:r>
              <a:rPr lang="en-US" b="0" i="0" dirty="0">
                <a:solidFill>
                  <a:schemeClr val="tx1"/>
                </a:solidFill>
                <a:effectLst/>
                <a:latin typeface="motiva-sans"/>
              </a:rPr>
              <a:t>Because of that, DSL sends its packets at speeds up to 100 Mbps, while ISDN tops out around 128 Kbps.</a:t>
            </a:r>
            <a:endParaRPr lang="en-US" dirty="0">
              <a:solidFill>
                <a:schemeClr val="tx1"/>
              </a:solidFill>
            </a:endParaRPr>
          </a:p>
        </p:txBody>
      </p:sp>
      <p:pic>
        <p:nvPicPr>
          <p:cNvPr id="5" name="Picture 4">
            <a:extLst>
              <a:ext uri="{FF2B5EF4-FFF2-40B4-BE49-F238E27FC236}">
                <a16:creationId xmlns:a16="http://schemas.microsoft.com/office/drawing/2014/main" id="{CCD4A92F-64CB-6B11-EFAA-65F150BCCE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9863" y="3429000"/>
            <a:ext cx="2472612" cy="1610295"/>
          </a:xfrm>
          <a:prstGeom prst="rect">
            <a:avLst/>
          </a:prstGeom>
        </p:spPr>
      </p:pic>
    </p:spTree>
    <p:extLst>
      <p:ext uri="{BB962C8B-B14F-4D97-AF65-F5344CB8AC3E}">
        <p14:creationId xmlns:p14="http://schemas.microsoft.com/office/powerpoint/2010/main" val="871235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55E8B-1DCD-8DEF-42EA-9E080AD81720}"/>
              </a:ext>
            </a:extLst>
          </p:cNvPr>
          <p:cNvSpPr>
            <a:spLocks noGrp="1"/>
          </p:cNvSpPr>
          <p:nvPr>
            <p:ph type="title"/>
          </p:nvPr>
        </p:nvSpPr>
        <p:spPr/>
        <p:txBody>
          <a:bodyPr/>
          <a:lstStyle/>
          <a:p>
            <a:r>
              <a:rPr lang="en-US" b="1" dirty="0"/>
              <a:t>Cable Modem</a:t>
            </a:r>
          </a:p>
        </p:txBody>
      </p:sp>
      <p:sp>
        <p:nvSpPr>
          <p:cNvPr id="3" name="Content Placeholder 2">
            <a:extLst>
              <a:ext uri="{FF2B5EF4-FFF2-40B4-BE49-F238E27FC236}">
                <a16:creationId xmlns:a16="http://schemas.microsoft.com/office/drawing/2014/main" id="{B6C3DE11-A755-60B9-BDDA-0F5C47832098}"/>
              </a:ext>
            </a:extLst>
          </p:cNvPr>
          <p:cNvSpPr>
            <a:spLocks noGrp="1"/>
          </p:cNvSpPr>
          <p:nvPr>
            <p:ph idx="1"/>
          </p:nvPr>
        </p:nvSpPr>
        <p:spPr/>
        <p:txBody>
          <a:bodyPr/>
          <a:lstStyle/>
          <a:p>
            <a:r>
              <a:rPr lang="en-US" dirty="0"/>
              <a:t>Cable modem works similar as telephone but it uses coaxial cable used for cable TV.</a:t>
            </a:r>
          </a:p>
          <a:p>
            <a:r>
              <a:rPr lang="en-US" dirty="0"/>
              <a:t>The cable wire is connected in splitter and one cable is used for TV and another is plugged to cable modem.</a:t>
            </a:r>
          </a:p>
          <a:p>
            <a:r>
              <a:rPr lang="en-US" dirty="0"/>
              <a:t>Since the cable line are distributed among many subscribers, the bandwidth also gets distributed.</a:t>
            </a:r>
          </a:p>
        </p:txBody>
      </p:sp>
      <p:pic>
        <p:nvPicPr>
          <p:cNvPr id="5" name="Picture 4">
            <a:extLst>
              <a:ext uri="{FF2B5EF4-FFF2-40B4-BE49-F238E27FC236}">
                <a16:creationId xmlns:a16="http://schemas.microsoft.com/office/drawing/2014/main" id="{839CFF4F-96FD-3638-E445-DA14BB118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6288" y="2586653"/>
            <a:ext cx="2102249" cy="3153374"/>
          </a:xfrm>
          <a:prstGeom prst="rect">
            <a:avLst/>
          </a:prstGeom>
        </p:spPr>
      </p:pic>
    </p:spTree>
    <p:extLst>
      <p:ext uri="{BB962C8B-B14F-4D97-AF65-F5344CB8AC3E}">
        <p14:creationId xmlns:p14="http://schemas.microsoft.com/office/powerpoint/2010/main" val="4169433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of Internet</a:t>
            </a:r>
          </a:p>
        </p:txBody>
      </p:sp>
      <p:sp>
        <p:nvSpPr>
          <p:cNvPr id="3" name="Content Placeholder 2"/>
          <p:cNvSpPr>
            <a:spLocks noGrp="1"/>
          </p:cNvSpPr>
          <p:nvPr>
            <p:ph idx="1"/>
          </p:nvPr>
        </p:nvSpPr>
        <p:spPr>
          <a:xfrm>
            <a:off x="1348033" y="2638044"/>
            <a:ext cx="8612831" cy="3932438"/>
          </a:xfrm>
        </p:spPr>
        <p:txBody>
          <a:bodyPr>
            <a:normAutofit/>
          </a:bodyPr>
          <a:lstStyle/>
          <a:p>
            <a:pPr algn="just"/>
            <a:r>
              <a:rPr lang="en-US" b="1" dirty="0"/>
              <a:t>Communication</a:t>
            </a:r>
            <a:r>
              <a:rPr lang="en-US" dirty="0"/>
              <a:t>: The internet is widely used for communication, including email, instant messaging, voice and video calls, and social networking.</a:t>
            </a:r>
          </a:p>
          <a:p>
            <a:pPr algn="just"/>
            <a:r>
              <a:rPr lang="en-US" b="1" dirty="0"/>
              <a:t>Information sharing: </a:t>
            </a:r>
            <a:r>
              <a:rPr lang="en-US" dirty="0"/>
              <a:t>The internet enables individuals and organizations to share and access vast amounts of information, including news, research, and educational resources.</a:t>
            </a:r>
          </a:p>
          <a:p>
            <a:pPr algn="just"/>
            <a:r>
              <a:rPr lang="en-US" b="1" dirty="0"/>
              <a:t>E-commerce: </a:t>
            </a:r>
            <a:r>
              <a:rPr lang="en-US" dirty="0"/>
              <a:t>The internet has transformed the way we shop and do business, enabling e-commerce platforms like Amazon and eBay to connect buyers and sellers from around the world.</a:t>
            </a:r>
          </a:p>
          <a:p>
            <a:pPr algn="just"/>
            <a:r>
              <a:rPr lang="en-US" b="1" dirty="0"/>
              <a:t>Entertainment: </a:t>
            </a:r>
            <a:r>
              <a:rPr lang="en-US" dirty="0"/>
              <a:t>The internet provides a wide range of entertainment options, including streaming services for movies and TV shows, online gaming, and social media.</a:t>
            </a:r>
          </a:p>
          <a:p>
            <a:pPr algn="just"/>
            <a:r>
              <a:rPr lang="en-US" b="1" dirty="0"/>
              <a:t>Education: </a:t>
            </a:r>
            <a:r>
              <a:rPr lang="en-US" dirty="0"/>
              <a:t>The internet has revolutionized education, with many schools and universities offering online courses and resources that can be accessed from anywhere in the world.</a:t>
            </a:r>
          </a:p>
        </p:txBody>
      </p:sp>
    </p:spTree>
    <p:extLst>
      <p:ext uri="{BB962C8B-B14F-4D97-AF65-F5344CB8AC3E}">
        <p14:creationId xmlns:p14="http://schemas.microsoft.com/office/powerpoint/2010/main" val="36791294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of Internet</a:t>
            </a:r>
          </a:p>
        </p:txBody>
      </p:sp>
      <p:sp>
        <p:nvSpPr>
          <p:cNvPr id="3" name="Content Placeholder 2"/>
          <p:cNvSpPr>
            <a:spLocks noGrp="1"/>
          </p:cNvSpPr>
          <p:nvPr>
            <p:ph idx="1"/>
          </p:nvPr>
        </p:nvSpPr>
        <p:spPr>
          <a:xfrm>
            <a:off x="1828800" y="2638044"/>
            <a:ext cx="9992412" cy="3696768"/>
          </a:xfrm>
        </p:spPr>
        <p:txBody>
          <a:bodyPr>
            <a:normAutofit/>
          </a:bodyPr>
          <a:lstStyle/>
          <a:p>
            <a:r>
              <a:rPr lang="en-US" b="1" dirty="0"/>
              <a:t>Healthcare: </a:t>
            </a:r>
            <a:r>
              <a:rPr lang="en-US" dirty="0"/>
              <a:t>The internet is increasingly being used in healthcare, enabling remote consultations, telemedicine, and the sharing of medical information and resources.</a:t>
            </a:r>
          </a:p>
          <a:p>
            <a:r>
              <a:rPr lang="en-US" b="1" dirty="0"/>
              <a:t>Government services: </a:t>
            </a:r>
            <a:r>
              <a:rPr lang="en-US" dirty="0"/>
              <a:t>The internet enables citizens to access government services and information, including tax forms, public records, and online voting.</a:t>
            </a:r>
          </a:p>
          <a:p>
            <a:r>
              <a:rPr lang="en-US" b="1" dirty="0"/>
              <a:t>Transportation: </a:t>
            </a:r>
            <a:r>
              <a:rPr lang="en-US" dirty="0"/>
              <a:t>The internet is being used to revolutionize transportation, with the development of autonomous vehicles and smart traffic systems that use real-time data to optimize traffic flow.</a:t>
            </a:r>
          </a:p>
          <a:p>
            <a:r>
              <a:rPr lang="en-US" b="1" dirty="0"/>
              <a:t>Smart homes and cities: </a:t>
            </a:r>
            <a:r>
              <a:rPr lang="en-US" dirty="0"/>
              <a:t>The internet is being used to create smart homes and cities, with connected devices and sensors that can monitor and control various aspects of daily life, from lighting and temperature to traffic and public services.</a:t>
            </a:r>
          </a:p>
          <a:p>
            <a:pPr marL="0" indent="0">
              <a:buNone/>
            </a:pPr>
            <a:r>
              <a:rPr lang="en-US" dirty="0"/>
              <a:t>Overall, the internet has become an essential part of modern life, with countless applications that are transforming the way we live, work, and communicate</a:t>
            </a:r>
          </a:p>
        </p:txBody>
      </p:sp>
    </p:spTree>
    <p:extLst>
      <p:ext uri="{BB962C8B-B14F-4D97-AF65-F5344CB8AC3E}">
        <p14:creationId xmlns:p14="http://schemas.microsoft.com/office/powerpoint/2010/main" val="1731185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591E9-37EA-7DCF-B980-3F9BEB145E25}"/>
              </a:ext>
            </a:extLst>
          </p:cNvPr>
          <p:cNvSpPr>
            <a:spLocks noGrp="1"/>
          </p:cNvSpPr>
          <p:nvPr>
            <p:ph type="title"/>
          </p:nvPr>
        </p:nvSpPr>
        <p:spPr/>
        <p:txBody>
          <a:bodyPr/>
          <a:lstStyle/>
          <a:p>
            <a:r>
              <a:rPr lang="en-US" b="1" dirty="0"/>
              <a:t>Internet Services</a:t>
            </a:r>
          </a:p>
        </p:txBody>
      </p:sp>
      <p:sp>
        <p:nvSpPr>
          <p:cNvPr id="3" name="Content Placeholder 2">
            <a:extLst>
              <a:ext uri="{FF2B5EF4-FFF2-40B4-BE49-F238E27FC236}">
                <a16:creationId xmlns:a16="http://schemas.microsoft.com/office/drawing/2014/main" id="{6B894E9E-A72A-4D0B-BF0A-EB9D8FB6B530}"/>
              </a:ext>
            </a:extLst>
          </p:cNvPr>
          <p:cNvSpPr>
            <a:spLocks noGrp="1"/>
          </p:cNvSpPr>
          <p:nvPr>
            <p:ph idx="1"/>
          </p:nvPr>
        </p:nvSpPr>
        <p:spPr/>
        <p:txBody>
          <a:bodyPr>
            <a:normAutofit/>
          </a:bodyPr>
          <a:lstStyle/>
          <a:p>
            <a:r>
              <a:rPr lang="en-US" sz="2000" dirty="0"/>
              <a:t>WWW</a:t>
            </a:r>
          </a:p>
          <a:p>
            <a:r>
              <a:rPr lang="en-US" sz="2000" dirty="0"/>
              <a:t>Email</a:t>
            </a:r>
          </a:p>
          <a:p>
            <a:r>
              <a:rPr lang="en-US" sz="2000" dirty="0"/>
              <a:t>File Transfer</a:t>
            </a:r>
          </a:p>
          <a:p>
            <a:r>
              <a:rPr lang="en-US" sz="2000" dirty="0"/>
              <a:t>Video conferencing</a:t>
            </a:r>
          </a:p>
          <a:p>
            <a:endParaRPr lang="en-US" sz="2000" dirty="0"/>
          </a:p>
        </p:txBody>
      </p:sp>
    </p:spTree>
    <p:extLst>
      <p:ext uri="{BB962C8B-B14F-4D97-AF65-F5344CB8AC3E}">
        <p14:creationId xmlns:p14="http://schemas.microsoft.com/office/powerpoint/2010/main" val="2450320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90AD-F0E9-55D2-32DA-5BC2EA06916C}"/>
              </a:ext>
            </a:extLst>
          </p:cNvPr>
          <p:cNvSpPr>
            <a:spLocks noGrp="1"/>
          </p:cNvSpPr>
          <p:nvPr>
            <p:ph type="title"/>
          </p:nvPr>
        </p:nvSpPr>
        <p:spPr/>
        <p:txBody>
          <a:bodyPr/>
          <a:lstStyle/>
          <a:p>
            <a:r>
              <a:rPr lang="en-US" b="1" dirty="0"/>
              <a:t>World wide web</a:t>
            </a:r>
          </a:p>
        </p:txBody>
      </p:sp>
      <p:sp>
        <p:nvSpPr>
          <p:cNvPr id="3" name="Content Placeholder 2">
            <a:extLst>
              <a:ext uri="{FF2B5EF4-FFF2-40B4-BE49-F238E27FC236}">
                <a16:creationId xmlns:a16="http://schemas.microsoft.com/office/drawing/2014/main" id="{6B913D56-7D46-1758-C9AC-2127077DA0A9}"/>
              </a:ext>
            </a:extLst>
          </p:cNvPr>
          <p:cNvSpPr>
            <a:spLocks noGrp="1"/>
          </p:cNvSpPr>
          <p:nvPr>
            <p:ph idx="1"/>
          </p:nvPr>
        </p:nvSpPr>
        <p:spPr/>
        <p:txBody>
          <a:bodyPr>
            <a:normAutofit fontScale="92500" lnSpcReduction="20000"/>
          </a:bodyPr>
          <a:lstStyle/>
          <a:p>
            <a:r>
              <a:rPr lang="en-US" dirty="0"/>
              <a:t>It is a system of interlinked hypertext documents(called webpages) contained on the Internet.</a:t>
            </a:r>
          </a:p>
          <a:p>
            <a:r>
              <a:rPr lang="en-US" dirty="0"/>
              <a:t>A web page can contain text, graphics, animations, sound and video. All of the web pages maintained by an organization or individual are called a </a:t>
            </a:r>
            <a:r>
              <a:rPr lang="en-US" b="1" dirty="0"/>
              <a:t>web site</a:t>
            </a:r>
            <a:r>
              <a:rPr lang="en-US" dirty="0"/>
              <a:t>.</a:t>
            </a:r>
          </a:p>
          <a:p>
            <a:r>
              <a:rPr lang="en-US" dirty="0"/>
              <a:t>WWW uses Hypertext Transfer Protocol(HTTP) for fetching files (web pages) from internet.</a:t>
            </a:r>
          </a:p>
          <a:p>
            <a:r>
              <a:rPr lang="en-US" b="1" dirty="0"/>
              <a:t>HTTP</a:t>
            </a:r>
            <a:r>
              <a:rPr lang="en-US" dirty="0"/>
              <a:t> is set of rules and standards that transmit requests and information between web browsers and web servers.</a:t>
            </a:r>
          </a:p>
          <a:p>
            <a:r>
              <a:rPr lang="en-US" b="1" dirty="0"/>
              <a:t>Web browser</a:t>
            </a:r>
            <a:r>
              <a:rPr lang="en-US" dirty="0"/>
              <a:t> is a software application used to locate and display web pages. </a:t>
            </a:r>
          </a:p>
          <a:p>
            <a:r>
              <a:rPr lang="en-US" b="1" dirty="0"/>
              <a:t>Web server</a:t>
            </a:r>
            <a:r>
              <a:rPr lang="en-US" dirty="0"/>
              <a:t> is a software application that delivers web pages. Some popular web servers are Apache, IIS( Internet Information Service)</a:t>
            </a:r>
          </a:p>
        </p:txBody>
      </p:sp>
    </p:spTree>
    <p:extLst>
      <p:ext uri="{BB962C8B-B14F-4D97-AF65-F5344CB8AC3E}">
        <p14:creationId xmlns:p14="http://schemas.microsoft.com/office/powerpoint/2010/main" val="3819653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6A8E-0C9C-0226-53AC-FFBA392F1BA5}"/>
              </a:ext>
            </a:extLst>
          </p:cNvPr>
          <p:cNvSpPr>
            <a:spLocks noGrp="1"/>
          </p:cNvSpPr>
          <p:nvPr>
            <p:ph type="title"/>
          </p:nvPr>
        </p:nvSpPr>
        <p:spPr/>
        <p:txBody>
          <a:bodyPr/>
          <a:lstStyle/>
          <a:p>
            <a:r>
              <a:rPr lang="en-US" b="1" dirty="0"/>
              <a:t>How www works?</a:t>
            </a:r>
          </a:p>
        </p:txBody>
      </p:sp>
      <p:pic>
        <p:nvPicPr>
          <p:cNvPr id="5" name="Picture 4">
            <a:extLst>
              <a:ext uri="{FF2B5EF4-FFF2-40B4-BE49-F238E27FC236}">
                <a16:creationId xmlns:a16="http://schemas.microsoft.com/office/drawing/2014/main" id="{AFCDAD26-0062-348B-DA07-D21336615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211" y="2641830"/>
            <a:ext cx="9789396" cy="3251478"/>
          </a:xfrm>
          <a:prstGeom prst="rect">
            <a:avLst/>
          </a:prstGeom>
        </p:spPr>
      </p:pic>
    </p:spTree>
    <p:extLst>
      <p:ext uri="{BB962C8B-B14F-4D97-AF65-F5344CB8AC3E}">
        <p14:creationId xmlns:p14="http://schemas.microsoft.com/office/powerpoint/2010/main" val="359338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6A8E-0C9C-0226-53AC-FFBA392F1BA5}"/>
              </a:ext>
            </a:extLst>
          </p:cNvPr>
          <p:cNvSpPr>
            <a:spLocks noGrp="1"/>
          </p:cNvSpPr>
          <p:nvPr>
            <p:ph type="title"/>
          </p:nvPr>
        </p:nvSpPr>
        <p:spPr/>
        <p:txBody>
          <a:bodyPr/>
          <a:lstStyle/>
          <a:p>
            <a:r>
              <a:rPr lang="en-US" b="1" dirty="0"/>
              <a:t>How www works?</a:t>
            </a:r>
          </a:p>
        </p:txBody>
      </p:sp>
      <p:sp>
        <p:nvSpPr>
          <p:cNvPr id="3" name="Content Placeholder 2">
            <a:extLst>
              <a:ext uri="{FF2B5EF4-FFF2-40B4-BE49-F238E27FC236}">
                <a16:creationId xmlns:a16="http://schemas.microsoft.com/office/drawing/2014/main" id="{DAF9FBA4-4E7F-1EAF-C24F-AEF5FCD60BBB}"/>
              </a:ext>
            </a:extLst>
          </p:cNvPr>
          <p:cNvSpPr>
            <a:spLocks noGrp="1"/>
          </p:cNvSpPr>
          <p:nvPr>
            <p:ph idx="1"/>
          </p:nvPr>
        </p:nvSpPr>
        <p:spPr>
          <a:xfrm>
            <a:off x="2231136" y="2594611"/>
            <a:ext cx="9528245" cy="4219956"/>
          </a:xfrm>
        </p:spPr>
        <p:txBody>
          <a:bodyPr>
            <a:noAutofit/>
          </a:bodyPr>
          <a:lstStyle/>
          <a:p>
            <a:pPr marL="457200" indent="-457200">
              <a:buClrTx/>
              <a:buFont typeface="+mj-lt"/>
              <a:buAutoNum type="arabicPeriod"/>
            </a:pPr>
            <a:r>
              <a:rPr lang="en-US" sz="2000" dirty="0"/>
              <a:t>User enters the URL( </a:t>
            </a:r>
            <a:r>
              <a:rPr lang="en-US" sz="2000" dirty="0" err="1"/>
              <a:t>Eg.</a:t>
            </a:r>
            <a:r>
              <a:rPr lang="en-US" sz="2000" dirty="0"/>
              <a:t> </a:t>
            </a:r>
            <a:r>
              <a:rPr lang="en-US" sz="2000" dirty="0">
                <a:hlinkClick r:id="rId2"/>
              </a:rPr>
              <a:t>http://www.ntc.org.np</a:t>
            </a:r>
            <a:r>
              <a:rPr lang="en-US" sz="2000" dirty="0"/>
              <a:t>) of the web page in the address bar of web browser.</a:t>
            </a:r>
          </a:p>
          <a:p>
            <a:pPr marL="457200" indent="-457200">
              <a:buClrTx/>
              <a:buFont typeface="+mj-lt"/>
              <a:buAutoNum type="arabicPeriod"/>
            </a:pPr>
            <a:r>
              <a:rPr lang="en-US" sz="2000" dirty="0"/>
              <a:t>Then browser requests the Domain Name Server for the IP address corresponding to </a:t>
            </a:r>
            <a:r>
              <a:rPr lang="en-US" sz="2000" dirty="0">
                <a:hlinkClick r:id="rId2"/>
              </a:rPr>
              <a:t>www.ntc.org.np</a:t>
            </a:r>
            <a:r>
              <a:rPr lang="en-US" sz="2000" dirty="0"/>
              <a:t>.</a:t>
            </a:r>
          </a:p>
          <a:p>
            <a:pPr marL="457200" indent="-457200">
              <a:buClrTx/>
              <a:buFont typeface="+mj-lt"/>
              <a:buAutoNum type="arabicPeriod"/>
            </a:pPr>
            <a:r>
              <a:rPr lang="en-US" sz="2000" dirty="0"/>
              <a:t>After receiving IP address, browser sends the request for web page to the web server using HTTP protocol which specifies the way the browser and web server communicates</a:t>
            </a:r>
          </a:p>
          <a:p>
            <a:pPr marL="457200" indent="-457200">
              <a:buClrTx/>
              <a:buFont typeface="+mj-lt"/>
              <a:buAutoNum type="arabicPeriod"/>
            </a:pPr>
            <a:r>
              <a:rPr lang="en-US" sz="2000" dirty="0"/>
              <a:t>The web server receives request using HTTP protocol and </a:t>
            </a:r>
            <a:r>
              <a:rPr lang="en-US" sz="2000" dirty="0" err="1"/>
              <a:t>cheecks</a:t>
            </a:r>
            <a:r>
              <a:rPr lang="en-US" sz="2000" dirty="0"/>
              <a:t> its search for the requested web page. If found it returns it back to the web browser and close the HTTP connection.</a:t>
            </a:r>
          </a:p>
          <a:p>
            <a:pPr marL="457200" indent="-457200">
              <a:buClrTx/>
              <a:buFont typeface="+mj-lt"/>
              <a:buAutoNum type="arabicPeriod"/>
            </a:pPr>
            <a:r>
              <a:rPr lang="en-US" sz="2000" dirty="0"/>
              <a:t>Now the web browser receives the web pages, It interprets it and display the contents of web pages in web browser’s window.</a:t>
            </a:r>
          </a:p>
        </p:txBody>
      </p:sp>
    </p:spTree>
    <p:extLst>
      <p:ext uri="{BB962C8B-B14F-4D97-AF65-F5344CB8AC3E}">
        <p14:creationId xmlns:p14="http://schemas.microsoft.com/office/powerpoint/2010/main" val="1712536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24C1-69FE-CC5D-E421-319B271E0B67}"/>
              </a:ext>
            </a:extLst>
          </p:cNvPr>
          <p:cNvSpPr>
            <a:spLocks noGrp="1"/>
          </p:cNvSpPr>
          <p:nvPr>
            <p:ph type="title"/>
          </p:nvPr>
        </p:nvSpPr>
        <p:spPr/>
        <p:txBody>
          <a:bodyPr/>
          <a:lstStyle/>
          <a:p>
            <a:r>
              <a:rPr lang="en-US" b="1" dirty="0"/>
              <a:t>WWW </a:t>
            </a:r>
            <a:r>
              <a:rPr lang="en-US" b="1" dirty="0" err="1"/>
              <a:t>Evolultion</a:t>
            </a:r>
            <a:endParaRPr lang="en-US" b="1" dirty="0"/>
          </a:p>
        </p:txBody>
      </p:sp>
      <p:pic>
        <p:nvPicPr>
          <p:cNvPr id="5" name="Content Placeholder 4">
            <a:extLst>
              <a:ext uri="{FF2B5EF4-FFF2-40B4-BE49-F238E27FC236}">
                <a16:creationId xmlns:a16="http://schemas.microsoft.com/office/drawing/2014/main" id="{AFC63E16-679D-1BCD-DC3E-1AC22B6E32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2666" y="2520438"/>
            <a:ext cx="5066668" cy="3990002"/>
          </a:xfrm>
        </p:spPr>
      </p:pic>
    </p:spTree>
    <p:extLst>
      <p:ext uri="{BB962C8B-B14F-4D97-AF65-F5344CB8AC3E}">
        <p14:creationId xmlns:p14="http://schemas.microsoft.com/office/powerpoint/2010/main" val="2117038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9249C-62F5-BD2A-2763-E92790C0455B}"/>
              </a:ext>
            </a:extLst>
          </p:cNvPr>
          <p:cNvSpPr>
            <a:spLocks noGrp="1"/>
          </p:cNvSpPr>
          <p:nvPr>
            <p:ph type="title"/>
          </p:nvPr>
        </p:nvSpPr>
        <p:spPr/>
        <p:txBody>
          <a:bodyPr/>
          <a:lstStyle/>
          <a:p>
            <a:r>
              <a:rPr lang="en-US" b="1" dirty="0"/>
              <a:t>Uniform Resource Locater(URL)</a:t>
            </a:r>
          </a:p>
        </p:txBody>
      </p:sp>
      <p:sp>
        <p:nvSpPr>
          <p:cNvPr id="3" name="Content Placeholder 2">
            <a:extLst>
              <a:ext uri="{FF2B5EF4-FFF2-40B4-BE49-F238E27FC236}">
                <a16:creationId xmlns:a16="http://schemas.microsoft.com/office/drawing/2014/main" id="{07791E89-C7F0-925D-1090-DDBF7BEE1F8D}"/>
              </a:ext>
            </a:extLst>
          </p:cNvPr>
          <p:cNvSpPr>
            <a:spLocks noGrp="1"/>
          </p:cNvSpPr>
          <p:nvPr>
            <p:ph idx="1"/>
          </p:nvPr>
        </p:nvSpPr>
        <p:spPr/>
        <p:txBody>
          <a:bodyPr/>
          <a:lstStyle/>
          <a:p>
            <a:r>
              <a:rPr lang="en-US" dirty="0"/>
              <a:t>URL is an addressing scheme used by web browsers to locate documents(web pages) and other resources on the World Wide Web.</a:t>
            </a:r>
          </a:p>
          <a:p>
            <a:r>
              <a:rPr lang="en-US" dirty="0"/>
              <a:t>For example: </a:t>
            </a:r>
            <a:r>
              <a:rPr lang="en-US" dirty="0">
                <a:hlinkClick r:id="rId2"/>
              </a:rPr>
              <a:t>http://tuservicescommision.edu.np/notice.html</a:t>
            </a:r>
            <a:endParaRPr lang="en-US" dirty="0"/>
          </a:p>
          <a:p>
            <a:r>
              <a:rPr lang="en-US" dirty="0"/>
              <a:t>http is protocol</a:t>
            </a:r>
          </a:p>
          <a:p>
            <a:r>
              <a:rPr lang="en-US" dirty="0"/>
              <a:t>Second part is host name (tuservicescommision.edu.np)</a:t>
            </a:r>
          </a:p>
          <a:p>
            <a:r>
              <a:rPr lang="en-US" dirty="0"/>
              <a:t>Notice.html resource name.</a:t>
            </a:r>
          </a:p>
        </p:txBody>
      </p:sp>
      <p:pic>
        <p:nvPicPr>
          <p:cNvPr id="5" name="Picture 4">
            <a:extLst>
              <a:ext uri="{FF2B5EF4-FFF2-40B4-BE49-F238E27FC236}">
                <a16:creationId xmlns:a16="http://schemas.microsoft.com/office/drawing/2014/main" id="{2698B808-21DE-B95C-119A-697FCD213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7468" y="5057221"/>
            <a:ext cx="5425358" cy="1085072"/>
          </a:xfrm>
          <a:prstGeom prst="rect">
            <a:avLst/>
          </a:prstGeom>
        </p:spPr>
      </p:pic>
    </p:spTree>
    <p:extLst>
      <p:ext uri="{BB962C8B-B14F-4D97-AF65-F5344CB8AC3E}">
        <p14:creationId xmlns:p14="http://schemas.microsoft.com/office/powerpoint/2010/main" val="34965708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A9C7-D697-0174-D5E1-79689489DD06}"/>
              </a:ext>
            </a:extLst>
          </p:cNvPr>
          <p:cNvSpPr>
            <a:spLocks noGrp="1"/>
          </p:cNvSpPr>
          <p:nvPr>
            <p:ph type="title"/>
          </p:nvPr>
        </p:nvSpPr>
        <p:spPr/>
        <p:txBody>
          <a:bodyPr/>
          <a:lstStyle/>
          <a:p>
            <a:r>
              <a:rPr lang="en-US" b="1" dirty="0"/>
              <a:t>E-mail</a:t>
            </a:r>
          </a:p>
        </p:txBody>
      </p:sp>
      <p:sp>
        <p:nvSpPr>
          <p:cNvPr id="3" name="Content Placeholder 2">
            <a:extLst>
              <a:ext uri="{FF2B5EF4-FFF2-40B4-BE49-F238E27FC236}">
                <a16:creationId xmlns:a16="http://schemas.microsoft.com/office/drawing/2014/main" id="{7CAD58FB-7430-B2D4-4B7B-B10F61B4340A}"/>
              </a:ext>
            </a:extLst>
          </p:cNvPr>
          <p:cNvSpPr>
            <a:spLocks noGrp="1"/>
          </p:cNvSpPr>
          <p:nvPr>
            <p:ph idx="1"/>
          </p:nvPr>
        </p:nvSpPr>
        <p:spPr>
          <a:xfrm>
            <a:off x="2231136" y="2361235"/>
            <a:ext cx="9783386" cy="4245305"/>
          </a:xfrm>
        </p:spPr>
        <p:txBody>
          <a:bodyPr>
            <a:noAutofit/>
          </a:bodyPr>
          <a:lstStyle/>
          <a:p>
            <a:r>
              <a:rPr lang="en-US" dirty="0"/>
              <a:t>Electronic main is and electronic message transmitted over a network from one user to another. Email is text based main consisting of lines of text, and can include attachments such as audio messages, pictures and documents. </a:t>
            </a:r>
          </a:p>
          <a:p>
            <a:r>
              <a:rPr lang="en-US" dirty="0"/>
              <a:t>Email are comprised of three components:</a:t>
            </a:r>
          </a:p>
          <a:p>
            <a:r>
              <a:rPr lang="en-US" dirty="0"/>
              <a:t>Message envelope: Describes the email’s format</a:t>
            </a:r>
          </a:p>
          <a:p>
            <a:r>
              <a:rPr lang="en-US" dirty="0"/>
              <a:t>Message header: Includes sender/recipient email address and subject.</a:t>
            </a:r>
          </a:p>
          <a:p>
            <a:pPr lvl="1"/>
            <a:r>
              <a:rPr lang="en-US" sz="1800" b="1" dirty="0"/>
              <a:t>Cc: </a:t>
            </a:r>
            <a:r>
              <a:rPr lang="en-US" sz="1800" dirty="0"/>
              <a:t>addresses where carbon copies of the same email will be sent. The recipients of email can see all email addresses to which the copies have been sent</a:t>
            </a:r>
          </a:p>
          <a:p>
            <a:pPr lvl="1"/>
            <a:r>
              <a:rPr lang="en-US" sz="1800" b="1" dirty="0"/>
              <a:t>Bcc: </a:t>
            </a:r>
            <a:r>
              <a:rPr lang="en-US" sz="1800" dirty="0"/>
              <a:t>Addresses where blind carbon copies of the same email will be sent. The recipients of email do not know that the same email has been sent to other email addresses.</a:t>
            </a:r>
          </a:p>
          <a:p>
            <a:pPr lvl="1"/>
            <a:r>
              <a:rPr lang="en-US" sz="1800" dirty="0"/>
              <a:t>Size of email</a:t>
            </a:r>
          </a:p>
          <a:p>
            <a:pPr marL="228600" lvl="1" indent="0">
              <a:buNone/>
            </a:pPr>
            <a:r>
              <a:rPr lang="en-US" sz="1800" dirty="0"/>
              <a:t>Message body: Includes text, images and file attachments.</a:t>
            </a:r>
          </a:p>
          <a:p>
            <a:endParaRPr lang="en-US" dirty="0"/>
          </a:p>
        </p:txBody>
      </p:sp>
    </p:spTree>
    <p:extLst>
      <p:ext uri="{BB962C8B-B14F-4D97-AF65-F5344CB8AC3E}">
        <p14:creationId xmlns:p14="http://schemas.microsoft.com/office/powerpoint/2010/main" val="503449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A9C7-D697-0174-D5E1-79689489DD06}"/>
              </a:ext>
            </a:extLst>
          </p:cNvPr>
          <p:cNvSpPr>
            <a:spLocks noGrp="1"/>
          </p:cNvSpPr>
          <p:nvPr>
            <p:ph type="title"/>
          </p:nvPr>
        </p:nvSpPr>
        <p:spPr/>
        <p:txBody>
          <a:bodyPr/>
          <a:lstStyle/>
          <a:p>
            <a:r>
              <a:rPr lang="en-US" b="1" dirty="0"/>
              <a:t>How E-mail works?</a:t>
            </a:r>
          </a:p>
        </p:txBody>
      </p:sp>
      <p:pic>
        <p:nvPicPr>
          <p:cNvPr id="5" name="Picture 4">
            <a:extLst>
              <a:ext uri="{FF2B5EF4-FFF2-40B4-BE49-F238E27FC236}">
                <a16:creationId xmlns:a16="http://schemas.microsoft.com/office/drawing/2014/main" id="{E11670AB-2A1B-C26A-2F8C-52074F4A1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4718" y="2522533"/>
            <a:ext cx="5262563" cy="3515364"/>
          </a:xfrm>
          <a:prstGeom prst="rect">
            <a:avLst/>
          </a:prstGeom>
        </p:spPr>
      </p:pic>
    </p:spTree>
    <p:extLst>
      <p:ext uri="{BB962C8B-B14F-4D97-AF65-F5344CB8AC3E}">
        <p14:creationId xmlns:p14="http://schemas.microsoft.com/office/powerpoint/2010/main" val="1985043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A9C7-D697-0174-D5E1-79689489DD06}"/>
              </a:ext>
            </a:extLst>
          </p:cNvPr>
          <p:cNvSpPr>
            <a:spLocks noGrp="1"/>
          </p:cNvSpPr>
          <p:nvPr>
            <p:ph type="title"/>
          </p:nvPr>
        </p:nvSpPr>
        <p:spPr>
          <a:xfrm>
            <a:off x="2231136" y="571153"/>
            <a:ext cx="7729728" cy="1188720"/>
          </a:xfrm>
        </p:spPr>
        <p:txBody>
          <a:bodyPr/>
          <a:lstStyle/>
          <a:p>
            <a:r>
              <a:rPr lang="en-US" b="1" dirty="0"/>
              <a:t>How E-mail works?</a:t>
            </a:r>
          </a:p>
        </p:txBody>
      </p:sp>
      <p:sp>
        <p:nvSpPr>
          <p:cNvPr id="3" name="Content Placeholder 2">
            <a:extLst>
              <a:ext uri="{FF2B5EF4-FFF2-40B4-BE49-F238E27FC236}">
                <a16:creationId xmlns:a16="http://schemas.microsoft.com/office/drawing/2014/main" id="{7CAD58FB-7430-B2D4-4B7B-B10F61B4340A}"/>
              </a:ext>
            </a:extLst>
          </p:cNvPr>
          <p:cNvSpPr>
            <a:spLocks noGrp="1"/>
          </p:cNvSpPr>
          <p:nvPr>
            <p:ph idx="1"/>
          </p:nvPr>
        </p:nvSpPr>
        <p:spPr>
          <a:xfrm>
            <a:off x="2231136" y="1989862"/>
            <a:ext cx="9760236" cy="4445662"/>
          </a:xfrm>
        </p:spPr>
        <p:txBody>
          <a:bodyPr>
            <a:noAutofit/>
          </a:bodyPr>
          <a:lstStyle/>
          <a:p>
            <a:r>
              <a:rPr lang="en-US" sz="1600" dirty="0"/>
              <a:t>Email works on the client server model</a:t>
            </a:r>
          </a:p>
          <a:p>
            <a:r>
              <a:rPr lang="en-US" sz="1600" dirty="0"/>
              <a:t>Email clients are the users who wish to use the email facility. Both the sender of email and the recipient of email and email clients</a:t>
            </a:r>
          </a:p>
          <a:p>
            <a:r>
              <a:rPr lang="en-US" sz="1600" dirty="0"/>
              <a:t>Email server is a combination of processes running on a server with a large storage capacity. </a:t>
            </a:r>
            <a:r>
              <a:rPr lang="en-US" sz="1600" dirty="0" err="1"/>
              <a:t>Alist</a:t>
            </a:r>
            <a:r>
              <a:rPr lang="en-US" sz="1600" dirty="0"/>
              <a:t> of users and rules and the capability to receive, send, and store emails and attachments. These servers are designed to operate without constant user intervention.</a:t>
            </a:r>
          </a:p>
          <a:p>
            <a:r>
              <a:rPr lang="en-US" sz="1600" dirty="0"/>
              <a:t>The email client interacts with the email server to sent or receive email. Most email servers provide email services by running two separate processes on the same </a:t>
            </a:r>
            <a:r>
              <a:rPr lang="en-US" sz="1600" dirty="0" err="1"/>
              <a:t>machin</a:t>
            </a:r>
            <a:r>
              <a:rPr lang="en-US" sz="1600" dirty="0"/>
              <a:t>- Post Office Protocol 3(POP3) and Simple Mail Transfer Protocol(SMTP). Some email servers also run another process on the machine-IMAP </a:t>
            </a:r>
          </a:p>
          <a:p>
            <a:r>
              <a:rPr lang="en-US" sz="1600" dirty="0"/>
              <a:t>SMTP is used to send email from the client to server and from one server to another server.</a:t>
            </a:r>
          </a:p>
          <a:p>
            <a:r>
              <a:rPr lang="en-US" sz="1600" dirty="0"/>
              <a:t>POP3 is used by client for application based email to access mail from the server.</a:t>
            </a:r>
          </a:p>
          <a:p>
            <a:r>
              <a:rPr lang="en-US" sz="1600" dirty="0"/>
              <a:t>IMAP is used by client for web based email to access mail on server.</a:t>
            </a:r>
          </a:p>
        </p:txBody>
      </p:sp>
    </p:spTree>
    <p:extLst>
      <p:ext uri="{BB962C8B-B14F-4D97-AF65-F5344CB8AC3E}">
        <p14:creationId xmlns:p14="http://schemas.microsoft.com/office/powerpoint/2010/main" val="960619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7462D-99F8-F5E6-C77B-7DC86A260688}"/>
              </a:ext>
            </a:extLst>
          </p:cNvPr>
          <p:cNvSpPr>
            <a:spLocks noGrp="1"/>
          </p:cNvSpPr>
          <p:nvPr>
            <p:ph type="title"/>
          </p:nvPr>
        </p:nvSpPr>
        <p:spPr/>
        <p:txBody>
          <a:bodyPr/>
          <a:lstStyle/>
          <a:p>
            <a:r>
              <a:rPr lang="en-US" dirty="0"/>
              <a:t>How </a:t>
            </a:r>
            <a:r>
              <a:rPr lang="en-US" dirty="0" err="1"/>
              <a:t>FTp</a:t>
            </a:r>
            <a:r>
              <a:rPr lang="en-US" dirty="0"/>
              <a:t> works?</a:t>
            </a:r>
          </a:p>
        </p:txBody>
      </p:sp>
      <p:pic>
        <p:nvPicPr>
          <p:cNvPr id="5" name="Content Placeholder 4">
            <a:extLst>
              <a:ext uri="{FF2B5EF4-FFF2-40B4-BE49-F238E27FC236}">
                <a16:creationId xmlns:a16="http://schemas.microsoft.com/office/drawing/2014/main" id="{DFDF8CCB-63A4-8FB3-D29C-639154E404A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92628" y="2691765"/>
            <a:ext cx="4983092" cy="3101975"/>
          </a:xfrm>
        </p:spPr>
      </p:pic>
      <p:pic>
        <p:nvPicPr>
          <p:cNvPr id="7" name="Picture 6">
            <a:extLst>
              <a:ext uri="{FF2B5EF4-FFF2-40B4-BE49-F238E27FC236}">
                <a16:creationId xmlns:a16="http://schemas.microsoft.com/office/drawing/2014/main" id="{56050503-9982-F0FE-AC04-C071A5283EDB}"/>
              </a:ext>
            </a:extLst>
          </p:cNvPr>
          <p:cNvPicPr>
            <a:picLocks noChangeAspect="1"/>
          </p:cNvPicPr>
          <p:nvPr/>
        </p:nvPicPr>
        <p:blipFill rotWithShape="1">
          <a:blip r:embed="rId3">
            <a:extLst>
              <a:ext uri="{28A0092B-C50C-407E-A947-70E740481C1C}">
                <a14:useLocalDpi xmlns:a14="http://schemas.microsoft.com/office/drawing/2010/main" val="0"/>
              </a:ext>
            </a:extLst>
          </a:blip>
          <a:srcRect l="3881" t="22244" r="6194"/>
          <a:stretch/>
        </p:blipFill>
        <p:spPr>
          <a:xfrm>
            <a:off x="914400" y="2941319"/>
            <a:ext cx="4695832" cy="2044293"/>
          </a:xfrm>
          <a:prstGeom prst="rect">
            <a:avLst/>
          </a:prstGeom>
        </p:spPr>
      </p:pic>
    </p:spTree>
    <p:extLst>
      <p:ext uri="{BB962C8B-B14F-4D97-AF65-F5344CB8AC3E}">
        <p14:creationId xmlns:p14="http://schemas.microsoft.com/office/powerpoint/2010/main" val="40621250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A3BC-F623-B9E4-D9A4-2DF87B2F8BFC}"/>
              </a:ext>
            </a:extLst>
          </p:cNvPr>
          <p:cNvSpPr>
            <a:spLocks noGrp="1"/>
          </p:cNvSpPr>
          <p:nvPr>
            <p:ph type="title"/>
          </p:nvPr>
        </p:nvSpPr>
        <p:spPr/>
        <p:txBody>
          <a:bodyPr/>
          <a:lstStyle/>
          <a:p>
            <a:r>
              <a:rPr lang="en-US" b="1" dirty="0"/>
              <a:t>Internet of Things(IOT)</a:t>
            </a:r>
          </a:p>
        </p:txBody>
      </p:sp>
      <p:sp>
        <p:nvSpPr>
          <p:cNvPr id="3" name="Content Placeholder 2">
            <a:extLst>
              <a:ext uri="{FF2B5EF4-FFF2-40B4-BE49-F238E27FC236}">
                <a16:creationId xmlns:a16="http://schemas.microsoft.com/office/drawing/2014/main" id="{9EE87E8F-F942-E5C3-2446-08A248A51148}"/>
              </a:ext>
            </a:extLst>
          </p:cNvPr>
          <p:cNvSpPr>
            <a:spLocks noGrp="1"/>
          </p:cNvSpPr>
          <p:nvPr>
            <p:ph idx="1"/>
          </p:nvPr>
        </p:nvSpPr>
        <p:spPr/>
        <p:txBody>
          <a:bodyPr/>
          <a:lstStyle/>
          <a:p>
            <a:r>
              <a:rPr lang="en-US" dirty="0"/>
              <a:t>IoT is the networking of physical objects that contain electronics embedded within their to communicate and sense interaction amongst each other or with respect to the external environment.</a:t>
            </a:r>
          </a:p>
          <a:p>
            <a:r>
              <a:rPr lang="en-US" dirty="0"/>
              <a:t>Advancements in medicine, gene therapies, agriculture, smart cities, and smart homes are just a very few of the categorical examples where IoT is strongly established.</a:t>
            </a:r>
          </a:p>
          <a:p>
            <a:endParaRPr lang="en-US" dirty="0"/>
          </a:p>
        </p:txBody>
      </p:sp>
    </p:spTree>
    <p:extLst>
      <p:ext uri="{BB962C8B-B14F-4D97-AF65-F5344CB8AC3E}">
        <p14:creationId xmlns:p14="http://schemas.microsoft.com/office/powerpoint/2010/main" val="6290262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A3BC-F623-B9E4-D9A4-2DF87B2F8BFC}"/>
              </a:ext>
            </a:extLst>
          </p:cNvPr>
          <p:cNvSpPr>
            <a:spLocks noGrp="1"/>
          </p:cNvSpPr>
          <p:nvPr>
            <p:ph type="title"/>
          </p:nvPr>
        </p:nvSpPr>
        <p:spPr/>
        <p:txBody>
          <a:bodyPr/>
          <a:lstStyle/>
          <a:p>
            <a:r>
              <a:rPr lang="en-US" b="1" dirty="0"/>
              <a:t>Internet of Things(IOT)</a:t>
            </a:r>
          </a:p>
        </p:txBody>
      </p:sp>
      <p:pic>
        <p:nvPicPr>
          <p:cNvPr id="5" name="Picture 4">
            <a:extLst>
              <a:ext uri="{FF2B5EF4-FFF2-40B4-BE49-F238E27FC236}">
                <a16:creationId xmlns:a16="http://schemas.microsoft.com/office/drawing/2014/main" id="{ED2F4506-7518-51BF-261A-E9E959F22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431" y="2307861"/>
            <a:ext cx="4080424" cy="4108277"/>
          </a:xfrm>
          <a:prstGeom prst="rect">
            <a:avLst/>
          </a:prstGeom>
        </p:spPr>
      </p:pic>
    </p:spTree>
    <p:extLst>
      <p:ext uri="{BB962C8B-B14F-4D97-AF65-F5344CB8AC3E}">
        <p14:creationId xmlns:p14="http://schemas.microsoft.com/office/powerpoint/2010/main" val="2287032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A3BC-F623-B9E4-D9A4-2DF87B2F8BFC}"/>
              </a:ext>
            </a:extLst>
          </p:cNvPr>
          <p:cNvSpPr>
            <a:spLocks noGrp="1"/>
          </p:cNvSpPr>
          <p:nvPr>
            <p:ph type="title"/>
          </p:nvPr>
        </p:nvSpPr>
        <p:spPr/>
        <p:txBody>
          <a:bodyPr/>
          <a:lstStyle/>
          <a:p>
            <a:r>
              <a:rPr lang="en-US" b="1" dirty="0"/>
              <a:t>Internet of Things(IOT)</a:t>
            </a:r>
          </a:p>
        </p:txBody>
      </p:sp>
      <p:sp>
        <p:nvSpPr>
          <p:cNvPr id="3" name="Content Placeholder 2">
            <a:extLst>
              <a:ext uri="{FF2B5EF4-FFF2-40B4-BE49-F238E27FC236}">
                <a16:creationId xmlns:a16="http://schemas.microsoft.com/office/drawing/2014/main" id="{9EE87E8F-F942-E5C3-2446-08A248A51148}"/>
              </a:ext>
            </a:extLst>
          </p:cNvPr>
          <p:cNvSpPr>
            <a:spLocks noGrp="1"/>
          </p:cNvSpPr>
          <p:nvPr>
            <p:ph idx="1"/>
          </p:nvPr>
        </p:nvSpPr>
        <p:spPr/>
        <p:txBody>
          <a:bodyPr>
            <a:normAutofit fontScale="85000" lnSpcReduction="20000"/>
          </a:bodyPr>
          <a:lstStyle/>
          <a:p>
            <a:pPr marL="0" indent="0">
              <a:buNone/>
            </a:pPr>
            <a:r>
              <a:rPr lang="en-US" dirty="0"/>
              <a:t>There are four main components used in IoT:</a:t>
            </a:r>
          </a:p>
          <a:p>
            <a:pPr marL="342900" indent="-342900">
              <a:buClrTx/>
              <a:buFont typeface="+mj-lt"/>
              <a:buAutoNum type="arabicPeriod"/>
            </a:pPr>
            <a:r>
              <a:rPr lang="en-US" sz="1900" b="1" dirty="0"/>
              <a:t>Low power embedded system: </a:t>
            </a:r>
            <a:r>
              <a:rPr lang="en-US" sz="1900" dirty="0"/>
              <a:t>Less battery consumption, high performance are the inverse factors play a significant role during the design of electronic systems.</a:t>
            </a:r>
          </a:p>
          <a:p>
            <a:pPr marL="342900" indent="-342900">
              <a:buClrTx/>
              <a:buFont typeface="+mj-lt"/>
              <a:buAutoNum type="arabicPeriod"/>
            </a:pPr>
            <a:r>
              <a:rPr lang="en-US" sz="1900" b="1" dirty="0"/>
              <a:t>Cloud Computing: </a:t>
            </a:r>
            <a:r>
              <a:rPr lang="en-US" sz="1900" dirty="0"/>
              <a:t>Data collected through IoT devices is massive and this data has to be stored on a reliable storage server for cloud computing. The data is processed and learned, giving more room for us to discover where things like electrical faults/errors are within the system,</a:t>
            </a:r>
          </a:p>
          <a:p>
            <a:pPr marL="342900" indent="-342900">
              <a:buClrTx/>
              <a:buFont typeface="+mj-lt"/>
              <a:buAutoNum type="arabicPeriod"/>
            </a:pPr>
            <a:r>
              <a:rPr lang="en-US" sz="1900" b="1" dirty="0"/>
              <a:t>Availability of big data:   </a:t>
            </a:r>
            <a:r>
              <a:rPr lang="en-US" sz="1900" dirty="0"/>
              <a:t>We know that IoT relies heavily on sensors, especially real time. As these electronic devices spread throughout every field, their usage is going to trigger a massive change of big data.</a:t>
            </a:r>
          </a:p>
          <a:p>
            <a:pPr marL="342900" indent="-342900">
              <a:buClrTx/>
              <a:buFont typeface="+mj-lt"/>
              <a:buAutoNum type="arabicPeriod"/>
            </a:pPr>
            <a:r>
              <a:rPr lang="en-US" sz="1900" b="1" dirty="0"/>
              <a:t>Networking connection: </a:t>
            </a:r>
            <a:r>
              <a:rPr lang="en-US" sz="1900" dirty="0"/>
              <a:t>In order to communicate, internet connectivity is a must where each physical object is represented by an IP address.</a:t>
            </a:r>
          </a:p>
          <a:p>
            <a:endParaRPr lang="en-US" dirty="0"/>
          </a:p>
        </p:txBody>
      </p:sp>
    </p:spTree>
    <p:extLst>
      <p:ext uri="{BB962C8B-B14F-4D97-AF65-F5344CB8AC3E}">
        <p14:creationId xmlns:p14="http://schemas.microsoft.com/office/powerpoint/2010/main" val="32077494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AB9424-364F-8441-293A-0943727827EE}"/>
              </a:ext>
            </a:extLst>
          </p:cNvPr>
          <p:cNvPicPr>
            <a:picLocks noChangeAspect="1"/>
          </p:cNvPicPr>
          <p:nvPr/>
        </p:nvPicPr>
        <p:blipFill rotWithShape="1">
          <a:blip r:embed="rId2">
            <a:extLst>
              <a:ext uri="{28A0092B-C50C-407E-A947-70E740481C1C}">
                <a14:useLocalDpi xmlns:a14="http://schemas.microsoft.com/office/drawing/2010/main" val="0"/>
              </a:ext>
            </a:extLst>
          </a:blip>
          <a:srcRect l="73837"/>
          <a:stretch/>
        </p:blipFill>
        <p:spPr>
          <a:xfrm>
            <a:off x="10440365" y="2165491"/>
            <a:ext cx="1751635" cy="4704588"/>
          </a:xfrm>
          <a:prstGeom prst="rect">
            <a:avLst/>
          </a:prstGeom>
        </p:spPr>
      </p:pic>
      <p:pic>
        <p:nvPicPr>
          <p:cNvPr id="6" name="Picture 5">
            <a:extLst>
              <a:ext uri="{FF2B5EF4-FFF2-40B4-BE49-F238E27FC236}">
                <a16:creationId xmlns:a16="http://schemas.microsoft.com/office/drawing/2014/main" id="{48F1E676-CF2E-F173-54D9-6A978AE711B1}"/>
              </a:ext>
            </a:extLst>
          </p:cNvPr>
          <p:cNvPicPr>
            <a:picLocks noChangeAspect="1"/>
          </p:cNvPicPr>
          <p:nvPr/>
        </p:nvPicPr>
        <p:blipFill rotWithShape="1">
          <a:blip r:embed="rId2">
            <a:extLst>
              <a:ext uri="{28A0092B-C50C-407E-A947-70E740481C1C}">
                <a14:useLocalDpi xmlns:a14="http://schemas.microsoft.com/office/drawing/2010/main" val="0"/>
              </a:ext>
            </a:extLst>
          </a:blip>
          <a:srcRect r="27271"/>
          <a:stretch/>
        </p:blipFill>
        <p:spPr>
          <a:xfrm>
            <a:off x="0" y="2153412"/>
            <a:ext cx="4869201" cy="4704588"/>
          </a:xfrm>
          <a:prstGeom prst="rect">
            <a:avLst/>
          </a:prstGeom>
        </p:spPr>
      </p:pic>
      <p:sp>
        <p:nvSpPr>
          <p:cNvPr id="3" name="Content Placeholder 2">
            <a:extLst>
              <a:ext uri="{FF2B5EF4-FFF2-40B4-BE49-F238E27FC236}">
                <a16:creationId xmlns:a16="http://schemas.microsoft.com/office/drawing/2014/main" id="{29A8DEA3-23A6-F47C-6E7A-72DEB7471649}"/>
              </a:ext>
            </a:extLst>
          </p:cNvPr>
          <p:cNvSpPr>
            <a:spLocks noGrp="1"/>
          </p:cNvSpPr>
          <p:nvPr>
            <p:ph idx="1"/>
          </p:nvPr>
        </p:nvSpPr>
        <p:spPr>
          <a:xfrm>
            <a:off x="2231136" y="2153412"/>
            <a:ext cx="7729728" cy="3101983"/>
          </a:xfrm>
          <a:solidFill>
            <a:schemeClr val="tx1">
              <a:lumMod val="50000"/>
              <a:lumOff val="50000"/>
            </a:schemeClr>
          </a:solidFill>
          <a:ln>
            <a:noFill/>
          </a:ln>
        </p:spPr>
        <p:txBody>
          <a:bodyPr>
            <a:normAutofit lnSpcReduction="10000"/>
          </a:bodyPr>
          <a:lstStyle/>
          <a:p>
            <a:pPr>
              <a:buBlip>
                <a:blip r:embed="rId3"/>
              </a:buBlip>
            </a:pPr>
            <a:r>
              <a:rPr lang="en-US" dirty="0">
                <a:solidFill>
                  <a:schemeClr val="bg1">
                    <a:lumMod val="95000"/>
                  </a:schemeClr>
                </a:solidFill>
              </a:rPr>
              <a:t>Wearable computing is a term that refers to computer powered devices or equipment that can be worn by a user, including clothing, watches, glasses, shoes and similar items.</a:t>
            </a:r>
          </a:p>
          <a:p>
            <a:pPr>
              <a:buBlip>
                <a:blip r:embed="rId3"/>
              </a:buBlip>
            </a:pPr>
            <a:r>
              <a:rPr lang="en-US" dirty="0">
                <a:solidFill>
                  <a:schemeClr val="bg1">
                    <a:lumMod val="95000"/>
                  </a:schemeClr>
                </a:solidFill>
              </a:rPr>
              <a:t>Wearable computing devices can range from providing very specific limited features like heart rate monitoring and pedometer capabilities to advanced smart functions and features similar to those a smartphone or smartwatch offers. Advance features like picture,  video playback can also be found.</a:t>
            </a:r>
          </a:p>
          <a:p>
            <a:pPr>
              <a:buBlip>
                <a:blip r:embed="rId3"/>
              </a:buBlip>
            </a:pPr>
            <a:r>
              <a:rPr lang="en-US" dirty="0">
                <a:solidFill>
                  <a:schemeClr val="bg1">
                    <a:lumMod val="95000"/>
                  </a:schemeClr>
                </a:solidFill>
              </a:rPr>
              <a:t>While wearable computing devices are only just now starting to emerge from the realm of science fiction into reality, rumored devices like Google Glasses and the Apple iWatch may soon bring advanced wearable computing devices into the mainstream.</a:t>
            </a:r>
          </a:p>
        </p:txBody>
      </p:sp>
      <p:sp>
        <p:nvSpPr>
          <p:cNvPr id="2" name="Title 1">
            <a:extLst>
              <a:ext uri="{FF2B5EF4-FFF2-40B4-BE49-F238E27FC236}">
                <a16:creationId xmlns:a16="http://schemas.microsoft.com/office/drawing/2014/main" id="{B9ACC6EA-4F7C-84E0-F21E-533173E2EFBD}"/>
              </a:ext>
            </a:extLst>
          </p:cNvPr>
          <p:cNvSpPr>
            <a:spLocks noGrp="1"/>
          </p:cNvSpPr>
          <p:nvPr>
            <p:ph type="title"/>
          </p:nvPr>
        </p:nvSpPr>
        <p:spPr/>
        <p:txBody>
          <a:bodyPr/>
          <a:lstStyle/>
          <a:p>
            <a:r>
              <a:rPr lang="en-US" b="1" dirty="0"/>
              <a:t>Wearable computing</a:t>
            </a:r>
          </a:p>
        </p:txBody>
      </p:sp>
    </p:spTree>
    <p:extLst>
      <p:ext uri="{BB962C8B-B14F-4D97-AF65-F5344CB8AC3E}">
        <p14:creationId xmlns:p14="http://schemas.microsoft.com/office/powerpoint/2010/main" val="17349485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16253A-AB72-80CA-0A7A-C5BCBF8060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946605"/>
          </a:xfrm>
        </p:spPr>
      </p:pic>
      <p:sp>
        <p:nvSpPr>
          <p:cNvPr id="2" name="Title 1">
            <a:extLst>
              <a:ext uri="{FF2B5EF4-FFF2-40B4-BE49-F238E27FC236}">
                <a16:creationId xmlns:a16="http://schemas.microsoft.com/office/drawing/2014/main" id="{0CC1290B-924D-AE70-803F-858028556A14}"/>
              </a:ext>
            </a:extLst>
          </p:cNvPr>
          <p:cNvSpPr>
            <a:spLocks noGrp="1"/>
          </p:cNvSpPr>
          <p:nvPr>
            <p:ph type="title"/>
          </p:nvPr>
        </p:nvSpPr>
        <p:spPr/>
        <p:txBody>
          <a:bodyPr/>
          <a:lstStyle/>
          <a:p>
            <a:r>
              <a:rPr lang="en-US" b="1" dirty="0"/>
              <a:t>Cloud computing</a:t>
            </a:r>
          </a:p>
        </p:txBody>
      </p:sp>
      <p:sp>
        <p:nvSpPr>
          <p:cNvPr id="6" name="TextBox 5">
            <a:extLst>
              <a:ext uri="{FF2B5EF4-FFF2-40B4-BE49-F238E27FC236}">
                <a16:creationId xmlns:a16="http://schemas.microsoft.com/office/drawing/2014/main" id="{BA90D1F5-25CB-42F7-C6D0-826ABCF1F0FD}"/>
              </a:ext>
            </a:extLst>
          </p:cNvPr>
          <p:cNvSpPr txBox="1"/>
          <p:nvPr/>
        </p:nvSpPr>
        <p:spPr>
          <a:xfrm>
            <a:off x="740780" y="2592729"/>
            <a:ext cx="11065397" cy="2862322"/>
          </a:xfrm>
          <a:prstGeom prst="rect">
            <a:avLst/>
          </a:prstGeom>
          <a:solidFill>
            <a:schemeClr val="bg1">
              <a:lumMod val="75000"/>
            </a:schemeClr>
          </a:solidFill>
        </p:spPr>
        <p:txBody>
          <a:bodyPr wrap="square" rtlCol="0">
            <a:spAutoFit/>
          </a:bodyPr>
          <a:lstStyle/>
          <a:p>
            <a:pPr marL="342900" indent="-342900">
              <a:buBlip>
                <a:blip r:embed="rId3"/>
              </a:buBlip>
            </a:pPr>
            <a:r>
              <a:rPr lang="en-US" sz="2000" dirty="0"/>
              <a:t>Cloud computing is defined as the use of hosted services, such as data storage servers, databases, networking and software over the internet.</a:t>
            </a:r>
          </a:p>
          <a:p>
            <a:endParaRPr lang="en-US" sz="2000" dirty="0"/>
          </a:p>
          <a:p>
            <a:pPr marL="342900" indent="-342900">
              <a:buBlip>
                <a:blip r:embed="rId3"/>
              </a:buBlip>
            </a:pPr>
            <a:r>
              <a:rPr lang="en-US" sz="2000" dirty="0"/>
              <a:t>In cloud services, the data center operates like the Internet and computing resources are accessed and shared as virtual resources in a secure and scalable manner.</a:t>
            </a:r>
          </a:p>
          <a:p>
            <a:endParaRPr lang="en-US" sz="2000" dirty="0"/>
          </a:p>
          <a:p>
            <a:pPr marL="342900" indent="-342900">
              <a:buBlip>
                <a:blip r:embed="rId3"/>
              </a:buBlip>
            </a:pPr>
            <a:r>
              <a:rPr lang="en-US" sz="2000" dirty="0"/>
              <a:t>In the cloud system, application and services are delivered and used over the Internet where a charge is paid by cloud customer typically on an “as needed, pay per use” business model. The benefit is that the cloud infrastructure is managed by the cloud provider, not the individual cloud customer.</a:t>
            </a:r>
          </a:p>
        </p:txBody>
      </p:sp>
    </p:spTree>
    <p:extLst>
      <p:ext uri="{BB962C8B-B14F-4D97-AF65-F5344CB8AC3E}">
        <p14:creationId xmlns:p14="http://schemas.microsoft.com/office/powerpoint/2010/main" val="42518207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E-Commerce</a:t>
            </a:r>
          </a:p>
        </p:txBody>
      </p:sp>
      <p:sp>
        <p:nvSpPr>
          <p:cNvPr id="3" name="Content Placeholder 2"/>
          <p:cNvSpPr>
            <a:spLocks noGrp="1"/>
          </p:cNvSpPr>
          <p:nvPr>
            <p:ph idx="1"/>
          </p:nvPr>
        </p:nvSpPr>
        <p:spPr>
          <a:xfrm>
            <a:off x="2231136" y="2441274"/>
            <a:ext cx="7729728" cy="3936376"/>
          </a:xfrm>
        </p:spPr>
        <p:txBody>
          <a:bodyPr>
            <a:noAutofit/>
          </a:bodyPr>
          <a:lstStyle/>
          <a:p>
            <a:pPr algn="just"/>
            <a:r>
              <a:rPr lang="en-US" dirty="0"/>
              <a:t>E-commerce refers to the buying and selling of goods and services over the internet. This includes any commercial transaction conducted online, including online shopping, online banking, and online auctions.</a:t>
            </a:r>
          </a:p>
          <a:p>
            <a:pPr algn="just"/>
            <a:r>
              <a:rPr lang="en-US" dirty="0"/>
              <a:t>E-commerce websites typically provide a digital storefront where customers can browse and purchase products or services. They often use a variety of marketing techniques, such as email marketing, social media marketing, and search engine optimization (SEO) to attract customers to their websites.</a:t>
            </a:r>
          </a:p>
          <a:p>
            <a:pPr algn="just"/>
            <a:r>
              <a:rPr lang="en-US" dirty="0"/>
              <a:t>E-commerce websites can range from small, simple sites that sell a few products to large, complex sites that offer a wide range of products and services. They often use various technologies to facilitate the buying process, including shopping carts, payment gateways, and secure sockets layer (SSL) encryption to protect sensitive information.</a:t>
            </a:r>
          </a:p>
        </p:txBody>
      </p:sp>
    </p:spTree>
    <p:extLst>
      <p:ext uri="{BB962C8B-B14F-4D97-AF65-F5344CB8AC3E}">
        <p14:creationId xmlns:p14="http://schemas.microsoft.com/office/powerpoint/2010/main" val="1737634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8539" y="413885"/>
            <a:ext cx="7729728" cy="1188720"/>
          </a:xfrm>
        </p:spPr>
        <p:txBody>
          <a:bodyPr/>
          <a:lstStyle/>
          <a:p>
            <a:r>
              <a:rPr lang="en-US" b="1" dirty="0"/>
              <a:t>Types of E-Commerce</a:t>
            </a:r>
          </a:p>
        </p:txBody>
      </p:sp>
      <p:sp>
        <p:nvSpPr>
          <p:cNvPr id="3" name="Content Placeholder 2"/>
          <p:cNvSpPr>
            <a:spLocks noGrp="1"/>
          </p:cNvSpPr>
          <p:nvPr>
            <p:ph idx="1"/>
          </p:nvPr>
        </p:nvSpPr>
        <p:spPr>
          <a:xfrm>
            <a:off x="2138539" y="1690424"/>
            <a:ext cx="7729728" cy="5022892"/>
          </a:xfrm>
        </p:spPr>
        <p:txBody>
          <a:bodyPr>
            <a:noAutofit/>
          </a:bodyPr>
          <a:lstStyle/>
          <a:p>
            <a:pPr algn="just"/>
            <a:r>
              <a:rPr lang="en-US" dirty="0"/>
              <a:t>Business-to-Consumer (B2C) e-commerce: This is the most common type of e-commerce, where businesses sell products or services directly to individual consumers through an online storefront or marketplace. Examples include Amazon, Walmart, and eBay.</a:t>
            </a:r>
          </a:p>
          <a:p>
            <a:pPr algn="just"/>
            <a:r>
              <a:rPr lang="en-US" dirty="0"/>
              <a:t>Business-to-Business (B2B) e-commerce: In this type of e-commerce, businesses sell products or services to other businesses through online marketplaces or custom-built e-commerce platforms. Examples include Alibaba, IBM, and Cisco.</a:t>
            </a:r>
          </a:p>
          <a:p>
            <a:pPr algn="just"/>
            <a:r>
              <a:rPr lang="en-US" dirty="0"/>
              <a:t>Consumer-to-Consumer (C2C) e-commerce: This type of e-commerce involves individuals buying and selling products or services directly with each other through online marketplaces or social media platforms. Examples include eBay, Craigslist, and Facebook Marketplace.</a:t>
            </a:r>
          </a:p>
          <a:p>
            <a:pPr algn="just"/>
            <a:r>
              <a:rPr lang="en-US" dirty="0"/>
              <a:t>Consumer-to-Business (C2B) e-commerce: In this type of e-commerce, individuals offer products or services to businesses. For example, freelance writers, designers, or photographers can offer their services to businesses through online marketplaces or their own websites.</a:t>
            </a:r>
          </a:p>
        </p:txBody>
      </p:sp>
    </p:spTree>
    <p:extLst>
      <p:ext uri="{BB962C8B-B14F-4D97-AF65-F5344CB8AC3E}">
        <p14:creationId xmlns:p14="http://schemas.microsoft.com/office/powerpoint/2010/main" val="36475079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E-Governance</a:t>
            </a:r>
          </a:p>
        </p:txBody>
      </p:sp>
      <p:sp>
        <p:nvSpPr>
          <p:cNvPr id="3" name="Content Placeholder 2"/>
          <p:cNvSpPr>
            <a:spLocks noGrp="1"/>
          </p:cNvSpPr>
          <p:nvPr>
            <p:ph idx="1"/>
          </p:nvPr>
        </p:nvSpPr>
        <p:spPr/>
        <p:txBody>
          <a:bodyPr>
            <a:normAutofit/>
          </a:bodyPr>
          <a:lstStyle/>
          <a:p>
            <a:pPr algn="just"/>
            <a:r>
              <a:rPr lang="en-US" dirty="0"/>
              <a:t>E-governance, also known as electronic governance, refers to the use of information and communication technologies (ICTs) to improve the delivery of government services to citizens and businesses. E-governance aims to increase transparency, efficiency, and effectiveness in government operations and service delivery.</a:t>
            </a:r>
          </a:p>
          <a:p>
            <a:pPr marL="0" indent="0" algn="just">
              <a:buNone/>
            </a:pPr>
            <a:r>
              <a:rPr lang="en-US" dirty="0"/>
              <a:t>Some examples of e-governance include:</a:t>
            </a:r>
          </a:p>
          <a:p>
            <a:pPr algn="just"/>
            <a:r>
              <a:rPr lang="en-US" dirty="0"/>
              <a:t>Online portals: Governments can create online portals where citizens can access information, apply for services, and pay fees and taxes. For example, citizens can access their tax records, apply for a passport or driving license, or renew their vehicle registration through an online portal.</a:t>
            </a:r>
          </a:p>
        </p:txBody>
      </p:sp>
    </p:spTree>
    <p:extLst>
      <p:ext uri="{BB962C8B-B14F-4D97-AF65-F5344CB8AC3E}">
        <p14:creationId xmlns:p14="http://schemas.microsoft.com/office/powerpoint/2010/main" val="659279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E-Governance</a:t>
            </a:r>
          </a:p>
        </p:txBody>
      </p:sp>
      <p:sp>
        <p:nvSpPr>
          <p:cNvPr id="3" name="Content Placeholder 2"/>
          <p:cNvSpPr>
            <a:spLocks noGrp="1"/>
          </p:cNvSpPr>
          <p:nvPr>
            <p:ph idx="1"/>
          </p:nvPr>
        </p:nvSpPr>
        <p:spPr/>
        <p:txBody>
          <a:bodyPr>
            <a:normAutofit/>
          </a:bodyPr>
          <a:lstStyle/>
          <a:p>
            <a:pPr algn="just"/>
            <a:r>
              <a:rPr lang="en-US" b="1" dirty="0"/>
              <a:t>Mobile applications: </a:t>
            </a:r>
            <a:r>
              <a:rPr lang="en-US" dirty="0"/>
              <a:t>Governments can develop mobile applications that allow citizens to access government services from their smartphones. For example, citizens can receive alerts and updates on public services, report issues or complaints, or track their application status through mobile apps.</a:t>
            </a:r>
          </a:p>
          <a:p>
            <a:pPr algn="just"/>
            <a:r>
              <a:rPr lang="en-US" b="1" dirty="0"/>
              <a:t>Electronic voting: </a:t>
            </a:r>
            <a:r>
              <a:rPr lang="en-US" dirty="0"/>
              <a:t>Electronic voting allows citizens to cast their votes through electronic systems instead of paper ballots. Electronic voting can improve the accuracy and speed of vote counting and can also increase voter participation.</a:t>
            </a:r>
          </a:p>
        </p:txBody>
      </p:sp>
    </p:spTree>
    <p:extLst>
      <p:ext uri="{BB962C8B-B14F-4D97-AF65-F5344CB8AC3E}">
        <p14:creationId xmlns:p14="http://schemas.microsoft.com/office/powerpoint/2010/main" val="25966001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E3E75-2A26-B3C9-A6C2-AC476C750D0A}"/>
              </a:ext>
            </a:extLst>
          </p:cNvPr>
          <p:cNvSpPr>
            <a:spLocks noGrp="1"/>
          </p:cNvSpPr>
          <p:nvPr>
            <p:ph type="title"/>
          </p:nvPr>
        </p:nvSpPr>
        <p:spPr/>
        <p:txBody>
          <a:bodyPr/>
          <a:lstStyle/>
          <a:p>
            <a:r>
              <a:rPr lang="en-US" b="1" dirty="0"/>
              <a:t>Smart city</a:t>
            </a:r>
          </a:p>
        </p:txBody>
      </p:sp>
      <p:sp>
        <p:nvSpPr>
          <p:cNvPr id="3" name="Content Placeholder 2">
            <a:extLst>
              <a:ext uri="{FF2B5EF4-FFF2-40B4-BE49-F238E27FC236}">
                <a16:creationId xmlns:a16="http://schemas.microsoft.com/office/drawing/2014/main" id="{7DC7737D-9A81-E7B6-237A-078DDB503490}"/>
              </a:ext>
            </a:extLst>
          </p:cNvPr>
          <p:cNvSpPr>
            <a:spLocks noGrp="1"/>
          </p:cNvSpPr>
          <p:nvPr>
            <p:ph idx="1"/>
          </p:nvPr>
        </p:nvSpPr>
        <p:spPr/>
        <p:txBody>
          <a:bodyPr/>
          <a:lstStyle/>
          <a:p>
            <a:r>
              <a:rPr lang="en-US" dirty="0"/>
              <a:t>Smart City is a designation given to city that incorporates information and communication technologies(ICT) to enhance the quality and performance of urban services such as energy, transportation and utilities in order to reduce resource consumption, wastage and overall costs.</a:t>
            </a:r>
          </a:p>
          <a:p>
            <a:r>
              <a:rPr lang="en-US" dirty="0"/>
              <a:t>To improve urban living and to optimize their resources, cities are folding internet connected devices into streetlights, municipal infrastructure, parking meters, and more, composing what could be called the “technological” portion of a smart city. Smart cities are using the Internet of Things(IoT) to improve the quality of life their citizens.</a:t>
            </a:r>
          </a:p>
        </p:txBody>
      </p:sp>
    </p:spTree>
    <p:extLst>
      <p:ext uri="{BB962C8B-B14F-4D97-AF65-F5344CB8AC3E}">
        <p14:creationId xmlns:p14="http://schemas.microsoft.com/office/powerpoint/2010/main" val="13394428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BB48-8D29-C6C5-F2E9-A356A3FDE5AC}"/>
              </a:ext>
            </a:extLst>
          </p:cNvPr>
          <p:cNvSpPr>
            <a:spLocks noGrp="1"/>
          </p:cNvSpPr>
          <p:nvPr>
            <p:ph type="title"/>
          </p:nvPr>
        </p:nvSpPr>
        <p:spPr/>
        <p:txBody>
          <a:bodyPr/>
          <a:lstStyle/>
          <a:p>
            <a:r>
              <a:rPr lang="en-US" b="1" dirty="0"/>
              <a:t>GIS</a:t>
            </a:r>
          </a:p>
        </p:txBody>
      </p:sp>
      <p:sp>
        <p:nvSpPr>
          <p:cNvPr id="3" name="Content Placeholder 2">
            <a:extLst>
              <a:ext uri="{FF2B5EF4-FFF2-40B4-BE49-F238E27FC236}">
                <a16:creationId xmlns:a16="http://schemas.microsoft.com/office/drawing/2014/main" id="{0DA11C30-3B7F-2F08-736C-2AF603158547}"/>
              </a:ext>
            </a:extLst>
          </p:cNvPr>
          <p:cNvSpPr>
            <a:spLocks noGrp="1"/>
          </p:cNvSpPr>
          <p:nvPr>
            <p:ph idx="1"/>
          </p:nvPr>
        </p:nvSpPr>
        <p:spPr/>
        <p:txBody>
          <a:bodyPr>
            <a:normAutofit lnSpcReduction="10000"/>
          </a:bodyPr>
          <a:lstStyle/>
          <a:p>
            <a:r>
              <a:rPr lang="en-US" dirty="0"/>
              <a:t>G stands for Geographic reference : Data of spatial coordinates on the surface of the earth(Map)-location data</a:t>
            </a:r>
          </a:p>
          <a:p>
            <a:r>
              <a:rPr lang="en-US" dirty="0"/>
              <a:t>IS stands for Information System: Database of attribute data corresponding to spatial location and procedures to provide information for decision making</a:t>
            </a:r>
          </a:p>
          <a:p>
            <a:r>
              <a:rPr lang="en-US" b="1" dirty="0"/>
              <a:t>Definition:</a:t>
            </a:r>
          </a:p>
          <a:p>
            <a:r>
              <a:rPr lang="en-US" dirty="0"/>
              <a:t>Geographic information system(GIS) is the system that captures, stores, analyzes , manages, and presents data with reference to geographic location data.</a:t>
            </a:r>
          </a:p>
          <a:p>
            <a:r>
              <a:rPr lang="en-US" dirty="0"/>
              <a:t>GIS is concerned with spatial or geographic data which refers to data that has a location upon the </a:t>
            </a:r>
            <a:r>
              <a:rPr lang="en-US" dirty="0" err="1"/>
              <a:t>Earths’s</a:t>
            </a:r>
            <a:r>
              <a:rPr lang="en-US" dirty="0"/>
              <a:t> surface.</a:t>
            </a:r>
          </a:p>
        </p:txBody>
      </p:sp>
    </p:spTree>
    <p:extLst>
      <p:ext uri="{BB962C8B-B14F-4D97-AF65-F5344CB8AC3E}">
        <p14:creationId xmlns:p14="http://schemas.microsoft.com/office/powerpoint/2010/main" val="6324357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BB48-8D29-C6C5-F2E9-A356A3FDE5AC}"/>
              </a:ext>
            </a:extLst>
          </p:cNvPr>
          <p:cNvSpPr>
            <a:spLocks noGrp="1"/>
          </p:cNvSpPr>
          <p:nvPr>
            <p:ph type="title"/>
          </p:nvPr>
        </p:nvSpPr>
        <p:spPr/>
        <p:txBody>
          <a:bodyPr/>
          <a:lstStyle/>
          <a:p>
            <a:r>
              <a:rPr lang="en-US" b="1" dirty="0"/>
              <a:t>Why use GIS?</a:t>
            </a:r>
          </a:p>
        </p:txBody>
      </p:sp>
      <p:sp>
        <p:nvSpPr>
          <p:cNvPr id="3" name="Content Placeholder 2">
            <a:extLst>
              <a:ext uri="{FF2B5EF4-FFF2-40B4-BE49-F238E27FC236}">
                <a16:creationId xmlns:a16="http://schemas.microsoft.com/office/drawing/2014/main" id="{0DA11C30-3B7F-2F08-736C-2AF603158547}"/>
              </a:ext>
            </a:extLst>
          </p:cNvPr>
          <p:cNvSpPr>
            <a:spLocks noGrp="1"/>
          </p:cNvSpPr>
          <p:nvPr>
            <p:ph idx="1"/>
          </p:nvPr>
        </p:nvSpPr>
        <p:spPr/>
        <p:txBody>
          <a:bodyPr>
            <a:normAutofit fontScale="92500" lnSpcReduction="10000"/>
          </a:bodyPr>
          <a:lstStyle/>
          <a:p>
            <a:r>
              <a:rPr lang="en-US" dirty="0"/>
              <a:t>Merges diverse data sources project specific information, socio economic, census, statistical and spatial base data such as administrative boundaries, roads, cities, infrastructure, </a:t>
            </a:r>
            <a:r>
              <a:rPr lang="en-US" dirty="0" err="1"/>
              <a:t>etc</a:t>
            </a:r>
            <a:endParaRPr lang="en-US" dirty="0"/>
          </a:p>
          <a:p>
            <a:r>
              <a:rPr lang="en-US" dirty="0"/>
              <a:t>Manage all diverse data sources to prepare map, graph and reports and to report management for decision making process.</a:t>
            </a:r>
          </a:p>
          <a:p>
            <a:r>
              <a:rPr lang="en-US" dirty="0"/>
              <a:t>Visualizes and disseminates information.</a:t>
            </a:r>
          </a:p>
          <a:p>
            <a:r>
              <a:rPr lang="en-US" dirty="0"/>
              <a:t>Analyses data, illustrates trends, growth, and generates value added outputs.</a:t>
            </a:r>
          </a:p>
          <a:p>
            <a:r>
              <a:rPr lang="en-US" dirty="0"/>
              <a:t>Reveals important spatial relationships that facilitate understanding.</a:t>
            </a:r>
          </a:p>
          <a:p>
            <a:r>
              <a:rPr lang="en-US" dirty="0"/>
              <a:t>So GIS provides a platform for project planning, monitoring, reporting and data sharing for decision making process.</a:t>
            </a:r>
          </a:p>
        </p:txBody>
      </p:sp>
    </p:spTree>
    <p:extLst>
      <p:ext uri="{BB962C8B-B14F-4D97-AF65-F5344CB8AC3E}">
        <p14:creationId xmlns:p14="http://schemas.microsoft.com/office/powerpoint/2010/main" val="18210303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BB48-8D29-C6C5-F2E9-A356A3FDE5AC}"/>
              </a:ext>
            </a:extLst>
          </p:cNvPr>
          <p:cNvSpPr>
            <a:spLocks noGrp="1"/>
          </p:cNvSpPr>
          <p:nvPr>
            <p:ph type="title"/>
          </p:nvPr>
        </p:nvSpPr>
        <p:spPr/>
        <p:txBody>
          <a:bodyPr/>
          <a:lstStyle/>
          <a:p>
            <a:r>
              <a:rPr lang="en-US" b="1" dirty="0"/>
              <a:t>Basic GIS Function</a:t>
            </a:r>
          </a:p>
        </p:txBody>
      </p:sp>
      <p:sp>
        <p:nvSpPr>
          <p:cNvPr id="3" name="Content Placeholder 2">
            <a:extLst>
              <a:ext uri="{FF2B5EF4-FFF2-40B4-BE49-F238E27FC236}">
                <a16:creationId xmlns:a16="http://schemas.microsoft.com/office/drawing/2014/main" id="{0DA11C30-3B7F-2F08-736C-2AF603158547}"/>
              </a:ext>
            </a:extLst>
          </p:cNvPr>
          <p:cNvSpPr>
            <a:spLocks noGrp="1"/>
          </p:cNvSpPr>
          <p:nvPr>
            <p:ph idx="1"/>
          </p:nvPr>
        </p:nvSpPr>
        <p:spPr>
          <a:xfrm>
            <a:off x="2231136" y="2638044"/>
            <a:ext cx="7729728" cy="4306766"/>
          </a:xfrm>
        </p:spPr>
        <p:txBody>
          <a:bodyPr>
            <a:normAutofit/>
          </a:bodyPr>
          <a:lstStyle/>
          <a:p>
            <a:r>
              <a:rPr lang="en-US" b="1" dirty="0"/>
              <a:t>Data input</a:t>
            </a:r>
          </a:p>
          <a:p>
            <a:r>
              <a:rPr lang="en-US" dirty="0"/>
              <a:t>	Graphic data:  digitized, converted from existing data</a:t>
            </a:r>
          </a:p>
          <a:p>
            <a:r>
              <a:rPr lang="en-US" dirty="0"/>
              <a:t>	Attribute data: keyed-in, loaded from existing data files</a:t>
            </a:r>
          </a:p>
          <a:p>
            <a:r>
              <a:rPr lang="en-US" b="1" dirty="0"/>
              <a:t>Data storage and manipulation</a:t>
            </a:r>
          </a:p>
          <a:p>
            <a:r>
              <a:rPr lang="en-US" dirty="0"/>
              <a:t>	File management, Editing, Geoprocessing(clip, merge, </a:t>
            </a:r>
            <a:r>
              <a:rPr lang="en-US" dirty="0" err="1"/>
              <a:t>etc</a:t>
            </a:r>
            <a:r>
              <a:rPr lang="en-US" dirty="0"/>
              <a:t>), reclassification</a:t>
            </a:r>
          </a:p>
          <a:p>
            <a:r>
              <a:rPr lang="en-US" b="1" dirty="0"/>
              <a:t>Data analysis</a:t>
            </a:r>
            <a:endParaRPr lang="en-US" dirty="0"/>
          </a:p>
          <a:p>
            <a:pPr lvl="2"/>
            <a:r>
              <a:rPr lang="en-US" dirty="0"/>
              <a:t>Database query, Spatial analysis, Modeling</a:t>
            </a:r>
          </a:p>
          <a:p>
            <a:pPr marL="285750" lvl="2" indent="-285750"/>
            <a:r>
              <a:rPr lang="en-US" sz="1800" b="1" dirty="0"/>
              <a:t>Data output or display</a:t>
            </a:r>
          </a:p>
          <a:p>
            <a:pPr lvl="2"/>
            <a:r>
              <a:rPr lang="en-US" dirty="0"/>
              <a:t>Mapes, Reports, Tables, Graphs</a:t>
            </a:r>
          </a:p>
        </p:txBody>
      </p:sp>
    </p:spTree>
    <p:extLst>
      <p:ext uri="{BB962C8B-B14F-4D97-AF65-F5344CB8AC3E}">
        <p14:creationId xmlns:p14="http://schemas.microsoft.com/office/powerpoint/2010/main" val="6101774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DDA1-DEFA-80F2-3B29-F195DD529626}"/>
              </a:ext>
            </a:extLst>
          </p:cNvPr>
          <p:cNvSpPr>
            <a:spLocks noGrp="1"/>
          </p:cNvSpPr>
          <p:nvPr>
            <p:ph type="title"/>
          </p:nvPr>
        </p:nvSpPr>
        <p:spPr/>
        <p:txBody>
          <a:bodyPr/>
          <a:lstStyle/>
          <a:p>
            <a:r>
              <a:rPr lang="en-US" b="1" dirty="0"/>
              <a:t>Scope of GIS</a:t>
            </a:r>
          </a:p>
        </p:txBody>
      </p:sp>
      <p:sp>
        <p:nvSpPr>
          <p:cNvPr id="3" name="Content Placeholder 2">
            <a:extLst>
              <a:ext uri="{FF2B5EF4-FFF2-40B4-BE49-F238E27FC236}">
                <a16:creationId xmlns:a16="http://schemas.microsoft.com/office/drawing/2014/main" id="{7D2F87D4-AFDD-AB32-5E62-D49C098A7044}"/>
              </a:ext>
            </a:extLst>
          </p:cNvPr>
          <p:cNvSpPr>
            <a:spLocks noGrp="1"/>
          </p:cNvSpPr>
          <p:nvPr>
            <p:ph idx="1"/>
          </p:nvPr>
        </p:nvSpPr>
        <p:spPr>
          <a:xfrm>
            <a:off x="2231136" y="2638044"/>
            <a:ext cx="7729728" cy="3809055"/>
          </a:xfrm>
        </p:spPr>
        <p:txBody>
          <a:bodyPr>
            <a:normAutofit fontScale="92500" lnSpcReduction="10000"/>
          </a:bodyPr>
          <a:lstStyle/>
          <a:p>
            <a:r>
              <a:rPr lang="en-US" dirty="0"/>
              <a:t>Land registration system</a:t>
            </a:r>
          </a:p>
          <a:p>
            <a:r>
              <a:rPr lang="en-US" dirty="0"/>
              <a:t>Utilities such as Water supply, Electricity, Telephone, Irrigation networks</a:t>
            </a:r>
          </a:p>
          <a:p>
            <a:r>
              <a:rPr lang="en-US" dirty="0"/>
              <a:t>Topographical database</a:t>
            </a:r>
          </a:p>
          <a:p>
            <a:r>
              <a:rPr lang="en-US" dirty="0"/>
              <a:t>Forestry planning management</a:t>
            </a:r>
          </a:p>
          <a:p>
            <a:r>
              <a:rPr lang="en-US" dirty="0"/>
              <a:t>Transportation networks</a:t>
            </a:r>
          </a:p>
          <a:p>
            <a:r>
              <a:rPr lang="en-US" dirty="0"/>
              <a:t>Land use and land cover planning</a:t>
            </a:r>
          </a:p>
          <a:p>
            <a:r>
              <a:rPr lang="en-US" dirty="0"/>
              <a:t>Urban planning</a:t>
            </a:r>
          </a:p>
          <a:p>
            <a:r>
              <a:rPr lang="en-US" dirty="0"/>
              <a:t>Natural resource planning</a:t>
            </a:r>
          </a:p>
          <a:p>
            <a:r>
              <a:rPr lang="en-US" dirty="0"/>
              <a:t>Disaster management and mitigation</a:t>
            </a:r>
          </a:p>
          <a:p>
            <a:r>
              <a:rPr lang="en-US" dirty="0"/>
              <a:t>Environment impact studies</a:t>
            </a:r>
          </a:p>
        </p:txBody>
      </p:sp>
    </p:spTree>
    <p:extLst>
      <p:ext uri="{BB962C8B-B14F-4D97-AF65-F5344CB8AC3E}">
        <p14:creationId xmlns:p14="http://schemas.microsoft.com/office/powerpoint/2010/main" val="14863707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F161C-BBA0-59CA-CEDA-0BAB98CBC918}"/>
              </a:ext>
            </a:extLst>
          </p:cNvPr>
          <p:cNvSpPr>
            <a:spLocks noGrp="1"/>
          </p:cNvSpPr>
          <p:nvPr>
            <p:ph type="title"/>
          </p:nvPr>
        </p:nvSpPr>
        <p:spPr/>
        <p:txBody>
          <a:bodyPr/>
          <a:lstStyle/>
          <a:p>
            <a:r>
              <a:rPr lang="en-US" dirty="0"/>
              <a:t>Geographical data</a:t>
            </a:r>
          </a:p>
        </p:txBody>
      </p:sp>
      <p:sp>
        <p:nvSpPr>
          <p:cNvPr id="3" name="Content Placeholder 2">
            <a:extLst>
              <a:ext uri="{FF2B5EF4-FFF2-40B4-BE49-F238E27FC236}">
                <a16:creationId xmlns:a16="http://schemas.microsoft.com/office/drawing/2014/main" id="{FD56367D-A4B3-A572-9076-B760D0439B25}"/>
              </a:ext>
            </a:extLst>
          </p:cNvPr>
          <p:cNvSpPr>
            <a:spLocks noGrp="1"/>
          </p:cNvSpPr>
          <p:nvPr>
            <p:ph idx="1"/>
          </p:nvPr>
        </p:nvSpPr>
        <p:spPr/>
        <p:txBody>
          <a:bodyPr>
            <a:normAutofit/>
          </a:bodyPr>
          <a:lstStyle/>
          <a:p>
            <a:pPr marL="342900" indent="-342900">
              <a:buFont typeface="+mj-lt"/>
              <a:buAutoNum type="arabicPeriod"/>
            </a:pPr>
            <a:r>
              <a:rPr lang="en-US" b="1" dirty="0"/>
              <a:t>Spatial data</a:t>
            </a:r>
          </a:p>
          <a:p>
            <a:pPr marL="571500" lvl="1" indent="-342900">
              <a:buFont typeface="+mj-lt"/>
              <a:buAutoNum type="arabicPeriod"/>
            </a:pPr>
            <a:r>
              <a:rPr lang="en-US" sz="1800" dirty="0"/>
              <a:t>Point Object: School, hospital, settlement, bridge, tap stands etc.</a:t>
            </a:r>
          </a:p>
          <a:p>
            <a:pPr marL="571500" lvl="1" indent="-342900">
              <a:buFont typeface="+mj-lt"/>
              <a:buAutoNum type="arabicPeriod"/>
            </a:pPr>
            <a:r>
              <a:rPr lang="en-US" sz="1800" dirty="0"/>
              <a:t>Line objects: Roads, Drain, Canal, Electric line, W/S pipe line, </a:t>
            </a:r>
            <a:r>
              <a:rPr lang="en-US" sz="1800" dirty="0" err="1"/>
              <a:t>etc</a:t>
            </a:r>
            <a:endParaRPr lang="en-US" sz="1800" dirty="0"/>
          </a:p>
          <a:p>
            <a:pPr marL="571500" lvl="1" indent="-342900">
              <a:buFont typeface="+mj-lt"/>
              <a:buAutoNum type="arabicPeriod"/>
            </a:pPr>
            <a:r>
              <a:rPr lang="en-US" sz="1800" dirty="0"/>
              <a:t>Polygon Objects: Forest, Lake, Cultivates area etc.</a:t>
            </a:r>
          </a:p>
          <a:p>
            <a:pPr marL="342900" indent="-342900">
              <a:buFont typeface="+mj-lt"/>
              <a:buAutoNum type="arabicPeriod"/>
            </a:pPr>
            <a:r>
              <a:rPr lang="en-US" b="1" dirty="0"/>
              <a:t>Non-spatial(Attribute data)-Like as Excel or </a:t>
            </a:r>
            <a:r>
              <a:rPr lang="en-US" b="1" dirty="0" err="1"/>
              <a:t>Dbase</a:t>
            </a:r>
            <a:endParaRPr lang="en-US" b="1" dirty="0"/>
          </a:p>
          <a:p>
            <a:pPr marL="571500" lvl="1" indent="-342900">
              <a:buFont typeface="+mj-lt"/>
              <a:buAutoNum type="arabicPeriod"/>
            </a:pPr>
            <a:r>
              <a:rPr lang="en-US" sz="1800" dirty="0"/>
              <a:t>These are the properties of the spatial data. Each component has number of important properties which is presented in tabular form and also called attributes.</a:t>
            </a:r>
          </a:p>
        </p:txBody>
      </p:sp>
    </p:spTree>
    <p:extLst>
      <p:ext uri="{BB962C8B-B14F-4D97-AF65-F5344CB8AC3E}">
        <p14:creationId xmlns:p14="http://schemas.microsoft.com/office/powerpoint/2010/main" val="16378118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sp>
        <p:nvSpPr>
          <p:cNvPr id="3" name="Content Placeholder 2"/>
          <p:cNvSpPr>
            <a:spLocks noGrp="1"/>
          </p:cNvSpPr>
          <p:nvPr>
            <p:ph idx="1"/>
          </p:nvPr>
        </p:nvSpPr>
        <p:spPr>
          <a:xfrm>
            <a:off x="698091" y="2441399"/>
            <a:ext cx="11021961" cy="4038059"/>
          </a:xfrm>
        </p:spPr>
        <p:txBody>
          <a:bodyPr>
            <a:noAutofit/>
          </a:bodyPr>
          <a:lstStyle/>
          <a:p>
            <a:pPr marL="457200" indent="-457200" algn="just">
              <a:buClrTx/>
              <a:buFont typeface="+mj-lt"/>
              <a:buAutoNum type="arabicPeriod"/>
            </a:pPr>
            <a:r>
              <a:rPr lang="en-US" sz="2000" dirty="0"/>
              <a:t>Client-server architecture is a type of computing architecture that divides computing tasks between two distinct types of software: client software and server software. This architecture is widely used in modern computing systems, including web applications, email servers, and file-sharing systems.</a:t>
            </a:r>
          </a:p>
          <a:p>
            <a:pPr marL="457200" indent="-457200" algn="just">
              <a:buClrTx/>
              <a:buFont typeface="+mj-lt"/>
              <a:buAutoNum type="arabicPeriod"/>
            </a:pPr>
            <a:r>
              <a:rPr lang="en-US" sz="2000" dirty="0"/>
              <a:t>In a client-server architecture, the client software runs on the user's device and is responsible for user interaction and presentation. The client software communicates with the server software, which runs on a remote computer or server, to perform specific tasks or access resources.</a:t>
            </a:r>
          </a:p>
          <a:p>
            <a:pPr marL="457200" indent="-457200" algn="just">
              <a:buClrTx/>
              <a:buFont typeface="+mj-lt"/>
              <a:buAutoNum type="arabicPeriod"/>
            </a:pPr>
            <a:r>
              <a:rPr lang="en-US" sz="2000" dirty="0"/>
              <a:t>The server software provides services to multiple client software instances simultaneously, enabling multiple users to access the same resources simultaneously. The server software is responsible for managing resources and performing tasks that require high processing power, storage, or specialized knowledge.</a:t>
            </a:r>
          </a:p>
        </p:txBody>
      </p:sp>
    </p:spTree>
    <p:extLst>
      <p:ext uri="{BB962C8B-B14F-4D97-AF65-F5344CB8AC3E}">
        <p14:creationId xmlns:p14="http://schemas.microsoft.com/office/powerpoint/2010/main" val="16666611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pic>
        <p:nvPicPr>
          <p:cNvPr id="2050" name="Picture 2" descr="Client–server model - Wikipedia"/>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11021" y="2638425"/>
            <a:ext cx="5169958"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2849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pPr algn="just"/>
            <a:r>
              <a:rPr lang="en-US" dirty="0"/>
              <a:t>Explain history of Internet. What is TCP/IP Model? How many layers are there? Explain each layer.</a:t>
            </a:r>
          </a:p>
        </p:txBody>
      </p:sp>
    </p:spTree>
    <p:extLst>
      <p:ext uri="{BB962C8B-B14F-4D97-AF65-F5344CB8AC3E}">
        <p14:creationId xmlns:p14="http://schemas.microsoft.com/office/powerpoint/2010/main" val="7333331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IP Address</a:t>
            </a:r>
          </a:p>
        </p:txBody>
      </p:sp>
      <p:sp>
        <p:nvSpPr>
          <p:cNvPr id="3" name="Content Placeholder 2"/>
          <p:cNvSpPr>
            <a:spLocks noGrp="1"/>
          </p:cNvSpPr>
          <p:nvPr>
            <p:ph idx="1"/>
          </p:nvPr>
        </p:nvSpPr>
        <p:spPr/>
        <p:txBody>
          <a:bodyPr>
            <a:normAutofit fontScale="92500" lnSpcReduction="20000"/>
          </a:bodyPr>
          <a:lstStyle/>
          <a:p>
            <a:pPr algn="just"/>
            <a:r>
              <a:rPr lang="en-US" dirty="0"/>
              <a:t>An IP address, or Internet Protocol address, is a unique identifier assigned to every device connected to the internet. It is a numerical label assigned to each device that is connected to a computer network using the Internet Protocol for communication.</a:t>
            </a:r>
          </a:p>
          <a:p>
            <a:pPr algn="just"/>
            <a:r>
              <a:rPr lang="en-US" dirty="0"/>
              <a:t>There are two versions of IP addresses: IPv4 and IPv6. IPv4 is the most widely used version and consists of four sets of numbers separated by dots (e.g., 192.168.0.1). IPv6, on the other hand, consists of eight sets of alphanumeric characters separated by colons (e.g., 2001:0db8:85a3:0000:0000:8a2e:0370:7334).</a:t>
            </a:r>
          </a:p>
          <a:p>
            <a:pPr algn="just"/>
            <a:r>
              <a:rPr lang="en-US" dirty="0"/>
              <a:t>IP addresses are used to identify and locate devices on the internet, and they are crucial for sending and receiving data over the internet. When you connect to a website or a service on the internet, your device's IP address is sent to the server to establish a connection and exchange data.</a:t>
            </a:r>
          </a:p>
        </p:txBody>
      </p:sp>
    </p:spTree>
    <p:extLst>
      <p:ext uri="{BB962C8B-B14F-4D97-AF65-F5344CB8AC3E}">
        <p14:creationId xmlns:p14="http://schemas.microsoft.com/office/powerpoint/2010/main" val="17646690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of IP Address</a:t>
            </a:r>
          </a:p>
        </p:txBody>
      </p:sp>
      <p:sp>
        <p:nvSpPr>
          <p:cNvPr id="3" name="Content Placeholder 2"/>
          <p:cNvSpPr>
            <a:spLocks noGrp="1"/>
          </p:cNvSpPr>
          <p:nvPr>
            <p:ph idx="1"/>
          </p:nvPr>
        </p:nvSpPr>
        <p:spPr>
          <a:xfrm>
            <a:off x="576943" y="2329478"/>
            <a:ext cx="10210014" cy="1247513"/>
          </a:xfrm>
        </p:spPr>
        <p:txBody>
          <a:bodyPr/>
          <a:lstStyle/>
          <a:p>
            <a:pPr algn="just"/>
            <a:r>
              <a:rPr lang="en-US" dirty="0"/>
              <a:t>IP addresses are divided into five classes: A, B, C, D, and E. Classes A, B, and C are used for IP addresses assigned to hosts on the internet, while classes D and E are used for special purposes.</a:t>
            </a:r>
          </a:p>
        </p:txBody>
      </p:sp>
      <p:pic>
        <p:nvPicPr>
          <p:cNvPr id="1028" name="Picture 4" descr="Classless IP address – Computer Networking Demystifi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1334" y="3073138"/>
            <a:ext cx="5869332" cy="3419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2577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of IP address</a:t>
            </a:r>
          </a:p>
        </p:txBody>
      </p:sp>
      <p:sp>
        <p:nvSpPr>
          <p:cNvPr id="3" name="Content Placeholder 2"/>
          <p:cNvSpPr>
            <a:spLocks noGrp="1"/>
          </p:cNvSpPr>
          <p:nvPr>
            <p:ph idx="1"/>
          </p:nvPr>
        </p:nvSpPr>
        <p:spPr/>
        <p:txBody>
          <a:bodyPr>
            <a:normAutofit/>
          </a:bodyPr>
          <a:lstStyle/>
          <a:p>
            <a:pPr algn="just"/>
            <a:r>
              <a:rPr lang="en-US" dirty="0"/>
              <a:t>Class A addresses use the first octet to identify the network and the remaining three octets to identify the hosts. The range of Class A addresses is from 1.0.0.0 to 126.255.255.255.</a:t>
            </a:r>
          </a:p>
          <a:p>
            <a:pPr algn="just"/>
            <a:r>
              <a:rPr lang="en-US" dirty="0"/>
              <a:t>Class B addresses use the first two octets to identify the network and the remaining two octets to identify the hosts. The range of Class B addresses is from 128.0.0.0 to 191.255.255.255.</a:t>
            </a:r>
          </a:p>
          <a:p>
            <a:pPr algn="just"/>
            <a:r>
              <a:rPr lang="en-US" dirty="0"/>
              <a:t>Class C addresses use the first three octets to identify the network and the remaining octet to identify the hosts. The range of Class C addresses is from 192.0.0.0 to 223.255.255.255.</a:t>
            </a:r>
          </a:p>
        </p:txBody>
      </p:sp>
    </p:spTree>
    <p:extLst>
      <p:ext uri="{BB962C8B-B14F-4D97-AF65-F5344CB8AC3E}">
        <p14:creationId xmlns:p14="http://schemas.microsoft.com/office/powerpoint/2010/main" val="24078531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of IP Address</a:t>
            </a:r>
          </a:p>
        </p:txBody>
      </p:sp>
      <p:sp>
        <p:nvSpPr>
          <p:cNvPr id="3" name="Content Placeholder 2"/>
          <p:cNvSpPr>
            <a:spLocks noGrp="1"/>
          </p:cNvSpPr>
          <p:nvPr>
            <p:ph idx="1"/>
          </p:nvPr>
        </p:nvSpPr>
        <p:spPr/>
        <p:txBody>
          <a:bodyPr/>
          <a:lstStyle/>
          <a:p>
            <a:r>
              <a:rPr lang="en-US" dirty="0"/>
              <a:t>Class D addresses are used for multicast IP addresses, which are used to send a single message to multiple hosts. The range of Class D addresses is from 224.0.0.0 to 239.255.255.255.</a:t>
            </a:r>
          </a:p>
          <a:p>
            <a:r>
              <a:rPr lang="en-US" dirty="0"/>
              <a:t>Class E addresses are reserved for experimental or research purposes and are not used for normal internet communication. The range of Class E addresses is from 240.0.0.0 to 255.255.255.255.</a:t>
            </a:r>
          </a:p>
        </p:txBody>
      </p:sp>
    </p:spTree>
    <p:extLst>
      <p:ext uri="{BB962C8B-B14F-4D97-AF65-F5344CB8AC3E}">
        <p14:creationId xmlns:p14="http://schemas.microsoft.com/office/powerpoint/2010/main" val="7675965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Domain Name System(DNS)</a:t>
            </a:r>
          </a:p>
        </p:txBody>
      </p:sp>
      <p:sp>
        <p:nvSpPr>
          <p:cNvPr id="3" name="Content Placeholder 2"/>
          <p:cNvSpPr>
            <a:spLocks noGrp="1"/>
          </p:cNvSpPr>
          <p:nvPr>
            <p:ph idx="1"/>
          </p:nvPr>
        </p:nvSpPr>
        <p:spPr/>
        <p:txBody>
          <a:bodyPr>
            <a:normAutofit/>
          </a:bodyPr>
          <a:lstStyle/>
          <a:p>
            <a:pPr algn="just"/>
            <a:r>
              <a:rPr lang="en-US" dirty="0"/>
              <a:t>The Domain Name System (DNS) is a decentralized system that translates domain names (like </a:t>
            </a:r>
            <a:r>
              <a:rPr lang="en-US" u="sng" dirty="0">
                <a:hlinkClick r:id="rId2"/>
              </a:rPr>
              <a:t>www.example.com</a:t>
            </a:r>
            <a:r>
              <a:rPr lang="en-US" dirty="0"/>
              <a:t>) into IP addresses (like 192.0.2.1) that are used to locate resources on the internet.</a:t>
            </a:r>
          </a:p>
          <a:p>
            <a:pPr algn="just"/>
            <a:r>
              <a:rPr lang="en-US" dirty="0"/>
              <a:t> DNS provides a hierarchical naming system for computers, services, or any resource participating in the internet, organized in a tree-like structure.</a:t>
            </a:r>
          </a:p>
          <a:p>
            <a:pPr algn="just"/>
            <a:r>
              <a:rPr lang="en-US" dirty="0"/>
              <a:t>DNS plays a critical role in the functioning of the internet, allowing users to access websites and other resources using easy-to-remember domain names, rather than complex IP addresses.</a:t>
            </a:r>
          </a:p>
        </p:txBody>
      </p:sp>
    </p:spTree>
    <p:extLst>
      <p:ext uri="{BB962C8B-B14F-4D97-AF65-F5344CB8AC3E}">
        <p14:creationId xmlns:p14="http://schemas.microsoft.com/office/powerpoint/2010/main" val="2986946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Architecture of DNS</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38105" y="2638425"/>
            <a:ext cx="4315791" cy="3101975"/>
          </a:xfrm>
        </p:spPr>
      </p:pic>
    </p:spTree>
    <p:extLst>
      <p:ext uri="{BB962C8B-B14F-4D97-AF65-F5344CB8AC3E}">
        <p14:creationId xmlns:p14="http://schemas.microsoft.com/office/powerpoint/2010/main" val="42829448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Description:</a:t>
            </a:r>
          </a:p>
        </p:txBody>
      </p:sp>
      <p:sp>
        <p:nvSpPr>
          <p:cNvPr id="3" name="Content Placeholder 2"/>
          <p:cNvSpPr>
            <a:spLocks noGrp="1"/>
          </p:cNvSpPr>
          <p:nvPr>
            <p:ph idx="1"/>
          </p:nvPr>
        </p:nvSpPr>
        <p:spPr/>
        <p:txBody>
          <a:bodyPr>
            <a:normAutofit fontScale="92500" lnSpcReduction="10000"/>
          </a:bodyPr>
          <a:lstStyle/>
          <a:p>
            <a:pPr algn="just"/>
            <a:r>
              <a:rPr lang="en-US" dirty="0"/>
              <a:t>DNS works by using a distributed database system, which is made up of millions of DNS servers around the world. When a user types a domain name into their web browser, the browser sends a request to the local DNS resolver, which is typically provided by the Internet Service Provider (ISP). If the local resolver does not have the IP address for the requested domain name in its cache, it sends a request to one of the root DNS servers to start the resolution process.</a:t>
            </a:r>
          </a:p>
          <a:p>
            <a:pPr algn="just"/>
            <a:r>
              <a:rPr lang="en-US" dirty="0"/>
              <a:t>The root DNS server responds to the request with a referral to the appropriate Top-Level Domain (TLD) DNS server, such as .com, .org, .</a:t>
            </a:r>
            <a:r>
              <a:rPr lang="en-US" dirty="0" err="1"/>
              <a:t>edu</a:t>
            </a:r>
            <a:r>
              <a:rPr lang="en-US" dirty="0"/>
              <a:t>, or .gov. The TLD DNS server responds with a referral to the DNS server for the specific domain name, which then provides the IP address for the domain name to the local resolver. The local resolver caches the IP address for a certain amount of time to speed up future requests.</a:t>
            </a:r>
          </a:p>
        </p:txBody>
      </p:sp>
    </p:spTree>
    <p:extLst>
      <p:ext uri="{BB962C8B-B14F-4D97-AF65-F5344CB8AC3E}">
        <p14:creationId xmlns:p14="http://schemas.microsoft.com/office/powerpoint/2010/main" val="5860031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IP Address? What are the classes of IP address. Explain.</a:t>
            </a:r>
          </a:p>
          <a:p>
            <a:r>
              <a:rPr lang="en-US" dirty="0"/>
              <a:t>What is DNS? Explain with proper architecture.</a:t>
            </a:r>
          </a:p>
        </p:txBody>
      </p:sp>
    </p:spTree>
    <p:extLst>
      <p:ext uri="{BB962C8B-B14F-4D97-AF65-F5344CB8AC3E}">
        <p14:creationId xmlns:p14="http://schemas.microsoft.com/office/powerpoint/2010/main" val="4333120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Intranet and Extranet</a:t>
            </a:r>
          </a:p>
        </p:txBody>
      </p:sp>
      <p:sp>
        <p:nvSpPr>
          <p:cNvPr id="3" name="Content Placeholder 2"/>
          <p:cNvSpPr>
            <a:spLocks noGrp="1"/>
          </p:cNvSpPr>
          <p:nvPr>
            <p:ph idx="1"/>
          </p:nvPr>
        </p:nvSpPr>
        <p:spPr/>
        <p:txBody>
          <a:bodyPr>
            <a:normAutofit fontScale="92500" lnSpcReduction="10000"/>
          </a:bodyPr>
          <a:lstStyle/>
          <a:p>
            <a:pPr algn="just"/>
            <a:r>
              <a:rPr lang="en-US" dirty="0"/>
              <a:t>An intranet is a private network within an organization that is used for internal communication and collaboration. It is accessible only to authorized members of the organization and is often used to share information, documents, and applications within the company. Intranets are typically hosted on a local server and are protected by firewalls and other security measures.</a:t>
            </a:r>
          </a:p>
          <a:p>
            <a:pPr algn="just"/>
            <a:r>
              <a:rPr lang="en-US" dirty="0"/>
              <a:t>An extranet, on the other hand, is a network that allows external users such as customers, vendors, and partners to access a limited portion of an organization's intranet. It provides a secure and controlled platform for these external parties to communicate and collaborate with the organization's internal team. Access to the extranet is typically granted through authentication procedures, and users are only allowed to access the specific information or applications that are relevant to their role or relationship with the organization.</a:t>
            </a:r>
          </a:p>
          <a:p>
            <a:pPr algn="just"/>
            <a:endParaRPr lang="en-US" dirty="0"/>
          </a:p>
        </p:txBody>
      </p:sp>
    </p:spTree>
    <p:extLst>
      <p:ext uri="{BB962C8B-B14F-4D97-AF65-F5344CB8AC3E}">
        <p14:creationId xmlns:p14="http://schemas.microsoft.com/office/powerpoint/2010/main" val="32550889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Intranet and Extranet</a:t>
            </a:r>
          </a:p>
        </p:txBody>
      </p:sp>
      <p:pic>
        <p:nvPicPr>
          <p:cNvPr id="1026" name="Picture 2" descr="Internet vs. Intranet vs. Extranet | Igloo Software"/>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144234" y="2638425"/>
            <a:ext cx="5903533"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8412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sp>
        <p:nvSpPr>
          <p:cNvPr id="3" name="Content Placeholder 2"/>
          <p:cNvSpPr>
            <a:spLocks noGrp="1"/>
          </p:cNvSpPr>
          <p:nvPr>
            <p:ph idx="1"/>
          </p:nvPr>
        </p:nvSpPr>
        <p:spPr/>
        <p:txBody>
          <a:bodyPr>
            <a:normAutofit lnSpcReduction="10000"/>
          </a:bodyPr>
          <a:lstStyle/>
          <a:p>
            <a:pPr algn="just"/>
            <a:r>
              <a:rPr lang="en-US" dirty="0"/>
              <a:t>A static webpage is a webpage that has a fixed content, meaning that the content of the webpage remains the same until it is manually updated. </a:t>
            </a:r>
          </a:p>
          <a:p>
            <a:pPr algn="just"/>
            <a:r>
              <a:rPr lang="en-US" dirty="0"/>
              <a:t>The HTML code for a static webpage is created and saved on a server, and when a user accesses the webpage, they are presented with the same content every time. </a:t>
            </a:r>
          </a:p>
          <a:p>
            <a:pPr algn="just"/>
            <a:r>
              <a:rPr lang="en-US" dirty="0"/>
              <a:t>Examples of static webpages include simple websites that provide information about a company, its products or services, and contact information.</a:t>
            </a:r>
          </a:p>
          <a:p>
            <a:pPr algn="just"/>
            <a:r>
              <a:rPr lang="en-US" dirty="0"/>
              <a:t>A dynamic webpage, on the other hand, is a webpage that changes based on user input or other variables. The content of a dynamic webpage is generated on the server-side in real-time and is often customized for each user.</a:t>
            </a:r>
          </a:p>
        </p:txBody>
      </p:sp>
    </p:spTree>
    <p:extLst>
      <p:ext uri="{BB962C8B-B14F-4D97-AF65-F5344CB8AC3E}">
        <p14:creationId xmlns:p14="http://schemas.microsoft.com/office/powerpoint/2010/main" val="36763215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sp>
        <p:nvSpPr>
          <p:cNvPr id="3" name="Content Placeholder 2"/>
          <p:cNvSpPr>
            <a:spLocks noGrp="1"/>
          </p:cNvSpPr>
          <p:nvPr>
            <p:ph idx="1"/>
          </p:nvPr>
        </p:nvSpPr>
        <p:spPr/>
        <p:txBody>
          <a:bodyPr>
            <a:normAutofit fontScale="92500"/>
          </a:bodyPr>
          <a:lstStyle/>
          <a:p>
            <a:pPr algn="just"/>
            <a:r>
              <a:rPr lang="en-US" dirty="0"/>
              <a:t> Dynamic webpages can use a variety of programming languages, such as PHP, Python, or Ruby, to access databases, run scripts, or retrieve information from APIs. </a:t>
            </a:r>
          </a:p>
          <a:p>
            <a:pPr algn="just"/>
            <a:r>
              <a:rPr lang="en-US" dirty="0"/>
              <a:t>Examples of dynamic webpages include social media sites, e-commerce sites, online banking sites, and search engines.</a:t>
            </a:r>
          </a:p>
          <a:p>
            <a:pPr algn="just"/>
            <a:r>
              <a:rPr lang="en-US" dirty="0"/>
              <a:t>Dynamic webpages often have interactive features, such as forms, buttons, and menus, that allow users to input data or make selections that trigger changes in the webpage's content. </a:t>
            </a:r>
          </a:p>
          <a:p>
            <a:pPr algn="just"/>
            <a:r>
              <a:rPr lang="en-US" dirty="0"/>
              <a:t>Additionally, dynamic webpages can be updated more easily than static webpages since the content is generated automatically based on certain criteria, such as user preferences, device type, or location.</a:t>
            </a:r>
          </a:p>
          <a:p>
            <a:pPr algn="just"/>
            <a:endParaRPr lang="en-US" dirty="0"/>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40594771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pic>
        <p:nvPicPr>
          <p:cNvPr id="3074" name="Picture 2" descr="Difference Between Static and Dynamic Website – Complete Guide"/>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05398" y="2638425"/>
            <a:ext cx="6381205"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2450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Differentiate between Intranet and Extranet.</a:t>
            </a:r>
          </a:p>
          <a:p>
            <a:r>
              <a:rPr lang="en-US" dirty="0"/>
              <a:t>Differentiate between Static webpage and Dynamic Webpage.</a:t>
            </a:r>
          </a:p>
          <a:p>
            <a:r>
              <a:rPr lang="en-US" dirty="0"/>
              <a:t>How Internet plays important role in E-commerce and E-Governance. Explain with examples.</a:t>
            </a:r>
          </a:p>
        </p:txBody>
      </p:sp>
    </p:spTree>
    <p:extLst>
      <p:ext uri="{BB962C8B-B14F-4D97-AF65-F5344CB8AC3E}">
        <p14:creationId xmlns:p14="http://schemas.microsoft.com/office/powerpoint/2010/main" val="240263332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3480</TotalTime>
  <Words>6205</Words>
  <Application>Microsoft Office PowerPoint</Application>
  <PresentationFormat>Widescreen</PresentationFormat>
  <Paragraphs>363</Paragraphs>
  <Slides>78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Arial</vt:lpstr>
      <vt:lpstr>Bahnschrift SemiBold Condensed</vt:lpstr>
      <vt:lpstr>Calibri</vt:lpstr>
      <vt:lpstr>Gill Sans MT</vt:lpstr>
      <vt:lpstr>motiva-sans</vt:lpstr>
      <vt:lpstr>Wingdings</vt:lpstr>
      <vt:lpstr>Parcel</vt:lpstr>
      <vt:lpstr>Unit 8 The internet and internet services</vt:lpstr>
      <vt:lpstr>History of Internet</vt:lpstr>
      <vt:lpstr>History of Internet</vt:lpstr>
      <vt:lpstr>Internetworking Protocol</vt:lpstr>
      <vt:lpstr>Transmission Control Protocol(tcp)</vt:lpstr>
      <vt:lpstr>Internet Protocol(IP)</vt:lpstr>
      <vt:lpstr>File transfer protocol(ftp)</vt:lpstr>
      <vt:lpstr>Hypertext transfer protocol(http)</vt:lpstr>
      <vt:lpstr>Simple Mail Transfer Protocol(SMTP)</vt:lpstr>
      <vt:lpstr>Post office Protocol(POP)</vt:lpstr>
      <vt:lpstr>Telnet</vt:lpstr>
      <vt:lpstr>Telnet</vt:lpstr>
      <vt:lpstr>Gopher</vt:lpstr>
      <vt:lpstr>Gopher</vt:lpstr>
      <vt:lpstr>Wide area Information server(WAIS)</vt:lpstr>
      <vt:lpstr>Question???</vt:lpstr>
      <vt:lpstr>Internet Architecture</vt:lpstr>
      <vt:lpstr>Internet Architecture</vt:lpstr>
      <vt:lpstr>PowerPoint Presentation</vt:lpstr>
      <vt:lpstr>Internet Management</vt:lpstr>
      <vt:lpstr>Internet Management</vt:lpstr>
      <vt:lpstr>Internet Society</vt:lpstr>
      <vt:lpstr>Internet architecture board</vt:lpstr>
      <vt:lpstr>Internet engineering task force</vt:lpstr>
      <vt:lpstr>Connecting to internet</vt:lpstr>
      <vt:lpstr>Connecting internet with modem</vt:lpstr>
      <vt:lpstr>Connecting internet with Broadband connection</vt:lpstr>
      <vt:lpstr>Connecting internet with smartphones</vt:lpstr>
      <vt:lpstr>Internet connections</vt:lpstr>
      <vt:lpstr>Dial up connection</vt:lpstr>
      <vt:lpstr>Leased lines</vt:lpstr>
      <vt:lpstr>Integrated Service Digital Network(ISDN)</vt:lpstr>
      <vt:lpstr>Digital Subscriber line(DSL)</vt:lpstr>
      <vt:lpstr>Cable Modem</vt:lpstr>
      <vt:lpstr>Application of Internet</vt:lpstr>
      <vt:lpstr>Application of Internet</vt:lpstr>
      <vt:lpstr>Internet Services</vt:lpstr>
      <vt:lpstr>World wide web</vt:lpstr>
      <vt:lpstr>How www works?</vt:lpstr>
      <vt:lpstr>How www works?</vt:lpstr>
      <vt:lpstr>WWW Evolultion</vt:lpstr>
      <vt:lpstr>Uniform Resource Locater(URL)</vt:lpstr>
      <vt:lpstr>E-mail</vt:lpstr>
      <vt:lpstr>How E-mail works?</vt:lpstr>
      <vt:lpstr>How E-mail works?</vt:lpstr>
      <vt:lpstr>How FTp works?</vt:lpstr>
      <vt:lpstr>Internet of Things(IOT)</vt:lpstr>
      <vt:lpstr>Internet of Things(IOT)</vt:lpstr>
      <vt:lpstr>Internet of Things(IOT)</vt:lpstr>
      <vt:lpstr>Wearable computing</vt:lpstr>
      <vt:lpstr>Cloud computing</vt:lpstr>
      <vt:lpstr>E-Commerce</vt:lpstr>
      <vt:lpstr>Types of E-Commerce</vt:lpstr>
      <vt:lpstr>E-Governance</vt:lpstr>
      <vt:lpstr>E-Governance</vt:lpstr>
      <vt:lpstr>Smart city</vt:lpstr>
      <vt:lpstr>GIS</vt:lpstr>
      <vt:lpstr>Why use GIS?</vt:lpstr>
      <vt:lpstr>Basic GIS Function</vt:lpstr>
      <vt:lpstr>Scope of GIS</vt:lpstr>
      <vt:lpstr>Geographical data</vt:lpstr>
      <vt:lpstr>Client Server architecture</vt:lpstr>
      <vt:lpstr>Client Server Architecture</vt:lpstr>
      <vt:lpstr>Question:</vt:lpstr>
      <vt:lpstr>IP Address</vt:lpstr>
      <vt:lpstr>Class of IP Address</vt:lpstr>
      <vt:lpstr>Class of IP address</vt:lpstr>
      <vt:lpstr>Class of IP Address</vt:lpstr>
      <vt:lpstr>Domain Name System(DNS)</vt:lpstr>
      <vt:lpstr>Architecture of DNS</vt:lpstr>
      <vt:lpstr>Description:</vt:lpstr>
      <vt:lpstr>Question:</vt:lpstr>
      <vt:lpstr>Intranet and Extranet</vt:lpstr>
      <vt:lpstr>Intranet and Extranet</vt:lpstr>
      <vt:lpstr>Static and Dynamic Webpage</vt:lpstr>
      <vt:lpstr>Static and Dynamic webpage</vt:lpstr>
      <vt:lpstr>Static and dynamic webpage</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 Internet and WWW</dc:title>
  <dc:creator>Hp</dc:creator>
  <cp:lastModifiedBy>Yachu</cp:lastModifiedBy>
  <cp:revision>150</cp:revision>
  <dcterms:created xsi:type="dcterms:W3CDTF">2023-02-26T01:41:52Z</dcterms:created>
  <dcterms:modified xsi:type="dcterms:W3CDTF">2024-01-17T16:44:47Z</dcterms:modified>
</cp:coreProperties>
</file>