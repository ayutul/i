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66" r:id="rId6"/>
    <p:sldId id="296" r:id="rId7"/>
    <p:sldId id="297" r:id="rId8"/>
    <p:sldId id="265" r:id="rId9"/>
    <p:sldId id="295" r:id="rId10"/>
    <p:sldId id="260" r:id="rId11"/>
    <p:sldId id="261" r:id="rId12"/>
    <p:sldId id="267" r:id="rId13"/>
    <p:sldId id="298" r:id="rId14"/>
    <p:sldId id="299" r:id="rId15"/>
    <p:sldId id="288" r:id="rId16"/>
    <p:sldId id="289" r:id="rId17"/>
    <p:sldId id="290" r:id="rId18"/>
    <p:sldId id="291" r:id="rId19"/>
    <p:sldId id="293" r:id="rId20"/>
    <p:sldId id="292" r:id="rId21"/>
    <p:sldId id="300" r:id="rId22"/>
    <p:sldId id="294" r:id="rId23"/>
    <p:sldId id="268" r:id="rId24"/>
    <p:sldId id="269" r:id="rId25"/>
    <p:sldId id="271" r:id="rId26"/>
    <p:sldId id="270" r:id="rId27"/>
    <p:sldId id="27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51" autoAdjust="0"/>
    <p:restoredTop sz="94660"/>
  </p:normalViewPr>
  <p:slideViewPr>
    <p:cSldViewPr snapToGrid="0">
      <p:cViewPr varScale="1">
        <p:scale>
          <a:sx n="110" d="100"/>
          <a:sy n="110" d="100"/>
        </p:scale>
        <p:origin x="28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8DAC1C-E535-4857-96B8-CE8CAA525418}" type="datetimeFigureOut">
              <a:rPr lang="en-US" smtClean="0"/>
              <a:t>12/18/2023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25F34-64C2-4DB1-83D2-D5662218FC11}" type="slidenum">
              <a:rPr lang="en-US" smtClean="0"/>
              <a:t>‹#›</a:t>
            </a:fld>
            <a:endParaRPr lang="en-US"/>
          </a:p>
        </p:txBody>
      </p:sp>
    </p:spTree>
    <p:extLst>
      <p:ext uri="{BB962C8B-B14F-4D97-AF65-F5344CB8AC3E}">
        <p14:creationId xmlns:p14="http://schemas.microsoft.com/office/powerpoint/2010/main" val="517105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4982C9-C1BA-445E-AB22-18988C01F966}"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955790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DE327-385E-44D6-BC01-6557ABE03CB9}"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332475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D651F4-A8BE-4899-A546-ADADE1318C48}"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2470974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9B77C8-2A2D-4432-802F-86F81DBE2F63}"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1539691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E5C195-2AB9-4EE2-836F-ABEFF45FCEF6}" type="datetime1">
              <a:rPr lang="en-US" smtClean="0"/>
              <a:t>12/18/2023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1077584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E3A8FE-12AB-4B2F-8D92-FD4C1965627B}" type="datetime1">
              <a:rPr lang="en-US" smtClean="0"/>
              <a:t>12/18/2023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3081093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C3B195-C709-488E-8C10-F9D43628986D}" type="datetime1">
              <a:rPr lang="en-US" smtClean="0"/>
              <a:t>12/18/2023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110026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EA7D490-28E2-44C3-8972-80BF8CB0F19D}"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566437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890FFA1-AFB1-4CAF-B968-D41E166D800E}"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88239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66BD45-A522-413F-8E00-2AF00FD7B312}"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3492069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0B7861-B3CB-4488-BF43-3A6DF527EA89}"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1EFCA41-7B66-4D71-A011-D172A5A2A1D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90246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A862611E-9555-4D9D-92F2-A3BA1B78D051}"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1756316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2AA35A1-8484-4463-B842-EA0D6FED4C43}"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1EFCA41-7B66-4D71-A011-D172A5A2A1D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94203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247B00D-0159-4F3B-8E4A-F2FF3783D28C}" type="datetime1">
              <a:rPr lang="en-US" smtClean="0"/>
              <a:t>12/18/2023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1763806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4E2AB-F779-438C-9311-0D2F10D65FAA}"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2299466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0B11C3-794B-4B09-AD60-5EA177EB1C76}" type="datetime1">
              <a:rPr lang="en-US" smtClean="0"/>
              <a:t>12/18/2023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1EFCA41-7B66-4D71-A011-D172A5A2A1D3}" type="slidenum">
              <a:rPr lang="en-US" smtClean="0"/>
              <a:t>‹#›</a:t>
            </a:fld>
            <a:endParaRPr lang="en-US"/>
          </a:p>
        </p:txBody>
      </p:sp>
    </p:spTree>
    <p:extLst>
      <p:ext uri="{BB962C8B-B14F-4D97-AF65-F5344CB8AC3E}">
        <p14:creationId xmlns:p14="http://schemas.microsoft.com/office/powerpoint/2010/main" val="714347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F30682A-5A48-4DAA-87AC-28E5CF7BA039}" type="datetime1">
              <a:rPr lang="en-US" smtClean="0"/>
              <a:t>12/18/2023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1EFCA41-7B66-4D71-A011-D172A5A2A1D3}" type="slidenum">
              <a:rPr lang="en-US" smtClean="0"/>
              <a:t>‹#›</a:t>
            </a:fld>
            <a:endParaRPr lang="en-US"/>
          </a:p>
        </p:txBody>
      </p:sp>
    </p:spTree>
    <p:extLst>
      <p:ext uri="{BB962C8B-B14F-4D97-AF65-F5344CB8AC3E}">
        <p14:creationId xmlns:p14="http://schemas.microsoft.com/office/powerpoint/2010/main" val="12717416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gif"/><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jpg"/><Relationship Id="rId2" Type="http://schemas.openxmlformats.org/officeDocument/2006/relationships/image" Target="../media/image14.webp"/><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pn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2" Type="http://schemas.openxmlformats.org/officeDocument/2006/relationships/image" Target="../media/image21.web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omputerhope.com/jargon/e/excel.htm" TargetMode="External"/><Relationship Id="rId7" Type="http://schemas.openxmlformats.org/officeDocument/2006/relationships/image" Target="../media/image24.png"/><Relationship Id="rId2" Type="http://schemas.openxmlformats.org/officeDocument/2006/relationships/hyperlink" Target="https://www.computerhope.com/comp/msoft.htm" TargetMode="External"/><Relationship Id="rId1" Type="http://schemas.openxmlformats.org/officeDocument/2006/relationships/slideLayout" Target="../slideLayouts/slideLayout2.xml"/><Relationship Id="rId6" Type="http://schemas.openxmlformats.org/officeDocument/2006/relationships/image" Target="../media/image23.webp"/><Relationship Id="rId5" Type="http://schemas.openxmlformats.org/officeDocument/2006/relationships/hyperlink" Target="https://www.computerhope.com/jargon/p/powerpoi.htm" TargetMode="External"/><Relationship Id="rId4" Type="http://schemas.openxmlformats.org/officeDocument/2006/relationships/hyperlink" Target="https://www.computerhope.com/jargon/m/microsoft-word.ht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webp"/><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22846" y="949750"/>
            <a:ext cx="8915399" cy="2262781"/>
          </a:xfrm>
        </p:spPr>
        <p:txBody>
          <a:bodyPr/>
          <a:lstStyle/>
          <a:p>
            <a:r>
              <a:rPr lang="en-US" b="1" dirty="0"/>
              <a:t>							Unit 2 </a:t>
            </a:r>
            <a:br>
              <a:rPr lang="en-US" b="1" dirty="0"/>
            </a:br>
            <a:r>
              <a:rPr lang="en-US" b="1" dirty="0"/>
              <a:t>     Computer Software</a:t>
            </a:r>
          </a:p>
        </p:txBody>
      </p:sp>
      <p:sp>
        <p:nvSpPr>
          <p:cNvPr id="4" name="Slide Number Placeholder 3"/>
          <p:cNvSpPr>
            <a:spLocks noGrp="1"/>
          </p:cNvSpPr>
          <p:nvPr>
            <p:ph type="sldNum" sz="quarter" idx="12"/>
          </p:nvPr>
        </p:nvSpPr>
        <p:spPr/>
        <p:txBody>
          <a:bodyPr/>
          <a:lstStyle/>
          <a:p>
            <a:fld id="{E1EFCA41-7B66-4D71-A011-D172A5A2A1D3}" type="slidenum">
              <a:rPr lang="en-US" smtClean="0"/>
              <a:t>1</a:t>
            </a:fld>
            <a:endParaRPr lang="en-US"/>
          </a:p>
        </p:txBody>
      </p:sp>
      <p:sp>
        <p:nvSpPr>
          <p:cNvPr id="6" name="Subtitle 5">
            <a:extLst>
              <a:ext uri="{FF2B5EF4-FFF2-40B4-BE49-F238E27FC236}">
                <a16:creationId xmlns:a16="http://schemas.microsoft.com/office/drawing/2014/main" id="{1419976E-DB1E-F143-F46A-1224CEEAA1F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62730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a:t>
            </a:r>
          </a:p>
        </p:txBody>
      </p:sp>
      <p:sp>
        <p:nvSpPr>
          <p:cNvPr id="3" name="Content Placeholder 2"/>
          <p:cNvSpPr>
            <a:spLocks noGrp="1"/>
          </p:cNvSpPr>
          <p:nvPr>
            <p:ph idx="1"/>
          </p:nvPr>
        </p:nvSpPr>
        <p:spPr>
          <a:xfrm>
            <a:off x="1034981" y="1431685"/>
            <a:ext cx="6679474" cy="4493444"/>
          </a:xfrm>
        </p:spPr>
        <p:txBody>
          <a:bodyPr>
            <a:normAutofit/>
          </a:bodyPr>
          <a:lstStyle/>
          <a:p>
            <a:pPr algn="just"/>
            <a:r>
              <a:rPr lang="en-US" dirty="0"/>
              <a:t>Software is a set of instructions that tell a computer what to do. It is set of interrelated computer programs and documentation that contains information how to use it.</a:t>
            </a:r>
          </a:p>
          <a:p>
            <a:pPr algn="just"/>
            <a:r>
              <a:rPr lang="en-US" dirty="0"/>
              <a:t>There are two main types of software: </a:t>
            </a:r>
          </a:p>
          <a:p>
            <a:pPr lvl="1" algn="just">
              <a:buFont typeface="+mj-lt"/>
              <a:buAutoNum type="arabicPeriod"/>
            </a:pPr>
            <a:r>
              <a:rPr lang="en-US" dirty="0"/>
              <a:t>System Software</a:t>
            </a:r>
          </a:p>
          <a:p>
            <a:pPr lvl="1" algn="just">
              <a:buFont typeface="+mj-lt"/>
              <a:buAutoNum type="arabicPeriod"/>
            </a:pPr>
            <a:r>
              <a:rPr lang="en-US" dirty="0"/>
              <a:t>Application Software</a:t>
            </a:r>
          </a:p>
        </p:txBody>
      </p:sp>
      <p:pic>
        <p:nvPicPr>
          <p:cNvPr id="4" name="Picture 3"/>
          <p:cNvPicPr>
            <a:picLocks noChangeAspect="1"/>
          </p:cNvPicPr>
          <p:nvPr/>
        </p:nvPicPr>
        <p:blipFill>
          <a:blip r:embed="rId2"/>
          <a:stretch>
            <a:fillRect/>
          </a:stretch>
        </p:blipFill>
        <p:spPr>
          <a:xfrm>
            <a:off x="2839515" y="4308566"/>
            <a:ext cx="4347497" cy="1715679"/>
          </a:xfrm>
          <a:prstGeom prst="rect">
            <a:avLst/>
          </a:prstGeom>
        </p:spPr>
      </p:pic>
      <p:pic>
        <p:nvPicPr>
          <p:cNvPr id="1030" name="Picture 6" descr="Untitled Docu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7283" y="1055967"/>
            <a:ext cx="4374717" cy="328090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E1EFCA41-7B66-4D71-A011-D172A5A2A1D3}" type="slidenum">
              <a:rPr lang="en-US" smtClean="0"/>
              <a:t>2</a:t>
            </a:fld>
            <a:endParaRPr lang="en-US"/>
          </a:p>
        </p:txBody>
      </p:sp>
    </p:spTree>
    <p:extLst>
      <p:ext uri="{BB962C8B-B14F-4D97-AF65-F5344CB8AC3E}">
        <p14:creationId xmlns:p14="http://schemas.microsoft.com/office/powerpoint/2010/main" val="4024068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Software</a:t>
            </a:r>
          </a:p>
        </p:txBody>
      </p:sp>
      <p:pic>
        <p:nvPicPr>
          <p:cNvPr id="2050" name="Picture 2" descr="What is a Software? Types of Software - Informer Guru"/>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16156" y="1754171"/>
            <a:ext cx="7865223" cy="469376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E1EFCA41-7B66-4D71-A011-D172A5A2A1D3}" type="slidenum">
              <a:rPr lang="en-US" smtClean="0"/>
              <a:t>3</a:t>
            </a:fld>
            <a:endParaRPr lang="en-US"/>
          </a:p>
        </p:txBody>
      </p:sp>
    </p:spTree>
    <p:extLst>
      <p:ext uri="{BB962C8B-B14F-4D97-AF65-F5344CB8AC3E}">
        <p14:creationId xmlns:p14="http://schemas.microsoft.com/office/powerpoint/2010/main" val="3226839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software</a:t>
            </a:r>
          </a:p>
        </p:txBody>
      </p:sp>
      <p:sp>
        <p:nvSpPr>
          <p:cNvPr id="3" name="Content Placeholder 2"/>
          <p:cNvSpPr>
            <a:spLocks noGrp="1"/>
          </p:cNvSpPr>
          <p:nvPr>
            <p:ph idx="1"/>
          </p:nvPr>
        </p:nvSpPr>
        <p:spPr>
          <a:xfrm>
            <a:off x="2449346" y="1448165"/>
            <a:ext cx="8915400" cy="3377939"/>
          </a:xfrm>
        </p:spPr>
        <p:txBody>
          <a:bodyPr>
            <a:normAutofit fontScale="92500"/>
          </a:bodyPr>
          <a:lstStyle/>
          <a:p>
            <a:pPr algn="just"/>
            <a:r>
              <a:rPr lang="en-US" b="1" dirty="0">
                <a:solidFill>
                  <a:schemeClr val="accent1">
                    <a:lumMod val="50000"/>
                  </a:schemeClr>
                </a:solidFill>
              </a:rPr>
              <a:t>System software</a:t>
            </a:r>
            <a:r>
              <a:rPr lang="en-US" dirty="0"/>
              <a:t> which controls the computer’s all hardware resources and performs tasks that are essential to the operation of the computer.</a:t>
            </a:r>
          </a:p>
          <a:p>
            <a:pPr algn="just"/>
            <a:r>
              <a:rPr lang="en-US" dirty="0"/>
              <a:t>It provides intermediary medium between the user and computer hardware.</a:t>
            </a:r>
          </a:p>
          <a:p>
            <a:pPr algn="just"/>
            <a:r>
              <a:rPr lang="en-US" dirty="0"/>
              <a:t>Application software run over system software.</a:t>
            </a:r>
          </a:p>
          <a:p>
            <a:pPr algn="just"/>
            <a:r>
              <a:rPr lang="en-US" dirty="0"/>
              <a:t>Types of System Software:</a:t>
            </a:r>
          </a:p>
          <a:p>
            <a:pPr marL="857250" lvl="1" indent="-400050" algn="just">
              <a:buFont typeface="+mj-lt"/>
              <a:buAutoNum type="romanLcPeriod"/>
            </a:pPr>
            <a:r>
              <a:rPr lang="en-US" b="1" dirty="0">
                <a:solidFill>
                  <a:schemeClr val="tx2">
                    <a:lumMod val="75000"/>
                  </a:schemeClr>
                </a:solidFill>
              </a:rPr>
              <a:t>Operating System </a:t>
            </a:r>
            <a:r>
              <a:rPr lang="en-US" dirty="0"/>
              <a:t>: It is integrated set of programs that is used to manage the various resources and overall operation of the computer system.</a:t>
            </a:r>
          </a:p>
          <a:p>
            <a:pPr marL="857250" lvl="1" indent="-400050" algn="just">
              <a:buFont typeface="+mj-lt"/>
              <a:buAutoNum type="romanLcPeriod"/>
            </a:pPr>
            <a:r>
              <a:rPr lang="en-US" b="1" dirty="0">
                <a:solidFill>
                  <a:schemeClr val="tx2">
                    <a:lumMod val="75000"/>
                  </a:schemeClr>
                </a:solidFill>
              </a:rPr>
              <a:t>Translator :</a:t>
            </a:r>
            <a:r>
              <a:rPr lang="en-US" b="1" dirty="0"/>
              <a:t>	</a:t>
            </a:r>
            <a:r>
              <a:rPr lang="en-US" dirty="0"/>
              <a:t>Assembler, Compiler and Interpreter</a:t>
            </a:r>
            <a:endParaRPr lang="en-US" b="1" dirty="0"/>
          </a:p>
          <a:p>
            <a:pPr marL="857250" lvl="1" indent="-400050" algn="just">
              <a:buFont typeface="+mj-lt"/>
              <a:buAutoNum type="romanLcPeriod"/>
            </a:pPr>
            <a:r>
              <a:rPr lang="en-US" b="1" dirty="0">
                <a:solidFill>
                  <a:schemeClr val="tx2">
                    <a:lumMod val="75000"/>
                  </a:schemeClr>
                </a:solidFill>
              </a:rPr>
              <a:t>Utility software: </a:t>
            </a:r>
            <a:r>
              <a:rPr lang="en-US" dirty="0"/>
              <a:t>It system software which enhance or extend the system software capabilities or offer new features not provided by Operating system.</a:t>
            </a:r>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4</a:t>
            </a:fld>
            <a:endParaRPr lang="en-US"/>
          </a:p>
        </p:txBody>
      </p:sp>
      <p:pic>
        <p:nvPicPr>
          <p:cNvPr id="6" name="Picture 5">
            <a:extLst>
              <a:ext uri="{FF2B5EF4-FFF2-40B4-BE49-F238E27FC236}">
                <a16:creationId xmlns:a16="http://schemas.microsoft.com/office/drawing/2014/main" id="{E27BEB58-72DF-5CE4-C94F-401D7D3581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9225" y="492522"/>
            <a:ext cx="955643" cy="955643"/>
          </a:xfrm>
          <a:prstGeom prst="rect">
            <a:avLst/>
          </a:prstGeom>
        </p:spPr>
      </p:pic>
      <p:pic>
        <p:nvPicPr>
          <p:cNvPr id="10" name="Picture 9">
            <a:extLst>
              <a:ext uri="{FF2B5EF4-FFF2-40B4-BE49-F238E27FC236}">
                <a16:creationId xmlns:a16="http://schemas.microsoft.com/office/drawing/2014/main" id="{9E129B60-26EB-6E1E-DD69-C45F588587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594" y="4801663"/>
            <a:ext cx="5460274" cy="2056337"/>
          </a:xfrm>
          <a:prstGeom prst="rect">
            <a:avLst/>
          </a:prstGeom>
        </p:spPr>
      </p:pic>
    </p:spTree>
    <p:extLst>
      <p:ext uri="{BB962C8B-B14F-4D97-AF65-F5344CB8AC3E}">
        <p14:creationId xmlns:p14="http://schemas.microsoft.com/office/powerpoint/2010/main" val="3672885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Language Translator</a:t>
            </a:r>
          </a:p>
        </p:txBody>
      </p:sp>
      <p:sp>
        <p:nvSpPr>
          <p:cNvPr id="3" name="Content Placeholder 2"/>
          <p:cNvSpPr>
            <a:spLocks noGrp="1"/>
          </p:cNvSpPr>
          <p:nvPr>
            <p:ph idx="1"/>
          </p:nvPr>
        </p:nvSpPr>
        <p:spPr>
          <a:xfrm>
            <a:off x="2589211" y="2133600"/>
            <a:ext cx="9213147" cy="1905244"/>
          </a:xfrm>
        </p:spPr>
        <p:txBody>
          <a:bodyPr/>
          <a:lstStyle/>
          <a:p>
            <a:pPr algn="just"/>
            <a:r>
              <a:rPr lang="en-US" dirty="0"/>
              <a:t>Language translators </a:t>
            </a:r>
            <a:r>
              <a:rPr lang="en-US" b="1" dirty="0"/>
              <a:t>allow computer programmers to write sets of instructions in specific programming languages</a:t>
            </a:r>
            <a:r>
              <a:rPr lang="en-US" dirty="0"/>
              <a:t>. These instructions are converted by the language translator into machine code. The computer system then reads these machine code instructions and executes them.</a:t>
            </a:r>
          </a:p>
        </p:txBody>
      </p:sp>
      <p:pic>
        <p:nvPicPr>
          <p:cNvPr id="7170" name="Picture 2" descr="Translator in Computer System - Difference Between Language Transla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2427" y="3702252"/>
            <a:ext cx="5514927" cy="253163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E1EFCA41-7B66-4D71-A011-D172A5A2A1D3}" type="slidenum">
              <a:rPr lang="en-US" smtClean="0"/>
              <a:t>5</a:t>
            </a:fld>
            <a:endParaRPr lang="en-US"/>
          </a:p>
        </p:txBody>
      </p:sp>
    </p:spTree>
    <p:extLst>
      <p:ext uri="{BB962C8B-B14F-4D97-AF65-F5344CB8AC3E}">
        <p14:creationId xmlns:p14="http://schemas.microsoft.com/office/powerpoint/2010/main" val="239887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Language Translator</a:t>
            </a:r>
          </a:p>
        </p:txBody>
      </p:sp>
      <p:sp>
        <p:nvSpPr>
          <p:cNvPr id="3" name="Content Placeholder 2"/>
          <p:cNvSpPr>
            <a:spLocks noGrp="1"/>
          </p:cNvSpPr>
          <p:nvPr>
            <p:ph idx="1"/>
          </p:nvPr>
        </p:nvSpPr>
        <p:spPr>
          <a:xfrm>
            <a:off x="2449346" y="1448165"/>
            <a:ext cx="8915400" cy="1025069"/>
          </a:xfrm>
        </p:spPr>
        <p:txBody>
          <a:bodyPr>
            <a:normAutofit/>
          </a:bodyPr>
          <a:lstStyle/>
          <a:p>
            <a:pPr marL="457200" lvl="1" indent="0" algn="just">
              <a:buNone/>
            </a:pPr>
            <a:r>
              <a:rPr lang="en-US" b="1" dirty="0">
                <a:solidFill>
                  <a:schemeClr val="tx2">
                    <a:lumMod val="75000"/>
                  </a:schemeClr>
                </a:solidFill>
              </a:rPr>
              <a:t>Translator :</a:t>
            </a:r>
            <a:r>
              <a:rPr lang="en-US" b="1" dirty="0"/>
              <a:t>	</a:t>
            </a:r>
            <a:r>
              <a:rPr lang="en-US" dirty="0"/>
              <a:t>Assembler, Compiler and Interpreter</a:t>
            </a:r>
            <a:endParaRPr lang="en-US" b="1" dirty="0"/>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6</a:t>
            </a:fld>
            <a:endParaRPr lang="en-US"/>
          </a:p>
        </p:txBody>
      </p:sp>
      <p:pic>
        <p:nvPicPr>
          <p:cNvPr id="19" name="Picture 18">
            <a:extLst>
              <a:ext uri="{FF2B5EF4-FFF2-40B4-BE49-F238E27FC236}">
                <a16:creationId xmlns:a16="http://schemas.microsoft.com/office/drawing/2014/main" id="{C0CB081B-642B-EFAE-F13D-DA02CD3EA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789" y="1791181"/>
            <a:ext cx="3810000" cy="3467100"/>
          </a:xfrm>
          <a:prstGeom prst="rect">
            <a:avLst/>
          </a:prstGeom>
        </p:spPr>
      </p:pic>
      <p:pic>
        <p:nvPicPr>
          <p:cNvPr id="21" name="Picture 20">
            <a:extLst>
              <a:ext uri="{FF2B5EF4-FFF2-40B4-BE49-F238E27FC236}">
                <a16:creationId xmlns:a16="http://schemas.microsoft.com/office/drawing/2014/main" id="{002D4444-2D4F-08F9-2180-61620A49FFF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380" t="17591" r="7824" b="18082"/>
          <a:stretch/>
        </p:blipFill>
        <p:spPr>
          <a:xfrm>
            <a:off x="6209213" y="1899434"/>
            <a:ext cx="1473527" cy="1131149"/>
          </a:xfrm>
          <a:prstGeom prst="rect">
            <a:avLst/>
          </a:prstGeom>
        </p:spPr>
      </p:pic>
      <p:pic>
        <p:nvPicPr>
          <p:cNvPr id="23" name="Picture 22">
            <a:extLst>
              <a:ext uri="{FF2B5EF4-FFF2-40B4-BE49-F238E27FC236}">
                <a16:creationId xmlns:a16="http://schemas.microsoft.com/office/drawing/2014/main" id="{4E22207F-7D72-5ECD-5E7E-8A88B3AE26D2}"/>
              </a:ext>
            </a:extLst>
          </p:cNvPr>
          <p:cNvPicPr>
            <a:picLocks noChangeAspect="1"/>
          </p:cNvPicPr>
          <p:nvPr/>
        </p:nvPicPr>
        <p:blipFill rotWithShape="1">
          <a:blip r:embed="rId4">
            <a:extLst>
              <a:ext uri="{28A0092B-C50C-407E-A947-70E740481C1C}">
                <a14:useLocalDpi xmlns:a14="http://schemas.microsoft.com/office/drawing/2010/main" val="0"/>
              </a:ext>
            </a:extLst>
          </a:blip>
          <a:srcRect l="14477" t="63936" r="16857" b="9101"/>
          <a:stretch/>
        </p:blipFill>
        <p:spPr>
          <a:xfrm>
            <a:off x="6339839" y="3297289"/>
            <a:ext cx="4363346" cy="1285001"/>
          </a:xfrm>
          <a:prstGeom prst="rect">
            <a:avLst/>
          </a:prstGeom>
        </p:spPr>
      </p:pic>
      <p:pic>
        <p:nvPicPr>
          <p:cNvPr id="25" name="Picture 24">
            <a:extLst>
              <a:ext uri="{FF2B5EF4-FFF2-40B4-BE49-F238E27FC236}">
                <a16:creationId xmlns:a16="http://schemas.microsoft.com/office/drawing/2014/main" id="{E30088BB-0652-4931-F60B-C14ED6BAE03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39839" y="4728752"/>
            <a:ext cx="885009" cy="885009"/>
          </a:xfrm>
          <a:prstGeom prst="rect">
            <a:avLst/>
          </a:prstGeom>
        </p:spPr>
      </p:pic>
      <p:pic>
        <p:nvPicPr>
          <p:cNvPr id="27" name="Picture 26">
            <a:extLst>
              <a:ext uri="{FF2B5EF4-FFF2-40B4-BE49-F238E27FC236}">
                <a16:creationId xmlns:a16="http://schemas.microsoft.com/office/drawing/2014/main" id="{CB812453-FFB0-83F3-B6EF-B811B8D7D9F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4421" y="4734197"/>
            <a:ext cx="879564" cy="879564"/>
          </a:xfrm>
          <a:prstGeom prst="rect">
            <a:avLst/>
          </a:prstGeom>
        </p:spPr>
      </p:pic>
      <p:pic>
        <p:nvPicPr>
          <p:cNvPr id="29" name="Picture 28">
            <a:extLst>
              <a:ext uri="{FF2B5EF4-FFF2-40B4-BE49-F238E27FC236}">
                <a16:creationId xmlns:a16="http://schemas.microsoft.com/office/drawing/2014/main" id="{52EAE257-4145-ECEE-1D62-2FF60451E76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63558" y="4728752"/>
            <a:ext cx="1479769" cy="799075"/>
          </a:xfrm>
          <a:prstGeom prst="rect">
            <a:avLst/>
          </a:prstGeom>
        </p:spPr>
      </p:pic>
      <p:pic>
        <p:nvPicPr>
          <p:cNvPr id="31" name="Picture 30">
            <a:extLst>
              <a:ext uri="{FF2B5EF4-FFF2-40B4-BE49-F238E27FC236}">
                <a16:creationId xmlns:a16="http://schemas.microsoft.com/office/drawing/2014/main" id="{E669906B-BBCB-044C-5F71-AD50A3CFCF3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982518" y="2067469"/>
            <a:ext cx="1860809" cy="963114"/>
          </a:xfrm>
          <a:prstGeom prst="rect">
            <a:avLst/>
          </a:prstGeom>
        </p:spPr>
      </p:pic>
    </p:spTree>
    <p:extLst>
      <p:ext uri="{BB962C8B-B14F-4D97-AF65-F5344CB8AC3E}">
        <p14:creationId xmlns:p14="http://schemas.microsoft.com/office/powerpoint/2010/main" val="1268998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75617BC-E7EC-E8B0-5287-C403AFB81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0161" y="5254619"/>
            <a:ext cx="2721965" cy="1508478"/>
          </a:xfrm>
          <a:prstGeom prst="rect">
            <a:avLst/>
          </a:prstGeom>
        </p:spPr>
      </p:pic>
      <p:sp>
        <p:nvSpPr>
          <p:cNvPr id="2" name="Title 1"/>
          <p:cNvSpPr>
            <a:spLocks noGrp="1"/>
          </p:cNvSpPr>
          <p:nvPr>
            <p:ph type="title"/>
          </p:nvPr>
        </p:nvSpPr>
        <p:spPr>
          <a:xfrm>
            <a:off x="2610343" y="480733"/>
            <a:ext cx="8911687" cy="1280890"/>
          </a:xfrm>
        </p:spPr>
        <p:txBody>
          <a:bodyPr/>
          <a:lstStyle/>
          <a:p>
            <a:r>
              <a:rPr lang="en-US" b="1" dirty="0"/>
              <a:t>Utility Software</a:t>
            </a:r>
          </a:p>
        </p:txBody>
      </p:sp>
      <p:sp>
        <p:nvSpPr>
          <p:cNvPr id="3" name="Content Placeholder 2"/>
          <p:cNvSpPr>
            <a:spLocks noGrp="1"/>
          </p:cNvSpPr>
          <p:nvPr>
            <p:ph idx="1"/>
          </p:nvPr>
        </p:nvSpPr>
        <p:spPr>
          <a:xfrm>
            <a:off x="2449346" y="1169673"/>
            <a:ext cx="8915400" cy="1025069"/>
          </a:xfrm>
        </p:spPr>
        <p:txBody>
          <a:bodyPr>
            <a:normAutofit lnSpcReduction="10000"/>
          </a:bodyPr>
          <a:lstStyle/>
          <a:p>
            <a:pPr marL="457200" lvl="1" indent="0" algn="just">
              <a:buNone/>
            </a:pPr>
            <a:r>
              <a:rPr lang="en-US" dirty="0"/>
              <a:t>It is system software that enhance or extend the system software capabilities or offer new features not provided by Operating system. It keeps system updated , make sure system is working perfectly and protect the system and data from potential intrusion and damage.</a:t>
            </a:r>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7</a:t>
            </a:fld>
            <a:endParaRPr lang="en-US"/>
          </a:p>
        </p:txBody>
      </p:sp>
      <p:pic>
        <p:nvPicPr>
          <p:cNvPr id="7" name="Picture 6">
            <a:extLst>
              <a:ext uri="{FF2B5EF4-FFF2-40B4-BE49-F238E27FC236}">
                <a16:creationId xmlns:a16="http://schemas.microsoft.com/office/drawing/2014/main" id="{B2BF77E8-83C0-A43E-6CAD-5E80841928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20603" y="3052724"/>
            <a:ext cx="1477019" cy="1858185"/>
          </a:xfrm>
          <a:prstGeom prst="rect">
            <a:avLst/>
          </a:prstGeom>
        </p:spPr>
      </p:pic>
      <p:pic>
        <p:nvPicPr>
          <p:cNvPr id="9" name="Picture 8">
            <a:extLst>
              <a:ext uri="{FF2B5EF4-FFF2-40B4-BE49-F238E27FC236}">
                <a16:creationId xmlns:a16="http://schemas.microsoft.com/office/drawing/2014/main" id="{F69A9904-6A1E-55D3-F8A1-0762C026EBF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236" r="18975" b="9028"/>
          <a:stretch/>
        </p:blipFill>
        <p:spPr>
          <a:xfrm>
            <a:off x="10715799" y="4910909"/>
            <a:ext cx="1297894" cy="1881775"/>
          </a:xfrm>
          <a:prstGeom prst="rect">
            <a:avLst/>
          </a:prstGeom>
        </p:spPr>
      </p:pic>
      <p:pic>
        <p:nvPicPr>
          <p:cNvPr id="12" name="Picture 11">
            <a:extLst>
              <a:ext uri="{FF2B5EF4-FFF2-40B4-BE49-F238E27FC236}">
                <a16:creationId xmlns:a16="http://schemas.microsoft.com/office/drawing/2014/main" id="{34E96E11-C034-4CAF-7AB1-887DC93942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61670" y="3019697"/>
            <a:ext cx="2006152" cy="2006152"/>
          </a:xfrm>
          <a:prstGeom prst="rect">
            <a:avLst/>
          </a:prstGeom>
        </p:spPr>
      </p:pic>
      <p:pic>
        <p:nvPicPr>
          <p:cNvPr id="14" name="Picture 13">
            <a:extLst>
              <a:ext uri="{FF2B5EF4-FFF2-40B4-BE49-F238E27FC236}">
                <a16:creationId xmlns:a16="http://schemas.microsoft.com/office/drawing/2014/main" id="{09942EFD-C89C-E0F4-2EC6-ACA863D83E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68508" y="5210634"/>
            <a:ext cx="1943124" cy="1459502"/>
          </a:xfrm>
          <a:prstGeom prst="rect">
            <a:avLst/>
          </a:prstGeom>
        </p:spPr>
      </p:pic>
      <p:pic>
        <p:nvPicPr>
          <p:cNvPr id="18" name="Picture 17">
            <a:extLst>
              <a:ext uri="{FF2B5EF4-FFF2-40B4-BE49-F238E27FC236}">
                <a16:creationId xmlns:a16="http://schemas.microsoft.com/office/drawing/2014/main" id="{1E160A64-4A7C-8372-3598-ED030D4E2E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2467" y="5155473"/>
            <a:ext cx="1881851" cy="1637211"/>
          </a:xfrm>
          <a:prstGeom prst="rect">
            <a:avLst/>
          </a:prstGeom>
        </p:spPr>
      </p:pic>
      <p:pic>
        <p:nvPicPr>
          <p:cNvPr id="5" name="Picture 4">
            <a:extLst>
              <a:ext uri="{FF2B5EF4-FFF2-40B4-BE49-F238E27FC236}">
                <a16:creationId xmlns:a16="http://schemas.microsoft.com/office/drawing/2014/main" id="{7C5175D9-E444-4C2C-26FD-24CFE83F0972}"/>
              </a:ext>
            </a:extLst>
          </p:cNvPr>
          <p:cNvPicPr>
            <a:picLocks noChangeAspect="1"/>
          </p:cNvPicPr>
          <p:nvPr/>
        </p:nvPicPr>
        <p:blipFill>
          <a:blip r:embed="rId8"/>
          <a:stretch>
            <a:fillRect/>
          </a:stretch>
        </p:blipFill>
        <p:spPr>
          <a:xfrm>
            <a:off x="4018469" y="2184535"/>
            <a:ext cx="3871926" cy="2900442"/>
          </a:xfrm>
          <a:prstGeom prst="rect">
            <a:avLst/>
          </a:prstGeom>
        </p:spPr>
      </p:pic>
    </p:spTree>
    <p:extLst>
      <p:ext uri="{BB962C8B-B14F-4D97-AF65-F5344CB8AC3E}">
        <p14:creationId xmlns:p14="http://schemas.microsoft.com/office/powerpoint/2010/main" val="1157934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Device Drivers</a:t>
            </a:r>
          </a:p>
        </p:txBody>
      </p:sp>
      <p:sp>
        <p:nvSpPr>
          <p:cNvPr id="3" name="Content Placeholder 2"/>
          <p:cNvSpPr>
            <a:spLocks noGrp="1"/>
          </p:cNvSpPr>
          <p:nvPr>
            <p:ph idx="1"/>
          </p:nvPr>
        </p:nvSpPr>
        <p:spPr>
          <a:xfrm>
            <a:off x="2589211" y="2133599"/>
            <a:ext cx="5093633" cy="4323761"/>
          </a:xfrm>
        </p:spPr>
        <p:txBody>
          <a:bodyPr>
            <a:normAutofit fontScale="92500"/>
          </a:bodyPr>
          <a:lstStyle/>
          <a:p>
            <a:pPr algn="just"/>
            <a:r>
              <a:rPr lang="en-US" dirty="0"/>
              <a:t>A device driver is a piece of software that allows the operating system to communicate with a specific hardware device. It acts as an intermediary between the device and the operating system, translating the commands and requests of the operating system into actions that the device can understand and vice versa.</a:t>
            </a:r>
          </a:p>
          <a:p>
            <a:pPr algn="just"/>
            <a:r>
              <a:rPr lang="en-US" dirty="0"/>
              <a:t>Device drivers are essential for the proper functioning of hardware devices and are usually provided by the manufacturer of the device. They are usually specific to a particular device and operating system, and must be installed on the computer before the device can be used.</a:t>
            </a:r>
          </a:p>
        </p:txBody>
      </p:sp>
      <p:sp>
        <p:nvSpPr>
          <p:cNvPr id="5" name="Slide Number Placeholder 4"/>
          <p:cNvSpPr>
            <a:spLocks noGrp="1"/>
          </p:cNvSpPr>
          <p:nvPr>
            <p:ph type="sldNum" sz="quarter" idx="12"/>
          </p:nvPr>
        </p:nvSpPr>
        <p:spPr/>
        <p:txBody>
          <a:bodyPr/>
          <a:lstStyle/>
          <a:p>
            <a:fld id="{E1EFCA41-7B66-4D71-A011-D172A5A2A1D3}" type="slidenum">
              <a:rPr lang="en-US" smtClean="0"/>
              <a:t>8</a:t>
            </a:fld>
            <a:endParaRPr lang="en-US"/>
          </a:p>
        </p:txBody>
      </p:sp>
      <p:pic>
        <p:nvPicPr>
          <p:cNvPr id="7" name="Picture 6">
            <a:extLst>
              <a:ext uri="{FF2B5EF4-FFF2-40B4-BE49-F238E27FC236}">
                <a16:creationId xmlns:a16="http://schemas.microsoft.com/office/drawing/2014/main" id="{7E675DF1-0ADC-FE06-8B44-623348E2A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8878" y="1905000"/>
            <a:ext cx="4191254" cy="3646170"/>
          </a:xfrm>
          <a:prstGeom prst="rect">
            <a:avLst/>
          </a:prstGeom>
        </p:spPr>
      </p:pic>
    </p:spTree>
    <p:extLst>
      <p:ext uri="{BB962C8B-B14F-4D97-AF65-F5344CB8AC3E}">
        <p14:creationId xmlns:p14="http://schemas.microsoft.com/office/powerpoint/2010/main" val="1125280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software</a:t>
            </a:r>
          </a:p>
        </p:txBody>
      </p:sp>
      <p:sp>
        <p:nvSpPr>
          <p:cNvPr id="3" name="Content Placeholder 2"/>
          <p:cNvSpPr>
            <a:spLocks noGrp="1"/>
          </p:cNvSpPr>
          <p:nvPr>
            <p:ph idx="1"/>
          </p:nvPr>
        </p:nvSpPr>
        <p:spPr>
          <a:xfrm>
            <a:off x="2513798" y="1803662"/>
            <a:ext cx="8915400" cy="1872792"/>
          </a:xfrm>
        </p:spPr>
        <p:txBody>
          <a:bodyPr>
            <a:normAutofit fontScale="92500" lnSpcReduction="10000"/>
          </a:bodyPr>
          <a:lstStyle/>
          <a:p>
            <a:pPr algn="just"/>
            <a:r>
              <a:rPr lang="en-US" dirty="0"/>
              <a:t>Application software is a type of computer software that is designed to perform the user perform specific tasks. </a:t>
            </a:r>
          </a:p>
          <a:p>
            <a:pPr algn="just"/>
            <a:r>
              <a:rPr lang="en-US" dirty="0"/>
              <a:t>Examples of application software include word processors, spreadsheet programs, and media players. Unlike system software, which is responsible for the basic operation of the computer, application software is designed to perform more specialized tasks and is used by the user to complete specific work or personal projects.</a:t>
            </a:r>
          </a:p>
        </p:txBody>
      </p:sp>
      <p:pic>
        <p:nvPicPr>
          <p:cNvPr id="3076" name="Picture 4" descr="2 Main Types of Software with Examples - Tutorials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052" y="3745586"/>
            <a:ext cx="5519361" cy="293330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E1EFCA41-7B66-4D71-A011-D172A5A2A1D3}" type="slidenum">
              <a:rPr lang="en-US" smtClean="0"/>
              <a:t>9</a:t>
            </a:fld>
            <a:endParaRPr lang="en-US"/>
          </a:p>
        </p:txBody>
      </p:sp>
    </p:spTree>
    <p:extLst>
      <p:ext uri="{BB962C8B-B14F-4D97-AF65-F5344CB8AC3E}">
        <p14:creationId xmlns:p14="http://schemas.microsoft.com/office/powerpoint/2010/main" val="382815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General Purpose Software</a:t>
            </a:r>
          </a:p>
        </p:txBody>
      </p:sp>
      <p:sp>
        <p:nvSpPr>
          <p:cNvPr id="3" name="Content Placeholder 2"/>
          <p:cNvSpPr>
            <a:spLocks noGrp="1"/>
          </p:cNvSpPr>
          <p:nvPr>
            <p:ph idx="1"/>
          </p:nvPr>
        </p:nvSpPr>
        <p:spPr>
          <a:xfrm>
            <a:off x="2592925" y="1264555"/>
            <a:ext cx="8915400" cy="3777622"/>
          </a:xfrm>
        </p:spPr>
        <p:txBody>
          <a:bodyPr/>
          <a:lstStyle/>
          <a:p>
            <a:pPr algn="just"/>
            <a:r>
              <a:rPr lang="en-US" dirty="0"/>
              <a:t>General-purpose software is software that can be used for a wide range of tasks, rather than being designed specifically for a particular task or application. </a:t>
            </a:r>
          </a:p>
          <a:p>
            <a:pPr algn="just"/>
            <a:r>
              <a:rPr lang="en-US" dirty="0"/>
              <a:t>These types of software are designed to be flexible and can be used to perform a variety of different tasks, depending on how they are programmed and configured. </a:t>
            </a:r>
          </a:p>
          <a:p>
            <a:pPr algn="just"/>
            <a:r>
              <a:rPr lang="en-US" b="1" i="0" dirty="0">
                <a:solidFill>
                  <a:srgbClr val="454545"/>
                </a:solidFill>
                <a:effectLst/>
                <a:latin typeface="Verdana" panose="020B0604030504040204" pitchFamily="34" charset="0"/>
              </a:rPr>
              <a:t>Packaged software</a:t>
            </a:r>
            <a:r>
              <a:rPr lang="en-US" b="0" i="0" dirty="0">
                <a:solidFill>
                  <a:srgbClr val="454545"/>
                </a:solidFill>
                <a:effectLst/>
                <a:latin typeface="Verdana" panose="020B0604030504040204" pitchFamily="34" charset="0"/>
              </a:rPr>
              <a:t> is a collection of programs that perform similar functions or have similar features. For example, </a:t>
            </a:r>
            <a:r>
              <a:rPr lang="en-US" b="0" i="0" u="sng" strike="noStrike" dirty="0">
                <a:solidFill>
                  <a:schemeClr val="accent1">
                    <a:lumMod val="60000"/>
                    <a:lumOff val="40000"/>
                  </a:schemeClr>
                </a:solidFill>
                <a:effectLst/>
                <a:latin typeface="Verdana" panose="020B0604030504040204" pitchFamily="34" charset="0"/>
                <a:hlinkClick r:id="rId2">
                  <a:extLst>
                    <a:ext uri="{A12FA001-AC4F-418D-AE19-62706E023703}">
                      <ahyp:hlinkClr xmlns:ahyp="http://schemas.microsoft.com/office/drawing/2018/hyperlinkcolor" val="tx"/>
                    </a:ext>
                  </a:extLst>
                </a:hlinkClick>
              </a:rPr>
              <a:t>Microsoft</a:t>
            </a:r>
            <a:r>
              <a:rPr lang="en-US" b="0" i="0" u="sng" dirty="0">
                <a:solidFill>
                  <a:schemeClr val="accent1">
                    <a:lumMod val="60000"/>
                    <a:lumOff val="40000"/>
                  </a:schemeClr>
                </a:solidFill>
                <a:effectLst/>
                <a:latin typeface="Verdana" panose="020B0604030504040204" pitchFamily="34" charset="0"/>
              </a:rPr>
              <a:t> Office </a:t>
            </a:r>
            <a:r>
              <a:rPr lang="en-US" b="0" i="0" dirty="0">
                <a:solidFill>
                  <a:srgbClr val="454545"/>
                </a:solidFill>
                <a:effectLst/>
                <a:latin typeface="Verdana" panose="020B0604030504040204" pitchFamily="34" charset="0"/>
              </a:rPr>
              <a:t>includes multiple applications such as </a:t>
            </a:r>
            <a:r>
              <a:rPr lang="en-US" b="0" i="0" u="none" strike="noStrike" dirty="0">
                <a:solidFill>
                  <a:srgbClr val="2572CB"/>
                </a:solidFill>
                <a:effectLst/>
                <a:latin typeface="Verdana" panose="020B0604030504040204" pitchFamily="34" charset="0"/>
                <a:hlinkClick r:id="rId3"/>
              </a:rPr>
              <a:t>Excel</a:t>
            </a:r>
            <a:r>
              <a:rPr lang="en-US" b="0" i="0" dirty="0">
                <a:solidFill>
                  <a:srgbClr val="454545"/>
                </a:solidFill>
                <a:effectLst/>
                <a:latin typeface="Verdana" panose="020B0604030504040204" pitchFamily="34" charset="0"/>
              </a:rPr>
              <a:t>, </a:t>
            </a:r>
            <a:r>
              <a:rPr lang="en-US" b="0" i="0" u="none" strike="noStrike" dirty="0">
                <a:solidFill>
                  <a:srgbClr val="454545"/>
                </a:solidFill>
                <a:effectLst/>
                <a:latin typeface="Verdana" panose="020B0604030504040204" pitchFamily="34" charset="0"/>
                <a:hlinkClick r:id="rId4"/>
              </a:rPr>
              <a:t>Word</a:t>
            </a:r>
            <a:r>
              <a:rPr lang="en-US" b="0" i="0" dirty="0">
                <a:solidFill>
                  <a:srgbClr val="454545"/>
                </a:solidFill>
                <a:effectLst/>
                <a:latin typeface="Verdana" panose="020B0604030504040204" pitchFamily="34" charset="0"/>
              </a:rPr>
              <a:t>, and </a:t>
            </a:r>
            <a:r>
              <a:rPr lang="en-US" b="0" i="0" u="none" strike="noStrike" dirty="0">
                <a:solidFill>
                  <a:srgbClr val="2572CB"/>
                </a:solidFill>
                <a:effectLst/>
                <a:latin typeface="Verdana" panose="020B0604030504040204" pitchFamily="34" charset="0"/>
                <a:hlinkClick r:id="rId5"/>
              </a:rPr>
              <a:t>PowerPoint</a:t>
            </a:r>
            <a:r>
              <a:rPr lang="en-US" b="0" i="0" dirty="0">
                <a:solidFill>
                  <a:srgbClr val="454545"/>
                </a:solidFill>
                <a:effectLst/>
                <a:latin typeface="Verdana" panose="020B0604030504040204" pitchFamily="34" charset="0"/>
              </a:rPr>
              <a:t>. Video and audio editing software may also be available as packaged software, used for editing music and video files used in a movie.</a:t>
            </a: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10</a:t>
            </a:fld>
            <a:endParaRPr lang="en-US"/>
          </a:p>
        </p:txBody>
      </p:sp>
      <p:pic>
        <p:nvPicPr>
          <p:cNvPr id="6" name="Picture 5">
            <a:extLst>
              <a:ext uri="{FF2B5EF4-FFF2-40B4-BE49-F238E27FC236}">
                <a16:creationId xmlns:a16="http://schemas.microsoft.com/office/drawing/2014/main" id="{19C1643A-2503-C4E5-EA7D-0326BDD4FE2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2824" t="7112" r="18509" b="8191"/>
          <a:stretch/>
        </p:blipFill>
        <p:spPr>
          <a:xfrm>
            <a:off x="3309257" y="4725924"/>
            <a:ext cx="1297577" cy="1873341"/>
          </a:xfrm>
          <a:prstGeom prst="rect">
            <a:avLst/>
          </a:prstGeom>
        </p:spPr>
      </p:pic>
      <p:pic>
        <p:nvPicPr>
          <p:cNvPr id="8" name="Picture 7">
            <a:extLst>
              <a:ext uri="{FF2B5EF4-FFF2-40B4-BE49-F238E27FC236}">
                <a16:creationId xmlns:a16="http://schemas.microsoft.com/office/drawing/2014/main" id="{1301E29B-0509-57A8-1B14-9D6BC4F56A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11387" y="4745951"/>
            <a:ext cx="1235170" cy="1873341"/>
          </a:xfrm>
          <a:prstGeom prst="rect">
            <a:avLst/>
          </a:prstGeom>
        </p:spPr>
      </p:pic>
    </p:spTree>
    <p:extLst>
      <p:ext uri="{BB962C8B-B14F-4D97-AF65-F5344CB8AC3E}">
        <p14:creationId xmlns:p14="http://schemas.microsoft.com/office/powerpoint/2010/main" val="47831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Special purpose/ Tailored Software</a:t>
            </a:r>
          </a:p>
        </p:txBody>
      </p:sp>
      <p:sp>
        <p:nvSpPr>
          <p:cNvPr id="3" name="Content Placeholder 2"/>
          <p:cNvSpPr>
            <a:spLocks noGrp="1"/>
          </p:cNvSpPr>
          <p:nvPr>
            <p:ph idx="1"/>
          </p:nvPr>
        </p:nvSpPr>
        <p:spPr/>
        <p:txBody>
          <a:bodyPr>
            <a:normAutofit/>
          </a:bodyPr>
          <a:lstStyle/>
          <a:p>
            <a:pPr algn="just"/>
            <a:r>
              <a:rPr lang="en-US" dirty="0"/>
              <a:t>Tailored software, also known as custom software or bespoke software, is software that is developed specifically for a particular organization or user. It is designed to meet the specific needs and requirements of the organization or user, and is not generally available to the public.</a:t>
            </a:r>
          </a:p>
          <a:p>
            <a:pPr algn="just"/>
            <a:r>
              <a:rPr lang="en-US" dirty="0"/>
              <a:t> Tailored software is often used to solve a specific problem or to automate a specific process within an organization, and is typically more expensive to develop than off-the-shelf software because it is developed specifically for a single client. </a:t>
            </a:r>
          </a:p>
          <a:p>
            <a:pPr algn="just"/>
            <a:r>
              <a:rPr lang="en-US" dirty="0"/>
              <a:t>However, it can provide a number of benefits, such as increased efficiency, improved accuracy, and better integration with existing systems, that can outweigh the higher initial cost.</a:t>
            </a:r>
          </a:p>
          <a:p>
            <a:pPr algn="just"/>
            <a:r>
              <a:rPr lang="en-US" dirty="0"/>
              <a:t>Example: Ticket Booking system, Employee Management system etc.</a:t>
            </a: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11</a:t>
            </a:fld>
            <a:endParaRPr lang="en-US"/>
          </a:p>
        </p:txBody>
      </p:sp>
    </p:spTree>
    <p:extLst>
      <p:ext uri="{BB962C8B-B14F-4D97-AF65-F5344CB8AC3E}">
        <p14:creationId xmlns:p14="http://schemas.microsoft.com/office/powerpoint/2010/main" val="2584934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9</a:t>
            </a:r>
          </a:p>
        </p:txBody>
      </p:sp>
      <p:sp>
        <p:nvSpPr>
          <p:cNvPr id="3" name="Content Placeholder 2"/>
          <p:cNvSpPr>
            <a:spLocks noGrp="1"/>
          </p:cNvSpPr>
          <p:nvPr>
            <p:ph idx="1"/>
          </p:nvPr>
        </p:nvSpPr>
        <p:spPr/>
        <p:txBody>
          <a:bodyPr>
            <a:normAutofit/>
          </a:bodyPr>
          <a:lstStyle/>
          <a:p>
            <a:pPr algn="just"/>
            <a:r>
              <a:rPr lang="en-US" sz="2400" dirty="0"/>
              <a:t>What is Software? What are the types of software? Explain with proper example.</a:t>
            </a:r>
          </a:p>
        </p:txBody>
      </p:sp>
      <p:sp>
        <p:nvSpPr>
          <p:cNvPr id="4" name="Slide Number Placeholder 3"/>
          <p:cNvSpPr>
            <a:spLocks noGrp="1"/>
          </p:cNvSpPr>
          <p:nvPr>
            <p:ph type="sldNum" sz="quarter" idx="12"/>
          </p:nvPr>
        </p:nvSpPr>
        <p:spPr/>
        <p:txBody>
          <a:bodyPr/>
          <a:lstStyle/>
          <a:p>
            <a:fld id="{E1EFCA41-7B66-4D71-A011-D172A5A2A1D3}" type="slidenum">
              <a:rPr lang="en-US" smtClean="0"/>
              <a:t>12</a:t>
            </a:fld>
            <a:endParaRPr lang="en-US"/>
          </a:p>
        </p:txBody>
      </p:sp>
    </p:spTree>
    <p:extLst>
      <p:ext uri="{BB962C8B-B14F-4D97-AF65-F5344CB8AC3E}">
        <p14:creationId xmlns:p14="http://schemas.microsoft.com/office/powerpoint/2010/main" val="3353673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Acquisition</a:t>
            </a:r>
          </a:p>
        </p:txBody>
      </p:sp>
      <p:sp>
        <p:nvSpPr>
          <p:cNvPr id="3" name="Content Placeholder 2"/>
          <p:cNvSpPr>
            <a:spLocks noGrp="1"/>
          </p:cNvSpPr>
          <p:nvPr>
            <p:ph idx="1"/>
          </p:nvPr>
        </p:nvSpPr>
        <p:spPr/>
        <p:txBody>
          <a:bodyPr>
            <a:normAutofit fontScale="85000" lnSpcReduction="10000"/>
          </a:bodyPr>
          <a:lstStyle/>
          <a:p>
            <a:pPr marL="0" indent="0" algn="just">
              <a:buNone/>
            </a:pPr>
            <a:r>
              <a:rPr lang="en-US" b="0" i="0" dirty="0">
                <a:solidFill>
                  <a:srgbClr val="212529"/>
                </a:solidFill>
                <a:effectLst/>
                <a:latin typeface="Arial" panose="020B0604020202020204" pitchFamily="34" charset="0"/>
              </a:rPr>
              <a:t>The act or process of acquiring software in different ways like purchase, download free from internet or get it bundled along with hardware is called software acquisition. It is the way in which the software are made available to users.</a:t>
            </a:r>
          </a:p>
          <a:p>
            <a:pPr marL="0" indent="0" algn="just">
              <a:buNone/>
            </a:pPr>
            <a:endParaRPr lang="en-US" b="0" i="0" dirty="0">
              <a:solidFill>
                <a:srgbClr val="212529"/>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Some of the ways in which the software are made available to users are as follows: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Retail software: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the software sold in retail stores. It comes with printed manuals and installation instructions. For E.g. MS windows OS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Original Equipment Manufacturer (OEM) software: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refers to software which is sold, and bundled with hardware. Microsoft sells its operating system as OEM software to hardware dealers. OEM software is sold at reduced price, without the manuals, packaging and installation instructions.</a:t>
            </a:r>
            <a:b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Shareware: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a program that the user is allowed to try for free, for a specified period of time, as defined in the license. It is downloadable from the Internet. When the trial period ends, the software must be purchased or uninstalled.</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endParaRP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13</a:t>
            </a:fld>
            <a:endParaRPr lang="en-US"/>
          </a:p>
        </p:txBody>
      </p:sp>
    </p:spTree>
    <p:extLst>
      <p:ext uri="{BB962C8B-B14F-4D97-AF65-F5344CB8AC3E}">
        <p14:creationId xmlns:p14="http://schemas.microsoft.com/office/powerpoint/2010/main" val="191158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Acquisition</a:t>
            </a:r>
          </a:p>
        </p:txBody>
      </p:sp>
      <p:sp>
        <p:nvSpPr>
          <p:cNvPr id="3" name="Content Placeholder 2"/>
          <p:cNvSpPr>
            <a:spLocks noGrp="1"/>
          </p:cNvSpPr>
          <p:nvPr>
            <p:ph idx="1"/>
          </p:nvPr>
        </p:nvSpPr>
        <p:spPr/>
        <p:txBody>
          <a:bodyPr>
            <a:normAutofit fontScale="850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Freeware: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software that is free for personal use. It is downloadable from the Internet. The commercial use of this software may require a paid license. The author of the freeware software is the owner of the software, though others may use it for free. The users abide by the license terms, where the user cannot make changes to it, or sell it to someone else.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Open source software: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software whose source code is available and can be customized and altered within the specified guidelines laid down by the creator. Unlike public domain software, open-source software has restrictions on their use and modification, redistribution limitations, and copyrights. Linux, Apache, Firefox, OpenOffice are some examples of open-source software.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Public Domain Software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free software. Unlike freeware, public domain software does not have a copyright owner or license restrictions. The source code is publicly available for anyone to use. Public domain software can be modified by the user.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Wingdings" panose="05000000000000000000" pitchFamily="2" charset="2"/>
              </a:rPr>
              <a:t>§</a:t>
            </a:r>
            <a:r>
              <a:rPr kumimoji="0" lang="en-US" altLang="en-US" sz="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r>
              <a:rPr kumimoji="0" lang="en-US" altLang="en-US" sz="1800" b="1" i="1" u="none" strike="noStrike" cap="none" normalizeH="0" baseline="0" dirty="0">
                <a:ln>
                  <a:noFill/>
                </a:ln>
                <a:solidFill>
                  <a:srgbClr val="212529"/>
                </a:solidFill>
                <a:effectLst/>
                <a:latin typeface="Arial" panose="020B0604020202020204" pitchFamily="34" charset="0"/>
                <a:cs typeface="Arial" panose="020B0604020202020204" pitchFamily="34" charset="0"/>
              </a:rPr>
              <a:t>Demo Software:</a:t>
            </a:r>
            <a:r>
              <a:rPr kumimoji="0" lang="en-US" altLang="en-US" sz="1800" b="0" i="0" u="none" strike="noStrike" cap="none" normalizeH="0" baseline="0" dirty="0">
                <a:ln>
                  <a:noFill/>
                </a:ln>
                <a:solidFill>
                  <a:srgbClr val="212529"/>
                </a:solidFill>
                <a:effectLst/>
                <a:latin typeface="Arial" panose="020B0604020202020204" pitchFamily="34" charset="0"/>
                <a:cs typeface="Arial" panose="020B0604020202020204" pitchFamily="34" charset="0"/>
              </a:rPr>
              <a:t> It is designed to demonstrate what a purchased version of the software is capable of doing and provides a restricted set of features. To use the software, the user must buy a fully- functional version.</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imes New Roman" panose="02020603050405020304" pitchFamily="18"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endParaRP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14</a:t>
            </a:fld>
            <a:endParaRPr lang="en-US"/>
          </a:p>
        </p:txBody>
      </p:sp>
    </p:spTree>
    <p:extLst>
      <p:ext uri="{BB962C8B-B14F-4D97-AF65-F5344CB8AC3E}">
        <p14:creationId xmlns:p14="http://schemas.microsoft.com/office/powerpoint/2010/main" val="2319370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Operating System</a:t>
            </a:r>
          </a:p>
        </p:txBody>
      </p:sp>
      <p:sp>
        <p:nvSpPr>
          <p:cNvPr id="3" name="Content Placeholder 2"/>
          <p:cNvSpPr>
            <a:spLocks noGrp="1"/>
          </p:cNvSpPr>
          <p:nvPr>
            <p:ph idx="1"/>
          </p:nvPr>
        </p:nvSpPr>
        <p:spPr>
          <a:xfrm>
            <a:off x="2615690" y="2423474"/>
            <a:ext cx="9091350" cy="4006222"/>
          </a:xfrm>
        </p:spPr>
        <p:txBody>
          <a:bodyPr/>
          <a:lstStyle/>
          <a:p>
            <a:pPr algn="just"/>
            <a:r>
              <a:rPr lang="en-US" dirty="0"/>
              <a:t>An operating system (OS) is a software program that manages the hardware and software resources of a computer.</a:t>
            </a:r>
          </a:p>
          <a:p>
            <a:pPr algn="just"/>
            <a:r>
              <a:rPr lang="en-US" dirty="0"/>
              <a:t> It acts as a intermediary between the computer's hardware and the programs that run on it, providing a layer of abstraction between the two. </a:t>
            </a:r>
          </a:p>
          <a:p>
            <a:pPr algn="just"/>
            <a:r>
              <a:rPr lang="en-US" dirty="0"/>
              <a:t>Some examples of operating systems include Windows, </a:t>
            </a:r>
            <a:r>
              <a:rPr lang="en-US" dirty="0" err="1"/>
              <a:t>MacOS</a:t>
            </a:r>
            <a:r>
              <a:rPr lang="en-US" dirty="0"/>
              <a:t>, and Linux.</a:t>
            </a:r>
          </a:p>
          <a:p>
            <a:pPr algn="just"/>
            <a:r>
              <a:rPr lang="en-US" dirty="0"/>
              <a:t>There are several advantages of an operating system, including:</a:t>
            </a:r>
          </a:p>
          <a:p>
            <a:pPr marL="0" indent="0" algn="just">
              <a:buNone/>
            </a:pPr>
            <a:r>
              <a:rPr lang="en-US" dirty="0"/>
              <a:t>Resource management, security, compatibility, multitasking, memory management etc.</a:t>
            </a:r>
          </a:p>
        </p:txBody>
      </p:sp>
      <p:sp>
        <p:nvSpPr>
          <p:cNvPr id="4" name="Slide Number Placeholder 3"/>
          <p:cNvSpPr>
            <a:spLocks noGrp="1"/>
          </p:cNvSpPr>
          <p:nvPr>
            <p:ph type="sldNum" sz="quarter" idx="12"/>
          </p:nvPr>
        </p:nvSpPr>
        <p:spPr/>
        <p:txBody>
          <a:bodyPr/>
          <a:lstStyle/>
          <a:p>
            <a:fld id="{E1EFCA41-7B66-4D71-A011-D172A5A2A1D3}" type="slidenum">
              <a:rPr lang="en-US" smtClean="0"/>
              <a:t>15</a:t>
            </a:fld>
            <a:endParaRPr lang="en-US"/>
          </a:p>
        </p:txBody>
      </p:sp>
    </p:spTree>
    <p:extLst>
      <p:ext uri="{BB962C8B-B14F-4D97-AF65-F5344CB8AC3E}">
        <p14:creationId xmlns:p14="http://schemas.microsoft.com/office/powerpoint/2010/main" val="1592492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 of Operating system</a:t>
            </a:r>
          </a:p>
        </p:txBody>
      </p:sp>
      <p:sp>
        <p:nvSpPr>
          <p:cNvPr id="3" name="Content Placeholder 2"/>
          <p:cNvSpPr>
            <a:spLocks noGrp="1"/>
          </p:cNvSpPr>
          <p:nvPr>
            <p:ph idx="1"/>
          </p:nvPr>
        </p:nvSpPr>
        <p:spPr>
          <a:xfrm>
            <a:off x="2457236" y="1794235"/>
            <a:ext cx="9524231" cy="4724400"/>
          </a:xfrm>
        </p:spPr>
        <p:txBody>
          <a:bodyPr>
            <a:normAutofit/>
          </a:bodyPr>
          <a:lstStyle/>
          <a:p>
            <a:pPr marL="0" indent="0" algn="just">
              <a:buNone/>
            </a:pPr>
            <a:r>
              <a:rPr lang="en-US" dirty="0"/>
              <a:t>An operating system (OS) performs several functions to manage the resources of a computer and provide an interface for interacting with the computer. These functions include:</a:t>
            </a:r>
          </a:p>
          <a:p>
            <a:pPr algn="just"/>
            <a:r>
              <a:rPr lang="en-US" b="1" dirty="0"/>
              <a:t>Memory management: </a:t>
            </a:r>
            <a:r>
              <a:rPr lang="en-US" dirty="0"/>
              <a:t>The OS manages the computer's memory, allocating memory to running programs and ensuring that the computer does not run out of memory.</a:t>
            </a:r>
          </a:p>
          <a:p>
            <a:pPr algn="just"/>
            <a:r>
              <a:rPr lang="en-US" b="1" dirty="0"/>
              <a:t>Process management: </a:t>
            </a:r>
            <a:r>
              <a:rPr lang="en-US" dirty="0"/>
              <a:t>The OS manages the execution of processes, including creating, scheduling, and terminating processes.</a:t>
            </a:r>
          </a:p>
          <a:p>
            <a:pPr algn="just"/>
            <a:r>
              <a:rPr lang="en-US" b="1" dirty="0"/>
              <a:t>Input / Output management: </a:t>
            </a:r>
            <a:r>
              <a:rPr lang="en-US" dirty="0"/>
              <a:t>The OS manages the communication between the computer and its input/output devices, such as the keyboard, mouse, and monitor.</a:t>
            </a:r>
          </a:p>
          <a:p>
            <a:pPr algn="just"/>
            <a:r>
              <a:rPr lang="en-US" b="1" dirty="0"/>
              <a:t>File management: </a:t>
            </a:r>
            <a:r>
              <a:rPr lang="en-US" dirty="0"/>
              <a:t>The OS manages the organization and access of files on the computer's storage devices, including creating, deleting, and modifying files.</a:t>
            </a:r>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16</a:t>
            </a:fld>
            <a:endParaRPr lang="en-US"/>
          </a:p>
        </p:txBody>
      </p:sp>
    </p:spTree>
    <p:extLst>
      <p:ext uri="{BB962C8B-B14F-4D97-AF65-F5344CB8AC3E}">
        <p14:creationId xmlns:p14="http://schemas.microsoft.com/office/powerpoint/2010/main" val="1507340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 of Operating system</a:t>
            </a:r>
          </a:p>
        </p:txBody>
      </p:sp>
      <p:sp>
        <p:nvSpPr>
          <p:cNvPr id="3" name="Content Placeholder 2"/>
          <p:cNvSpPr>
            <a:spLocks noGrp="1"/>
          </p:cNvSpPr>
          <p:nvPr>
            <p:ph idx="1"/>
          </p:nvPr>
        </p:nvSpPr>
        <p:spPr>
          <a:xfrm>
            <a:off x="2592925" y="1905000"/>
            <a:ext cx="9297988" cy="4597138"/>
          </a:xfrm>
        </p:spPr>
        <p:txBody>
          <a:bodyPr>
            <a:normAutofit/>
          </a:bodyPr>
          <a:lstStyle/>
          <a:p>
            <a:pPr algn="just"/>
            <a:r>
              <a:rPr lang="en-US" b="1" dirty="0"/>
              <a:t>Protection and Security: </a:t>
            </a:r>
            <a:r>
              <a:rPr lang="en-US" dirty="0"/>
              <a:t>The OS provides security features, such as user authentication and file permissions, to prevent unauthorized access to the computer and </a:t>
            </a:r>
            <a:r>
              <a:rPr lang="en-US"/>
              <a:t>its files . </a:t>
            </a:r>
            <a:r>
              <a:rPr lang="en-US" dirty="0"/>
              <a:t>The OS detects and recovers from errors, such as system crashes, to keep the computer running smoothly.</a:t>
            </a:r>
          </a:p>
          <a:p>
            <a:pPr algn="just"/>
            <a:r>
              <a:rPr lang="en-US" b="1" dirty="0"/>
              <a:t>Device management: </a:t>
            </a:r>
            <a:r>
              <a:rPr lang="en-US" dirty="0"/>
              <a:t>The OS is responsible for managing the hardware devices, such as disk drives, printers, and other peripherals, and ensuring their proper functioning.</a:t>
            </a: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17</a:t>
            </a:fld>
            <a:endParaRPr lang="en-US"/>
          </a:p>
        </p:txBody>
      </p:sp>
    </p:spTree>
    <p:extLst>
      <p:ext uri="{BB962C8B-B14F-4D97-AF65-F5344CB8AC3E}">
        <p14:creationId xmlns:p14="http://schemas.microsoft.com/office/powerpoint/2010/main" val="3298863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Operating System</a:t>
            </a:r>
          </a:p>
        </p:txBody>
      </p:sp>
      <p:sp>
        <p:nvSpPr>
          <p:cNvPr id="3" name="Content Placeholder 2"/>
          <p:cNvSpPr>
            <a:spLocks noGrp="1"/>
          </p:cNvSpPr>
          <p:nvPr>
            <p:ph idx="1"/>
          </p:nvPr>
        </p:nvSpPr>
        <p:spPr/>
        <p:txBody>
          <a:bodyPr>
            <a:normAutofit/>
          </a:bodyPr>
          <a:lstStyle/>
          <a:p>
            <a:pPr marL="0" indent="0" algn="just">
              <a:buNone/>
            </a:pPr>
            <a:r>
              <a:rPr lang="en-US" b="1" dirty="0">
                <a:solidFill>
                  <a:schemeClr val="accent1">
                    <a:lumMod val="60000"/>
                    <a:lumOff val="40000"/>
                  </a:schemeClr>
                </a:solidFill>
              </a:rPr>
              <a:t>On the basis of User</a:t>
            </a:r>
          </a:p>
          <a:p>
            <a:pPr algn="just"/>
            <a:r>
              <a:rPr lang="en-US" b="1" dirty="0"/>
              <a:t>Single-user, single-tasking OS: </a:t>
            </a:r>
            <a:r>
              <a:rPr lang="en-US" dirty="0"/>
              <a:t>These operating systems are designed to be used by one person at a time and can only run one program at a time. Examples include DOS and Windows 3.x.</a:t>
            </a:r>
          </a:p>
          <a:p>
            <a:pPr algn="just"/>
            <a:r>
              <a:rPr lang="en-US" b="1" dirty="0"/>
              <a:t>Single-user, multi-tasking OS: </a:t>
            </a:r>
            <a:r>
              <a:rPr lang="en-US" dirty="0"/>
              <a:t>These operating systems are designed to be used by one person at a time, but can run multiple programs simultaneously. Examples include Windows and Mac OS.</a:t>
            </a:r>
          </a:p>
          <a:p>
            <a:pPr algn="just"/>
            <a:r>
              <a:rPr lang="en-US" b="1" dirty="0"/>
              <a:t>Multi-user, Time sharing OS: </a:t>
            </a:r>
            <a:r>
              <a:rPr lang="en-US" dirty="0"/>
              <a:t>These operating systems allow multiple users to access the computer simultaneously. Examples include UNIX and Linux.</a:t>
            </a: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18</a:t>
            </a:fld>
            <a:endParaRPr lang="en-US"/>
          </a:p>
        </p:txBody>
      </p:sp>
    </p:spTree>
    <p:extLst>
      <p:ext uri="{BB962C8B-B14F-4D97-AF65-F5344CB8AC3E}">
        <p14:creationId xmlns:p14="http://schemas.microsoft.com/office/powerpoint/2010/main" val="5383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Operating System</a:t>
            </a:r>
          </a:p>
        </p:txBody>
      </p:sp>
      <p:sp>
        <p:nvSpPr>
          <p:cNvPr id="3" name="Content Placeholder 2"/>
          <p:cNvSpPr>
            <a:spLocks noGrp="1"/>
          </p:cNvSpPr>
          <p:nvPr>
            <p:ph idx="1"/>
          </p:nvPr>
        </p:nvSpPr>
        <p:spPr>
          <a:xfrm>
            <a:off x="2589212" y="1558834"/>
            <a:ext cx="8915400" cy="5181600"/>
          </a:xfrm>
        </p:spPr>
        <p:txBody>
          <a:bodyPr>
            <a:normAutofit fontScale="85000" lnSpcReduction="20000"/>
          </a:bodyPr>
          <a:lstStyle/>
          <a:p>
            <a:pPr marL="0" indent="0" algn="just">
              <a:buNone/>
            </a:pPr>
            <a:r>
              <a:rPr lang="en-US" b="1" dirty="0">
                <a:solidFill>
                  <a:schemeClr val="accent1">
                    <a:lumMod val="60000"/>
                    <a:lumOff val="40000"/>
                  </a:schemeClr>
                </a:solidFill>
              </a:rPr>
              <a:t>On the basis of Processing method</a:t>
            </a:r>
            <a:endParaRPr lang="en-US" b="1" dirty="0"/>
          </a:p>
          <a:p>
            <a:pPr algn="just"/>
            <a:r>
              <a:rPr lang="en-US" b="1" dirty="0"/>
              <a:t>Multiprogramming</a:t>
            </a:r>
            <a:r>
              <a:rPr lang="en-US" dirty="0"/>
              <a:t> is a method of executing multiple tasks or processes at the same time, using a single processor. The goal of multiprogramming is to increase the overall utilization of the processor by interleaving the execution of multiple tasks. Suppose, the currently running process is perming an I/O task, at that time it don’t not need CPU, and CPU becomes idle. Then the OS may interrupt that process and give the control to one of the other in main memory programs that are ready to execute. In this way no CPU time is wasted.</a:t>
            </a:r>
          </a:p>
          <a:p>
            <a:pPr marL="0" indent="0" algn="just">
              <a:buNone/>
            </a:pPr>
            <a:endParaRPr lang="en-US" dirty="0"/>
          </a:p>
          <a:p>
            <a:pPr algn="just"/>
            <a:r>
              <a:rPr lang="en-US" b="1" dirty="0"/>
              <a:t>Multitasking </a:t>
            </a:r>
            <a:r>
              <a:rPr lang="en-US" dirty="0"/>
              <a:t>is a method of executing multiple tasks or processes at the same time, using a single processor. Though we say so but in reality no two tasks on a processor machine can be executed at the same time. Actually, CPU switches from one task to the next task so quickly that it appears as if all the tasks are executing at the same time. The goal of multitasking is to utilize the CPU efficiently and reduce the response time.</a:t>
            </a:r>
          </a:p>
          <a:p>
            <a:pPr marL="857250" lvl="1" indent="-400050" algn="just">
              <a:buFont typeface="+mj-lt"/>
              <a:buAutoNum type="romanLcPeriod"/>
            </a:pPr>
            <a:r>
              <a:rPr lang="en-US" dirty="0"/>
              <a:t>Preemptive(Time slicing) Multitasking: </a:t>
            </a:r>
          </a:p>
          <a:p>
            <a:pPr marL="857250" lvl="1" indent="-400050" algn="just">
              <a:buFont typeface="+mj-lt"/>
              <a:buAutoNum type="romanLcPeriod"/>
            </a:pPr>
            <a:r>
              <a:rPr lang="en-US" dirty="0"/>
              <a:t>Co-operative Multitasking: Foreground and Background</a:t>
            </a:r>
          </a:p>
          <a:p>
            <a:pPr marL="0" indent="0" algn="just">
              <a:buNone/>
            </a:pPr>
            <a:endParaRPr lang="en-US" dirty="0"/>
          </a:p>
          <a:p>
            <a:pPr algn="just"/>
            <a:r>
              <a:rPr lang="en-US" b="1" dirty="0"/>
              <a:t>Multiprocessing</a:t>
            </a:r>
            <a:r>
              <a:rPr lang="en-US" dirty="0"/>
              <a:t> is a method of executing multiple tasks or processes at the same time, using multiple processors or cores. The goal of multiprocessing is to increase the overall performance and speed of a computer by breaking down a large task into smaller, more manageable chunks and executing them simultaneously on separate processors or cores.</a:t>
            </a:r>
          </a:p>
        </p:txBody>
      </p:sp>
      <p:sp>
        <p:nvSpPr>
          <p:cNvPr id="4" name="Slide Number Placeholder 3"/>
          <p:cNvSpPr>
            <a:spLocks noGrp="1"/>
          </p:cNvSpPr>
          <p:nvPr>
            <p:ph type="sldNum" sz="quarter" idx="12"/>
          </p:nvPr>
        </p:nvSpPr>
        <p:spPr/>
        <p:txBody>
          <a:bodyPr/>
          <a:lstStyle/>
          <a:p>
            <a:fld id="{E1EFCA41-7B66-4D71-A011-D172A5A2A1D3}" type="slidenum">
              <a:rPr lang="en-US" smtClean="0"/>
              <a:t>19</a:t>
            </a:fld>
            <a:endParaRPr lang="en-US"/>
          </a:p>
        </p:txBody>
      </p:sp>
      <p:pic>
        <p:nvPicPr>
          <p:cNvPr id="6" name="Picture 5">
            <a:extLst>
              <a:ext uri="{FF2B5EF4-FFF2-40B4-BE49-F238E27FC236}">
                <a16:creationId xmlns:a16="http://schemas.microsoft.com/office/drawing/2014/main" id="{60BC1D5A-80ED-30DE-0B41-50BADECB90A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29" r="6584"/>
          <a:stretch/>
        </p:blipFill>
        <p:spPr>
          <a:xfrm>
            <a:off x="426719" y="5334635"/>
            <a:ext cx="2162493" cy="1349827"/>
          </a:xfrm>
          <a:prstGeom prst="rect">
            <a:avLst/>
          </a:prstGeom>
        </p:spPr>
      </p:pic>
      <p:pic>
        <p:nvPicPr>
          <p:cNvPr id="8" name="Picture 7">
            <a:extLst>
              <a:ext uri="{FF2B5EF4-FFF2-40B4-BE49-F238E27FC236}">
                <a16:creationId xmlns:a16="http://schemas.microsoft.com/office/drawing/2014/main" id="{FD2B9D96-0BC6-FE69-6BEC-3625D36C1B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714" t="5876" r="14357"/>
          <a:stretch/>
        </p:blipFill>
        <p:spPr>
          <a:xfrm>
            <a:off x="383174" y="3499208"/>
            <a:ext cx="2264228" cy="1647018"/>
          </a:xfrm>
          <a:prstGeom prst="rect">
            <a:avLst/>
          </a:prstGeom>
        </p:spPr>
      </p:pic>
    </p:spTree>
    <p:extLst>
      <p:ext uri="{BB962C8B-B14F-4D97-AF65-F5344CB8AC3E}">
        <p14:creationId xmlns:p14="http://schemas.microsoft.com/office/powerpoint/2010/main" val="1345020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Operating System</a:t>
            </a:r>
          </a:p>
        </p:txBody>
      </p:sp>
      <p:sp>
        <p:nvSpPr>
          <p:cNvPr id="3" name="Content Placeholder 2"/>
          <p:cNvSpPr>
            <a:spLocks noGrp="1"/>
          </p:cNvSpPr>
          <p:nvPr>
            <p:ph idx="1"/>
          </p:nvPr>
        </p:nvSpPr>
        <p:spPr/>
        <p:txBody>
          <a:bodyPr>
            <a:normAutofit fontScale="92500" lnSpcReduction="10000"/>
          </a:bodyPr>
          <a:lstStyle/>
          <a:p>
            <a:pPr algn="just"/>
            <a:r>
              <a:rPr lang="en-US" b="1" dirty="0"/>
              <a:t>Batch Processing OS: </a:t>
            </a:r>
            <a:r>
              <a:rPr lang="en-US" dirty="0"/>
              <a:t>A batch processing operating system (OS) is a type of operating system that is specifically designed to manage and execute batch jobs. Batch of tasks which requires similar resources are created first. It was used in second generation computers where punch cards and magnetic tapes were used. These systems are optimized for efficient processing of large volumes of data, and are often used in situations where a large number of similar tasks need to be executed.</a:t>
            </a:r>
          </a:p>
          <a:p>
            <a:pPr algn="just"/>
            <a:r>
              <a:rPr lang="en-US" b="1" dirty="0"/>
              <a:t>Real-time OS: </a:t>
            </a:r>
            <a:r>
              <a:rPr lang="en-US" dirty="0"/>
              <a:t>These operating systems are designed to handle time-sensitive tasks, such as controlling industrial systems or managing scientific experiments. Examples include Vx Works and QNX.</a:t>
            </a:r>
          </a:p>
          <a:p>
            <a:pPr algn="just"/>
            <a:r>
              <a:rPr lang="en-US" b="1" dirty="0"/>
              <a:t>Embedded OS: </a:t>
            </a:r>
            <a:r>
              <a:rPr lang="en-US" dirty="0"/>
              <a:t>These operating systems are designed to be used in small, specialized devices, such as projector, routers, and appliances. </a:t>
            </a:r>
          </a:p>
          <a:p>
            <a:pPr algn="just"/>
            <a:r>
              <a:rPr lang="en-US" b="1" dirty="0"/>
              <a:t>Mobile OS: </a:t>
            </a:r>
            <a:r>
              <a:rPr lang="en-US" dirty="0"/>
              <a:t>These operating systems are designed for mobile devices such as smartphones and tablets. Examples include Android and iOS.</a:t>
            </a:r>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20</a:t>
            </a:fld>
            <a:endParaRPr lang="en-US" dirty="0"/>
          </a:p>
        </p:txBody>
      </p:sp>
      <p:pic>
        <p:nvPicPr>
          <p:cNvPr id="6" name="Picture 5">
            <a:extLst>
              <a:ext uri="{FF2B5EF4-FFF2-40B4-BE49-F238E27FC236}">
                <a16:creationId xmlns:a16="http://schemas.microsoft.com/office/drawing/2014/main" id="{13C4B3EC-3DD9-AA57-ACA9-1F5EDB74D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4752" y="450716"/>
            <a:ext cx="2675436" cy="1404382"/>
          </a:xfrm>
          <a:prstGeom prst="rect">
            <a:avLst/>
          </a:prstGeom>
        </p:spPr>
      </p:pic>
      <p:pic>
        <p:nvPicPr>
          <p:cNvPr id="8" name="Picture 7">
            <a:extLst>
              <a:ext uri="{FF2B5EF4-FFF2-40B4-BE49-F238E27FC236}">
                <a16:creationId xmlns:a16="http://schemas.microsoft.com/office/drawing/2014/main" id="{6BC1310E-F5DB-4BB8-A6A9-91A966D8E6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7131" y="5911222"/>
            <a:ext cx="3169921" cy="935362"/>
          </a:xfrm>
          <a:prstGeom prst="rect">
            <a:avLst/>
          </a:prstGeom>
        </p:spPr>
      </p:pic>
    </p:spTree>
    <p:extLst>
      <p:ext uri="{BB962C8B-B14F-4D97-AF65-F5344CB8AC3E}">
        <p14:creationId xmlns:p14="http://schemas.microsoft.com/office/powerpoint/2010/main" val="3512940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Operating System</a:t>
            </a:r>
          </a:p>
        </p:txBody>
      </p:sp>
      <p:sp>
        <p:nvSpPr>
          <p:cNvPr id="3" name="Content Placeholder 2"/>
          <p:cNvSpPr>
            <a:spLocks noGrp="1"/>
          </p:cNvSpPr>
          <p:nvPr>
            <p:ph idx="1"/>
          </p:nvPr>
        </p:nvSpPr>
        <p:spPr/>
        <p:txBody>
          <a:bodyPr>
            <a:normAutofit/>
          </a:bodyPr>
          <a:lstStyle/>
          <a:p>
            <a:pPr marL="0" indent="0" algn="just">
              <a:buNone/>
            </a:pPr>
            <a:r>
              <a:rPr lang="en-US" b="1" dirty="0">
                <a:solidFill>
                  <a:schemeClr val="accent1">
                    <a:lumMod val="60000"/>
                    <a:lumOff val="40000"/>
                  </a:schemeClr>
                </a:solidFill>
              </a:rPr>
              <a:t>On the basis of User Interface</a:t>
            </a:r>
          </a:p>
          <a:p>
            <a:pPr algn="just"/>
            <a:r>
              <a:rPr lang="en-US" dirty="0">
                <a:solidFill>
                  <a:schemeClr val="tx1"/>
                </a:solidFill>
              </a:rPr>
              <a:t>Graphical User Interface(GUI)</a:t>
            </a:r>
          </a:p>
          <a:p>
            <a:pPr algn="just"/>
            <a:r>
              <a:rPr lang="en-US" dirty="0">
                <a:solidFill>
                  <a:schemeClr val="tx1"/>
                </a:solidFill>
              </a:rPr>
              <a:t>Character User Interface(CUI)</a:t>
            </a:r>
          </a:p>
          <a:p>
            <a:pPr marL="0" indent="0" algn="just">
              <a:buNone/>
            </a:pPr>
            <a:endParaRPr lang="en-US" dirty="0">
              <a:solidFill>
                <a:schemeClr val="tx1"/>
              </a:solidFill>
            </a:endParaRPr>
          </a:p>
          <a:p>
            <a:pPr marL="0" indent="0" algn="just">
              <a:buNone/>
            </a:pPr>
            <a:endParaRPr lang="en-US" dirty="0">
              <a:solidFill>
                <a:schemeClr val="tx1"/>
              </a:solidFill>
            </a:endParaRPr>
          </a:p>
          <a:p>
            <a:pPr marL="0" indent="0" algn="just">
              <a:buNone/>
            </a:pPr>
            <a:endParaRPr lang="en-US" dirty="0">
              <a:solidFill>
                <a:schemeClr val="tx1"/>
              </a:solidFill>
            </a:endParaRPr>
          </a:p>
          <a:p>
            <a:pPr marL="0" indent="0" algn="just">
              <a:buNone/>
            </a:pPr>
            <a:endParaRPr lang="en-US" dirty="0">
              <a:solidFill>
                <a:schemeClr val="tx1"/>
              </a:solidFill>
            </a:endParaRPr>
          </a:p>
          <a:p>
            <a:pPr marL="0" indent="0" algn="just">
              <a:buNone/>
            </a:pPr>
            <a:r>
              <a:rPr lang="en-US" dirty="0">
                <a:solidFill>
                  <a:schemeClr val="tx1"/>
                </a:solidFill>
              </a:rPr>
              <a:t>Q. Mention difference between GUI and CUI based OS </a:t>
            </a:r>
            <a:r>
              <a:rPr lang="en-US" sz="2800" dirty="0">
                <a:solidFill>
                  <a:schemeClr val="tx1"/>
                </a:solidFill>
                <a:latin typeface="Bahnschrift SemiBold Condensed" panose="020B0502040204020203" pitchFamily="34" charset="0"/>
              </a:rPr>
              <a:t>?</a:t>
            </a:r>
          </a:p>
          <a:p>
            <a:pPr marL="0" indent="0" algn="just">
              <a:buNone/>
            </a:pPr>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21</a:t>
            </a:fld>
            <a:endParaRPr lang="en-US" dirty="0"/>
          </a:p>
        </p:txBody>
      </p:sp>
      <p:pic>
        <p:nvPicPr>
          <p:cNvPr id="6" name="Picture 5">
            <a:extLst>
              <a:ext uri="{FF2B5EF4-FFF2-40B4-BE49-F238E27FC236}">
                <a16:creationId xmlns:a16="http://schemas.microsoft.com/office/drawing/2014/main" id="{8161B011-CF13-720F-05F9-06CAB32A4C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9212" y="3429000"/>
            <a:ext cx="4013535" cy="1355701"/>
          </a:xfrm>
          <a:prstGeom prst="rect">
            <a:avLst/>
          </a:prstGeom>
        </p:spPr>
      </p:pic>
      <p:pic>
        <p:nvPicPr>
          <p:cNvPr id="8" name="Picture 7">
            <a:extLst>
              <a:ext uri="{FF2B5EF4-FFF2-40B4-BE49-F238E27FC236}">
                <a16:creationId xmlns:a16="http://schemas.microsoft.com/office/drawing/2014/main" id="{DB7DB805-520D-34ED-EF68-9703943BC9F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1763" b="39683"/>
          <a:stretch/>
        </p:blipFill>
        <p:spPr>
          <a:xfrm>
            <a:off x="6831766" y="3429000"/>
            <a:ext cx="3200918" cy="1355701"/>
          </a:xfrm>
          <a:prstGeom prst="rect">
            <a:avLst/>
          </a:prstGeom>
        </p:spPr>
      </p:pic>
    </p:spTree>
    <p:extLst>
      <p:ext uri="{BB962C8B-B14F-4D97-AF65-F5344CB8AC3E}">
        <p14:creationId xmlns:p14="http://schemas.microsoft.com/office/powerpoint/2010/main" val="3821451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11</a:t>
            </a:r>
          </a:p>
        </p:txBody>
      </p:sp>
      <p:sp>
        <p:nvSpPr>
          <p:cNvPr id="3" name="Content Placeholder 2"/>
          <p:cNvSpPr>
            <a:spLocks noGrp="1"/>
          </p:cNvSpPr>
          <p:nvPr>
            <p:ph idx="1"/>
          </p:nvPr>
        </p:nvSpPr>
        <p:spPr/>
        <p:txBody>
          <a:bodyPr>
            <a:normAutofit/>
          </a:bodyPr>
          <a:lstStyle/>
          <a:p>
            <a:pPr algn="just"/>
            <a:r>
              <a:rPr lang="en-US" sz="2800" dirty="0"/>
              <a:t>What is Operating System? What are the function and types of operating system? Explain in brief.</a:t>
            </a:r>
          </a:p>
        </p:txBody>
      </p:sp>
      <p:sp>
        <p:nvSpPr>
          <p:cNvPr id="4" name="Slide Number Placeholder 3"/>
          <p:cNvSpPr>
            <a:spLocks noGrp="1"/>
          </p:cNvSpPr>
          <p:nvPr>
            <p:ph type="sldNum" sz="quarter" idx="12"/>
          </p:nvPr>
        </p:nvSpPr>
        <p:spPr/>
        <p:txBody>
          <a:bodyPr/>
          <a:lstStyle/>
          <a:p>
            <a:fld id="{E1EFCA41-7B66-4D71-A011-D172A5A2A1D3}" type="slidenum">
              <a:rPr lang="en-US" smtClean="0"/>
              <a:t>22</a:t>
            </a:fld>
            <a:endParaRPr lang="en-US"/>
          </a:p>
        </p:txBody>
      </p:sp>
    </p:spTree>
    <p:extLst>
      <p:ext uri="{BB962C8B-B14F-4D97-AF65-F5344CB8AC3E}">
        <p14:creationId xmlns:p14="http://schemas.microsoft.com/office/powerpoint/2010/main" val="137416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Virus</a:t>
            </a:r>
          </a:p>
        </p:txBody>
      </p:sp>
      <p:sp>
        <p:nvSpPr>
          <p:cNvPr id="3" name="Content Placeholder 2"/>
          <p:cNvSpPr>
            <a:spLocks noGrp="1"/>
          </p:cNvSpPr>
          <p:nvPr>
            <p:ph idx="1"/>
          </p:nvPr>
        </p:nvSpPr>
        <p:spPr>
          <a:xfrm>
            <a:off x="2517609" y="1410092"/>
            <a:ext cx="9062318" cy="2530312"/>
          </a:xfrm>
        </p:spPr>
        <p:txBody>
          <a:bodyPr>
            <a:normAutofit/>
          </a:bodyPr>
          <a:lstStyle/>
          <a:p>
            <a:pPr algn="just"/>
            <a:r>
              <a:rPr lang="en-US" dirty="0"/>
              <a:t>A computer virus is a type of malicious software (malware) that is designed to replicate itself and spread from one computer to another. When a virus infects a computer, it can perform a variety of malicious activities, such as deleting files, stealing personal information, and corrupting data.</a:t>
            </a:r>
          </a:p>
          <a:p>
            <a:pPr algn="just"/>
            <a:r>
              <a:rPr lang="en-US" dirty="0"/>
              <a:t>Viruses are typically spread through email attachments, infected websites, and downloaded files. They can also be spread through removable media such as USB drives and SD cards. Once a virus has infected a computer, it can replicate itself and spread to other computers on the same network.</a:t>
            </a:r>
          </a:p>
        </p:txBody>
      </p:sp>
      <p:sp>
        <p:nvSpPr>
          <p:cNvPr id="4" name="Slide Number Placeholder 3"/>
          <p:cNvSpPr>
            <a:spLocks noGrp="1"/>
          </p:cNvSpPr>
          <p:nvPr>
            <p:ph type="sldNum" sz="quarter" idx="12"/>
          </p:nvPr>
        </p:nvSpPr>
        <p:spPr/>
        <p:txBody>
          <a:bodyPr/>
          <a:lstStyle/>
          <a:p>
            <a:fld id="{E1EFCA41-7B66-4D71-A011-D172A5A2A1D3}" type="slidenum">
              <a:rPr lang="en-US" smtClean="0"/>
              <a:t>23</a:t>
            </a:fld>
            <a:endParaRPr lang="en-US"/>
          </a:p>
        </p:txBody>
      </p:sp>
      <p:pic>
        <p:nvPicPr>
          <p:cNvPr id="1026" name="Picture 2" descr="What should I do if I get a computer virus? | Arc System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7716" y="4091233"/>
            <a:ext cx="3969181" cy="22624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to Tell If Your Computer Has a Virus and What to Do About It - National  Cybersecurity Alli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35711" y="4091233"/>
            <a:ext cx="3722834" cy="218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570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Malicious Software</a:t>
            </a:r>
          </a:p>
        </p:txBody>
      </p:sp>
      <p:sp>
        <p:nvSpPr>
          <p:cNvPr id="3" name="Content Placeholder 2"/>
          <p:cNvSpPr>
            <a:spLocks noGrp="1"/>
          </p:cNvSpPr>
          <p:nvPr>
            <p:ph idx="1"/>
          </p:nvPr>
        </p:nvSpPr>
        <p:spPr>
          <a:xfrm>
            <a:off x="1769849" y="2199586"/>
            <a:ext cx="9966522" cy="5261729"/>
          </a:xfrm>
        </p:spPr>
        <p:txBody>
          <a:bodyPr>
            <a:normAutofit/>
          </a:bodyPr>
          <a:lstStyle/>
          <a:p>
            <a:pPr algn="just"/>
            <a:r>
              <a:rPr lang="en-US" b="1" dirty="0"/>
              <a:t>Trojan horses</a:t>
            </a:r>
            <a:r>
              <a:rPr lang="en-US" dirty="0"/>
              <a:t>: A Trojan horse is a type of malware that is disguised as legitimate software and is designed to gain access to a computer system without the user's knowledge.</a:t>
            </a:r>
          </a:p>
          <a:p>
            <a:pPr algn="just"/>
            <a:r>
              <a:rPr lang="en-US" b="1" dirty="0"/>
              <a:t>Ransomware: </a:t>
            </a:r>
            <a:r>
              <a:rPr lang="en-US" dirty="0"/>
              <a:t>Ransomware is a type of malware that encrypts a victim's files and demands a ransom from the victim to restore access.</a:t>
            </a:r>
          </a:p>
          <a:p>
            <a:pPr algn="just"/>
            <a:r>
              <a:rPr lang="en-US" b="1" dirty="0"/>
              <a:t>Adware: </a:t>
            </a:r>
            <a:r>
              <a:rPr lang="en-US" dirty="0"/>
              <a:t>Adware is software that displays unwanted advertisements on a computer.</a:t>
            </a:r>
          </a:p>
          <a:p>
            <a:pPr algn="just"/>
            <a:r>
              <a:rPr lang="en-US" b="1" dirty="0"/>
              <a:t>Spyware: </a:t>
            </a:r>
            <a:r>
              <a:rPr lang="en-US" dirty="0"/>
              <a:t>Spyware is software that is designed to gather information about a person or organization without their knowledge.</a:t>
            </a:r>
          </a:p>
          <a:p>
            <a:pPr algn="just"/>
            <a:r>
              <a:rPr lang="en-US" b="1" dirty="0"/>
              <a:t>Phishing</a:t>
            </a:r>
            <a:r>
              <a:rPr lang="en-US" dirty="0"/>
              <a:t> – Emails can be disguised to be coming from a fraudulent company for the sole purpose of getting you to reveal personal information</a:t>
            </a:r>
          </a:p>
          <a:p>
            <a:pPr algn="just"/>
            <a:r>
              <a:rPr lang="en-US" b="1" dirty="0"/>
              <a:t>Key loggers: </a:t>
            </a:r>
            <a:r>
              <a:rPr lang="en-US" dirty="0"/>
              <a:t>Key loggers keep track of your keystrokes on your keyboard and record them on a log. This information is used to gain unauthorized access to your accounts.</a:t>
            </a:r>
          </a:p>
          <a:p>
            <a:pPr algn="just"/>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24</a:t>
            </a:fld>
            <a:endParaRPr lang="en-US"/>
          </a:p>
        </p:txBody>
      </p:sp>
    </p:spTree>
    <p:extLst>
      <p:ext uri="{BB962C8B-B14F-4D97-AF65-F5344CB8AC3E}">
        <p14:creationId xmlns:p14="http://schemas.microsoft.com/office/powerpoint/2010/main" val="293022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malicious software</a:t>
            </a:r>
          </a:p>
        </p:txBody>
      </p:sp>
      <p:sp>
        <p:nvSpPr>
          <p:cNvPr id="3" name="Content Placeholder 2"/>
          <p:cNvSpPr>
            <a:spLocks noGrp="1"/>
          </p:cNvSpPr>
          <p:nvPr>
            <p:ph idx="1"/>
          </p:nvPr>
        </p:nvSpPr>
        <p:spPr/>
        <p:txBody>
          <a:bodyPr/>
          <a:lstStyle/>
          <a:p>
            <a:pPr algn="just"/>
            <a:r>
              <a:rPr lang="en-US" b="1" dirty="0"/>
              <a:t>Denial of Service(</a:t>
            </a:r>
            <a:r>
              <a:rPr lang="en-US" b="1" dirty="0" err="1"/>
              <a:t>DoS</a:t>
            </a:r>
            <a:r>
              <a:rPr lang="en-US" b="1" dirty="0"/>
              <a:t>) Attack: </a:t>
            </a:r>
            <a:r>
              <a:rPr lang="en-US" dirty="0"/>
              <a:t>a denial-of-service attack is a cyber-attack in which the perpetrator seeks to make a machine or network resource unavailable to its intended users by temporarily or indefinitely disrupting services of a host connected to a network.</a:t>
            </a:r>
          </a:p>
          <a:p>
            <a:pPr marL="0" indent="0" algn="just">
              <a:buNone/>
            </a:pPr>
            <a:r>
              <a:rPr lang="en-US" dirty="0"/>
              <a:t>Others are:</a:t>
            </a:r>
          </a:p>
          <a:p>
            <a:pPr algn="just"/>
            <a:r>
              <a:rPr lang="en-US" b="1" dirty="0"/>
              <a:t>Page hijacking, Click fraud, Salami Slicing, plagiarism etc.</a:t>
            </a:r>
          </a:p>
        </p:txBody>
      </p:sp>
      <p:sp>
        <p:nvSpPr>
          <p:cNvPr id="4" name="Slide Number Placeholder 3"/>
          <p:cNvSpPr>
            <a:spLocks noGrp="1"/>
          </p:cNvSpPr>
          <p:nvPr>
            <p:ph type="sldNum" sz="quarter" idx="12"/>
          </p:nvPr>
        </p:nvSpPr>
        <p:spPr/>
        <p:txBody>
          <a:bodyPr/>
          <a:lstStyle/>
          <a:p>
            <a:fld id="{E1EFCA41-7B66-4D71-A011-D172A5A2A1D3}" type="slidenum">
              <a:rPr lang="en-US" smtClean="0"/>
              <a:t>25</a:t>
            </a:fld>
            <a:endParaRPr lang="en-US"/>
          </a:p>
        </p:txBody>
      </p:sp>
    </p:spTree>
    <p:extLst>
      <p:ext uri="{BB962C8B-B14F-4D97-AF65-F5344CB8AC3E}">
        <p14:creationId xmlns:p14="http://schemas.microsoft.com/office/powerpoint/2010/main" val="878230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Antivirus</a:t>
            </a:r>
          </a:p>
        </p:txBody>
      </p:sp>
      <p:sp>
        <p:nvSpPr>
          <p:cNvPr id="3" name="Content Placeholder 2"/>
          <p:cNvSpPr>
            <a:spLocks noGrp="1"/>
          </p:cNvSpPr>
          <p:nvPr>
            <p:ph idx="1"/>
          </p:nvPr>
        </p:nvSpPr>
        <p:spPr>
          <a:xfrm>
            <a:off x="1396421" y="1762814"/>
            <a:ext cx="5758524" cy="4628560"/>
          </a:xfrm>
        </p:spPr>
        <p:txBody>
          <a:bodyPr>
            <a:normAutofit/>
          </a:bodyPr>
          <a:lstStyle/>
          <a:p>
            <a:pPr algn="just"/>
            <a:r>
              <a:rPr lang="en-US" dirty="0"/>
              <a:t>Antivirus software is a type of program that is designed to detect and remove malware from a computer. It works by scanning the computer's files and identifying any that match known patterns of malware. Antivirus software can also detect and prevent the download of new malware by scanning incoming network traffic and email attachments.</a:t>
            </a:r>
          </a:p>
          <a:p>
            <a:pPr algn="just"/>
            <a:r>
              <a:rPr lang="en-US" dirty="0"/>
              <a:t>Antivirus software is an important tool for protecting a computer against malware such as viruses, worms, and Trojan horses. It is important to keep the antivirus software up to date, as new threats are constantly being discovered. Many antivirus programs offer automatic updates to ensure that the software is able to detect and remove the latest threats.</a:t>
            </a:r>
          </a:p>
        </p:txBody>
      </p:sp>
      <p:sp>
        <p:nvSpPr>
          <p:cNvPr id="4" name="Slide Number Placeholder 3"/>
          <p:cNvSpPr>
            <a:spLocks noGrp="1"/>
          </p:cNvSpPr>
          <p:nvPr>
            <p:ph type="sldNum" sz="quarter" idx="12"/>
          </p:nvPr>
        </p:nvSpPr>
        <p:spPr/>
        <p:txBody>
          <a:bodyPr/>
          <a:lstStyle/>
          <a:p>
            <a:fld id="{E1EFCA41-7B66-4D71-A011-D172A5A2A1D3}" type="slidenum">
              <a:rPr lang="en-US" smtClean="0"/>
              <a:t>26</a:t>
            </a:fld>
            <a:endParaRPr lang="en-US"/>
          </a:p>
        </p:txBody>
      </p:sp>
      <p:pic>
        <p:nvPicPr>
          <p:cNvPr id="2050" name="Picture 2" descr="Why You Need Antivirus Software? - SENiCTTECH Solutions Sdn Bhd - ICT/IT  Consultant, IT Solutions, IT Infrastructure, Website Development, Mobile  Apps Development, Digital Marketing, SEO Marketing, Cloud Service (Hosting)  Provider, Server Provi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7981" y="2656309"/>
            <a:ext cx="4740622" cy="3226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7941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10</a:t>
            </a:r>
          </a:p>
        </p:txBody>
      </p:sp>
      <p:sp>
        <p:nvSpPr>
          <p:cNvPr id="3" name="Content Placeholder 2"/>
          <p:cNvSpPr>
            <a:spLocks noGrp="1"/>
          </p:cNvSpPr>
          <p:nvPr>
            <p:ph idx="1"/>
          </p:nvPr>
        </p:nvSpPr>
        <p:spPr/>
        <p:txBody>
          <a:bodyPr/>
          <a:lstStyle/>
          <a:p>
            <a:r>
              <a:rPr lang="en-US" dirty="0"/>
              <a:t>As we know, there are lots of malicious software. In your opinion, what is the most dangerous type of malware and why? What measures do you think individuals and organizations can take to protect against malware attacks?</a:t>
            </a:r>
          </a:p>
          <a:p>
            <a:endParaRPr lang="en-US" dirty="0"/>
          </a:p>
          <a:p>
            <a:endParaRPr lang="en-US" dirty="0"/>
          </a:p>
        </p:txBody>
      </p:sp>
      <p:sp>
        <p:nvSpPr>
          <p:cNvPr id="4" name="Slide Number Placeholder 3"/>
          <p:cNvSpPr>
            <a:spLocks noGrp="1"/>
          </p:cNvSpPr>
          <p:nvPr>
            <p:ph type="sldNum" sz="quarter" idx="12"/>
          </p:nvPr>
        </p:nvSpPr>
        <p:spPr/>
        <p:txBody>
          <a:bodyPr/>
          <a:lstStyle/>
          <a:p>
            <a:fld id="{E1EFCA41-7B66-4D71-A011-D172A5A2A1D3}" type="slidenum">
              <a:rPr lang="en-US" smtClean="0"/>
              <a:t>27</a:t>
            </a:fld>
            <a:endParaRPr lang="en-US"/>
          </a:p>
        </p:txBody>
      </p:sp>
    </p:spTree>
    <p:extLst>
      <p:ext uri="{BB962C8B-B14F-4D97-AF65-F5344CB8AC3E}">
        <p14:creationId xmlns:p14="http://schemas.microsoft.com/office/powerpoint/2010/main" val="304689629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1848</TotalTime>
  <Words>2572</Words>
  <Application>Microsoft Office PowerPoint</Application>
  <PresentationFormat>Widescreen</PresentationFormat>
  <Paragraphs>148</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Bahnschrift SemiBold Condensed</vt:lpstr>
      <vt:lpstr>Calibri</vt:lpstr>
      <vt:lpstr>Century Gothic</vt:lpstr>
      <vt:lpstr>Times New Roman</vt:lpstr>
      <vt:lpstr>Verdana</vt:lpstr>
      <vt:lpstr>Wingdings</vt:lpstr>
      <vt:lpstr>Wingdings 3</vt:lpstr>
      <vt:lpstr>Wisp</vt:lpstr>
      <vt:lpstr>       Unit 2       Computer Software</vt:lpstr>
      <vt:lpstr>Software</vt:lpstr>
      <vt:lpstr>Types of Software</vt:lpstr>
      <vt:lpstr>System software</vt:lpstr>
      <vt:lpstr>Language Translator</vt:lpstr>
      <vt:lpstr>Language Translator</vt:lpstr>
      <vt:lpstr>Utility Software</vt:lpstr>
      <vt:lpstr>Device Drivers</vt:lpstr>
      <vt:lpstr>Application software</vt:lpstr>
      <vt:lpstr>General Purpose Software</vt:lpstr>
      <vt:lpstr>Special purpose/ Tailored Software</vt:lpstr>
      <vt:lpstr>Question 9</vt:lpstr>
      <vt:lpstr>Software Acquisition</vt:lpstr>
      <vt:lpstr>Software Acquisition</vt:lpstr>
      <vt:lpstr>Operating System</vt:lpstr>
      <vt:lpstr>Function of Operating system</vt:lpstr>
      <vt:lpstr>Function of Operating system</vt:lpstr>
      <vt:lpstr>Types of Operating System</vt:lpstr>
      <vt:lpstr>Types of Operating System</vt:lpstr>
      <vt:lpstr>Types of Operating System</vt:lpstr>
      <vt:lpstr>Types of Operating System</vt:lpstr>
      <vt:lpstr>Question 11</vt:lpstr>
      <vt:lpstr>Computer Virus</vt:lpstr>
      <vt:lpstr>Types of Malicious Software</vt:lpstr>
      <vt:lpstr>Types of malicious software</vt:lpstr>
      <vt:lpstr>Antivirus</vt:lpstr>
      <vt:lpstr>Question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Computer Software</dc:title>
  <dc:creator>Hp</dc:creator>
  <cp:lastModifiedBy>yachu shakya</cp:lastModifiedBy>
  <cp:revision>69</cp:revision>
  <dcterms:created xsi:type="dcterms:W3CDTF">2023-01-05T20:13:48Z</dcterms:created>
  <dcterms:modified xsi:type="dcterms:W3CDTF">2023-12-19T07:52:31Z</dcterms:modified>
</cp:coreProperties>
</file>