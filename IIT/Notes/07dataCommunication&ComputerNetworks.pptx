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notesMasterIdLst>
    <p:notesMasterId r:id="rId82"/>
  </p:notesMasterIdLst>
  <p:sldIdLst>
    <p:sldId id="256" r:id="rId2"/>
    <p:sldId id="324" r:id="rId3"/>
    <p:sldId id="257" r:id="rId4"/>
    <p:sldId id="323" r:id="rId5"/>
    <p:sldId id="325" r:id="rId6"/>
    <p:sldId id="327" r:id="rId7"/>
    <p:sldId id="258" r:id="rId8"/>
    <p:sldId id="259" r:id="rId9"/>
    <p:sldId id="260" r:id="rId10"/>
    <p:sldId id="261" r:id="rId11"/>
    <p:sldId id="262" r:id="rId12"/>
    <p:sldId id="328" r:id="rId13"/>
    <p:sldId id="263" r:id="rId14"/>
    <p:sldId id="264" r:id="rId15"/>
    <p:sldId id="265" r:id="rId16"/>
    <p:sldId id="266" r:id="rId17"/>
    <p:sldId id="269" r:id="rId18"/>
    <p:sldId id="268" r:id="rId19"/>
    <p:sldId id="330" r:id="rId20"/>
    <p:sldId id="270" r:id="rId21"/>
    <p:sldId id="271" r:id="rId22"/>
    <p:sldId id="272" r:id="rId23"/>
    <p:sldId id="273" r:id="rId24"/>
    <p:sldId id="274" r:id="rId25"/>
    <p:sldId id="267" r:id="rId26"/>
    <p:sldId id="275" r:id="rId27"/>
    <p:sldId id="277" r:id="rId28"/>
    <p:sldId id="276"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35" r:id="rId63"/>
    <p:sldId id="332" r:id="rId64"/>
    <p:sldId id="333" r:id="rId65"/>
    <p:sldId id="311" r:id="rId66"/>
    <p:sldId id="331" r:id="rId67"/>
    <p:sldId id="334" r:id="rId68"/>
    <p:sldId id="336" r:id="rId69"/>
    <p:sldId id="337" r:id="rId70"/>
    <p:sldId id="312" r:id="rId71"/>
    <p:sldId id="316" r:id="rId72"/>
    <p:sldId id="317" r:id="rId73"/>
    <p:sldId id="313" r:id="rId74"/>
    <p:sldId id="318" r:id="rId75"/>
    <p:sldId id="314" r:id="rId76"/>
    <p:sldId id="319" r:id="rId77"/>
    <p:sldId id="315" r:id="rId78"/>
    <p:sldId id="320" r:id="rId79"/>
    <p:sldId id="321" r:id="rId80"/>
    <p:sldId id="322"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68" autoAdjust="0"/>
    <p:restoredTop sz="90667" autoAdjust="0"/>
  </p:normalViewPr>
  <p:slideViewPr>
    <p:cSldViewPr snapToGrid="0">
      <p:cViewPr varScale="1">
        <p:scale>
          <a:sx n="74" d="100"/>
          <a:sy n="74" d="100"/>
        </p:scale>
        <p:origin x="5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63337-05A8-49FB-90A5-BEBC4BAA25E3}" type="datetimeFigureOut">
              <a:rPr lang="en-US" smtClean="0"/>
              <a:t>3/31/2024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1DF24A-CDCD-4B1C-89BE-29A33A0D251B}" type="slidenum">
              <a:rPr lang="en-US" smtClean="0"/>
              <a:t>‹#›</a:t>
            </a:fld>
            <a:endParaRPr lang="en-US"/>
          </a:p>
        </p:txBody>
      </p:sp>
    </p:spTree>
    <p:extLst>
      <p:ext uri="{BB962C8B-B14F-4D97-AF65-F5344CB8AC3E}">
        <p14:creationId xmlns:p14="http://schemas.microsoft.com/office/powerpoint/2010/main" val="1788771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1DF24A-CDCD-4B1C-89BE-29A33A0D251B}" type="slidenum">
              <a:rPr lang="en-US" smtClean="0"/>
              <a:t>1</a:t>
            </a:fld>
            <a:endParaRPr lang="en-US"/>
          </a:p>
        </p:txBody>
      </p:sp>
    </p:spTree>
    <p:extLst>
      <p:ext uri="{BB962C8B-B14F-4D97-AF65-F5344CB8AC3E}">
        <p14:creationId xmlns:p14="http://schemas.microsoft.com/office/powerpoint/2010/main" val="1895032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1DF24A-CDCD-4B1C-89BE-29A33A0D251B}" type="slidenum">
              <a:rPr lang="en-US" smtClean="0"/>
              <a:t>69</a:t>
            </a:fld>
            <a:endParaRPr lang="en-US"/>
          </a:p>
        </p:txBody>
      </p:sp>
    </p:spTree>
    <p:extLst>
      <p:ext uri="{BB962C8B-B14F-4D97-AF65-F5344CB8AC3E}">
        <p14:creationId xmlns:p14="http://schemas.microsoft.com/office/powerpoint/2010/main" val="3109760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465CF58-A62E-49EB-AD3E-86C709055ED3}" type="datetime1">
              <a:rPr lang="en-US" smtClean="0"/>
              <a:t>3/31/2024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67944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5BD113-644A-49AE-AFBF-1D9B44984BA5}"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162650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25B245-6C9B-4B64-856B-3AD76646CDEB}"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820577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A98AD8-61B1-4A3E-95BA-C09881EE869C}" type="datetime1">
              <a:rPr lang="en-US" smtClean="0"/>
              <a:t>3/31/2024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4215610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88CDAB-AC21-4CE1-B62D-D6C6D7284984}" type="datetime1">
              <a:rPr lang="en-US" smtClean="0"/>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54946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8A538F-E81F-43ED-9BD9-FA3A4E3A8F20}" type="datetime1">
              <a:rPr lang="en-US" smtClean="0"/>
              <a:t>3/31/2024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373343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2C7A1B-D85E-4891-BB6A-808B2490DA69}" type="datetime1">
              <a:rPr lang="en-US" smtClean="0"/>
              <a:t>3/31/2024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3183154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4D0BCE-5218-400E-ADC6-9B81A863135D}" type="datetime1">
              <a:rPr lang="en-US" smtClean="0"/>
              <a:t>3/31/2024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232233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4F91AC-DAD0-4DCF-81EA-10E29263ADCE}" type="datetime1">
              <a:rPr lang="en-US" smtClean="0"/>
              <a:t>3/31/2024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3167210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2C4F2A-9DCB-4582-92F4-7AE74DE030E4}" type="datetime1">
              <a:rPr lang="en-US" smtClean="0"/>
              <a:t>3/31/2024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1625665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BEF9F63-71ED-43E1-8943-B1A147FFFE30}"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3755305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ED6A5DB-3189-4EAF-B1DF-E85069308BA6}"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3129620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F9EE78-1D35-4997-8194-1B3BF912CA54}"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1510738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A73A5A1-F49A-4467-A52E-D8F6EB048D0B}" type="datetime1">
              <a:rPr lang="en-US" smtClean="0"/>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416680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9203660-3F52-49B5-9528-02BE38F58E96}" type="datetime1">
              <a:rPr lang="en-US" smtClean="0"/>
              <a:t>3/31/2024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6499751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46C666F-B45C-4031-8FBE-68EE36AD419F}"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1598065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9BA6A1A-182D-45ED-85FA-CF68841386C6}"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317719D-4397-416A-8DF5-E7F1C2D18F40}" type="slidenum">
              <a:rPr lang="en-US" smtClean="0"/>
              <a:t>‹#›</a:t>
            </a:fld>
            <a:endParaRPr lang="en-US"/>
          </a:p>
        </p:txBody>
      </p:sp>
    </p:spTree>
    <p:extLst>
      <p:ext uri="{BB962C8B-B14F-4D97-AF65-F5344CB8AC3E}">
        <p14:creationId xmlns:p14="http://schemas.microsoft.com/office/powerpoint/2010/main" val="2314378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A82CDDF-B28E-48E3-A1F9-3E7A02E786CD}" type="datetime1">
              <a:rPr lang="en-US" smtClean="0"/>
              <a:t>3/31/2024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317719D-4397-416A-8DF5-E7F1C2D18F40}" type="slidenum">
              <a:rPr lang="en-US" smtClean="0"/>
              <a:t>‹#›</a:t>
            </a:fld>
            <a:endParaRPr lang="en-US"/>
          </a:p>
        </p:txBody>
      </p:sp>
    </p:spTree>
    <p:extLst>
      <p:ext uri="{BB962C8B-B14F-4D97-AF65-F5344CB8AC3E}">
        <p14:creationId xmlns:p14="http://schemas.microsoft.com/office/powerpoint/2010/main" val="385655561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web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web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www.techtarget.com/searchnetworking/answer/What-should-I-know-about-IP-address-management-systems"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8.web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br>
              <a:rPr lang="en-US" dirty="0"/>
            </a:br>
            <a:r>
              <a:rPr lang="en-US" dirty="0"/>
              <a:t>Data Communication and Computer Network</a:t>
            </a:r>
          </a:p>
        </p:txBody>
      </p:sp>
      <p:sp>
        <p:nvSpPr>
          <p:cNvPr id="5" name="Subtitle 4">
            <a:extLst>
              <a:ext uri="{FF2B5EF4-FFF2-40B4-BE49-F238E27FC236}">
                <a16:creationId xmlns:a16="http://schemas.microsoft.com/office/drawing/2014/main" id="{871EDFF3-2034-F2AF-BC7F-6C4C6652433C}"/>
              </a:ext>
            </a:extLst>
          </p:cNvPr>
          <p:cNvSpPr>
            <a:spLocks noGrp="1"/>
          </p:cNvSpPr>
          <p:nvPr>
            <p:ph type="subTitle" idx="1"/>
          </p:nvPr>
        </p:nvSpPr>
        <p:spPr/>
        <p:txBody>
          <a:bodyPr/>
          <a:lstStyle/>
          <a:p>
            <a:r>
              <a:rPr lang="en-US" dirty="0"/>
              <a:t>BSc.CSIT 1</a:t>
            </a:r>
            <a:r>
              <a:rPr lang="en-US" baseline="30000" dirty="0"/>
              <a:t>st</a:t>
            </a:r>
            <a:r>
              <a:rPr lang="en-US" dirty="0"/>
              <a:t> sem</a:t>
            </a:r>
          </a:p>
        </p:txBody>
      </p:sp>
      <p:sp>
        <p:nvSpPr>
          <p:cNvPr id="6" name="Slide Number Placeholder 5">
            <a:extLst>
              <a:ext uri="{FF2B5EF4-FFF2-40B4-BE49-F238E27FC236}">
                <a16:creationId xmlns:a16="http://schemas.microsoft.com/office/drawing/2014/main" id="{F17CFD2D-5C0F-321C-3D04-BCA3DCE87856}"/>
              </a:ext>
            </a:extLst>
          </p:cNvPr>
          <p:cNvSpPr>
            <a:spLocks noGrp="1"/>
          </p:cNvSpPr>
          <p:nvPr>
            <p:ph type="sldNum" sz="quarter" idx="12"/>
          </p:nvPr>
        </p:nvSpPr>
        <p:spPr/>
        <p:txBody>
          <a:bodyPr/>
          <a:lstStyle/>
          <a:p>
            <a:fld id="{F317719D-4397-416A-8DF5-E7F1C2D18F40}" type="slidenum">
              <a:rPr lang="en-US" smtClean="0"/>
              <a:t>1</a:t>
            </a:fld>
            <a:endParaRPr lang="en-US"/>
          </a:p>
        </p:txBody>
      </p:sp>
    </p:spTree>
    <p:extLst>
      <p:ext uri="{BB962C8B-B14F-4D97-AF65-F5344CB8AC3E}">
        <p14:creationId xmlns:p14="http://schemas.microsoft.com/office/powerpoint/2010/main" val="1210662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33C40-CD02-C0EF-EA67-7309AE56C6B3}"/>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7360F039-2C48-3960-6E3F-037049CECDB7}"/>
              </a:ext>
            </a:extLst>
          </p:cNvPr>
          <p:cNvSpPr>
            <a:spLocks noGrp="1"/>
          </p:cNvSpPr>
          <p:nvPr>
            <p:ph idx="1"/>
          </p:nvPr>
        </p:nvSpPr>
        <p:spPr/>
        <p:txBody>
          <a:bodyPr>
            <a:normAutofit fontScale="85000" lnSpcReduction="20000"/>
          </a:bodyPr>
          <a:lstStyle/>
          <a:p>
            <a:r>
              <a:rPr lang="en-US" b="1" dirty="0">
                <a:latin typeface="Aptos Narrow" panose="020B0004020202020204" pitchFamily="34" charset="0"/>
              </a:rPr>
              <a:t>Introduction</a:t>
            </a:r>
          </a:p>
          <a:p>
            <a:r>
              <a:rPr lang="en-US" b="1" dirty="0">
                <a:latin typeface="Aptos Narrow" panose="020B0004020202020204" pitchFamily="34" charset="0"/>
              </a:rPr>
              <a:t>Importance of Networking</a:t>
            </a:r>
          </a:p>
          <a:p>
            <a:r>
              <a:rPr lang="en-US" b="1" dirty="0">
                <a:latin typeface="Aptos Narrow" panose="020B0004020202020204" pitchFamily="34" charset="0"/>
              </a:rPr>
              <a:t>Data Transmission Mode</a:t>
            </a:r>
          </a:p>
          <a:p>
            <a:r>
              <a:rPr lang="en-US" b="1" dirty="0">
                <a:latin typeface="Aptos Narrow" panose="020B0004020202020204" pitchFamily="34" charset="0"/>
              </a:rPr>
              <a:t>Data Transmission Media</a:t>
            </a:r>
          </a:p>
          <a:p>
            <a:r>
              <a:rPr lang="en-US" b="1" dirty="0">
                <a:latin typeface="Aptos Narrow" panose="020B0004020202020204" pitchFamily="34" charset="0"/>
              </a:rPr>
              <a:t>Data Transmission and Data Networking</a:t>
            </a:r>
          </a:p>
          <a:p>
            <a:r>
              <a:rPr lang="en-US" b="1" dirty="0">
                <a:latin typeface="Aptos Narrow" panose="020B0004020202020204" pitchFamily="34" charset="0"/>
              </a:rPr>
              <a:t>Computer Network </a:t>
            </a:r>
          </a:p>
          <a:p>
            <a:r>
              <a:rPr lang="en-US" b="1" dirty="0">
                <a:latin typeface="Aptos Narrow" panose="020B0004020202020204" pitchFamily="34" charset="0"/>
              </a:rPr>
              <a:t>Network types</a:t>
            </a:r>
          </a:p>
          <a:p>
            <a:r>
              <a:rPr lang="en-US" b="1" dirty="0">
                <a:latin typeface="Aptos Narrow" panose="020B0004020202020204" pitchFamily="34" charset="0"/>
              </a:rPr>
              <a:t>Network topology</a:t>
            </a:r>
          </a:p>
          <a:p>
            <a:r>
              <a:rPr lang="en-US" b="1" dirty="0">
                <a:latin typeface="Aptos Narrow" panose="020B0004020202020204" pitchFamily="34" charset="0"/>
              </a:rPr>
              <a:t>Communication protocol</a:t>
            </a:r>
          </a:p>
          <a:p>
            <a:r>
              <a:rPr lang="en-US" b="1" dirty="0">
                <a:latin typeface="Aptos Narrow" panose="020B0004020202020204" pitchFamily="34" charset="0"/>
              </a:rPr>
              <a:t>Network Devices</a:t>
            </a:r>
          </a:p>
          <a:p>
            <a:r>
              <a:rPr lang="en-US" b="1" dirty="0">
                <a:latin typeface="Aptos Narrow" panose="020B0004020202020204" pitchFamily="34" charset="0"/>
              </a:rPr>
              <a:t>Wireless Networking</a:t>
            </a:r>
          </a:p>
        </p:txBody>
      </p:sp>
      <p:sp>
        <p:nvSpPr>
          <p:cNvPr id="4" name="Slide Number Placeholder 3">
            <a:extLst>
              <a:ext uri="{FF2B5EF4-FFF2-40B4-BE49-F238E27FC236}">
                <a16:creationId xmlns:a16="http://schemas.microsoft.com/office/drawing/2014/main" id="{13FB1946-0E25-AAA6-3DA3-FE1075306806}"/>
              </a:ext>
            </a:extLst>
          </p:cNvPr>
          <p:cNvSpPr>
            <a:spLocks noGrp="1"/>
          </p:cNvSpPr>
          <p:nvPr>
            <p:ph type="sldNum" sz="quarter" idx="12"/>
          </p:nvPr>
        </p:nvSpPr>
        <p:spPr/>
        <p:txBody>
          <a:bodyPr/>
          <a:lstStyle/>
          <a:p>
            <a:fld id="{F317719D-4397-416A-8DF5-E7F1C2D18F40}" type="slidenum">
              <a:rPr lang="en-US" smtClean="0"/>
              <a:t>2</a:t>
            </a:fld>
            <a:endParaRPr lang="en-US"/>
          </a:p>
        </p:txBody>
      </p:sp>
    </p:spTree>
    <p:extLst>
      <p:ext uri="{BB962C8B-B14F-4D97-AF65-F5344CB8AC3E}">
        <p14:creationId xmlns:p14="http://schemas.microsoft.com/office/powerpoint/2010/main" val="198890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521758"/>
            <a:ext cx="9601196" cy="1303867"/>
          </a:xfrm>
        </p:spPr>
        <p:txBody>
          <a:bodyPr>
            <a:normAutofit/>
          </a:bodyPr>
          <a:lstStyle/>
          <a:p>
            <a:r>
              <a:rPr lang="en-US" b="1" dirty="0"/>
              <a:t>Introduction: Data Communication</a:t>
            </a:r>
          </a:p>
        </p:txBody>
      </p:sp>
      <p:sp>
        <p:nvSpPr>
          <p:cNvPr id="3" name="Content Placeholder 2"/>
          <p:cNvSpPr>
            <a:spLocks noGrp="1"/>
          </p:cNvSpPr>
          <p:nvPr>
            <p:ph idx="1"/>
          </p:nvPr>
        </p:nvSpPr>
        <p:spPr>
          <a:xfrm>
            <a:off x="781050" y="2244725"/>
            <a:ext cx="10629900" cy="2661534"/>
          </a:xfrm>
        </p:spPr>
        <p:txBody>
          <a:bodyPr>
            <a:normAutofit/>
          </a:bodyPr>
          <a:lstStyle/>
          <a:p>
            <a:pPr algn="just"/>
            <a:r>
              <a:rPr lang="en-US" dirty="0"/>
              <a:t>A communication system is a set of processes, technologies, and channels that allow individuals or groups to exchange information. </a:t>
            </a:r>
          </a:p>
          <a:p>
            <a:pPr algn="just"/>
            <a:r>
              <a:rPr lang="en-US" dirty="0"/>
              <a:t>The basic components of a communication system include a sender, a message, a channel, a receiver, and feedback. </a:t>
            </a:r>
          </a:p>
          <a:p>
            <a:pPr algn="just"/>
            <a:r>
              <a:rPr lang="en-US" dirty="0"/>
              <a:t>Communication systems can be analog or digital and can be used for various purposes such as interpersonal communication, mass communication, or machine-to-machine communication. </a:t>
            </a:r>
          </a:p>
        </p:txBody>
      </p:sp>
      <p:sp>
        <p:nvSpPr>
          <p:cNvPr id="4" name="Slide Number Placeholder 3">
            <a:extLst>
              <a:ext uri="{FF2B5EF4-FFF2-40B4-BE49-F238E27FC236}">
                <a16:creationId xmlns:a16="http://schemas.microsoft.com/office/drawing/2014/main" id="{61924BFF-D489-D520-F766-E9B261A35C12}"/>
              </a:ext>
            </a:extLst>
          </p:cNvPr>
          <p:cNvSpPr>
            <a:spLocks noGrp="1"/>
          </p:cNvSpPr>
          <p:nvPr>
            <p:ph type="sldNum" sz="quarter" idx="12"/>
          </p:nvPr>
        </p:nvSpPr>
        <p:spPr/>
        <p:txBody>
          <a:bodyPr/>
          <a:lstStyle/>
          <a:p>
            <a:fld id="{F317719D-4397-416A-8DF5-E7F1C2D18F40}" type="slidenum">
              <a:rPr lang="en-US" smtClean="0"/>
              <a:t>3</a:t>
            </a:fld>
            <a:endParaRPr lang="en-US"/>
          </a:p>
        </p:txBody>
      </p:sp>
      <p:pic>
        <p:nvPicPr>
          <p:cNvPr id="1026" name="Picture 2" descr="components-of-a-data-communication-system » ExamRad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3235" y="4420484"/>
            <a:ext cx="4772025" cy="2219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40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Block diagram of Communication system </a:t>
            </a:r>
          </a:p>
        </p:txBody>
      </p:sp>
      <p:pic>
        <p:nvPicPr>
          <p:cNvPr id="1026" name="Picture 2" descr="Basic block diagram of communication system - Polytechnic Hub"/>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10506" y="3016250"/>
            <a:ext cx="8115300" cy="25908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917979E-A5B5-3540-35A1-41C65348D10A}"/>
              </a:ext>
            </a:extLst>
          </p:cNvPr>
          <p:cNvSpPr>
            <a:spLocks noGrp="1"/>
          </p:cNvSpPr>
          <p:nvPr>
            <p:ph type="sldNum" sz="quarter" idx="12"/>
          </p:nvPr>
        </p:nvSpPr>
        <p:spPr/>
        <p:txBody>
          <a:bodyPr/>
          <a:lstStyle/>
          <a:p>
            <a:fld id="{F317719D-4397-416A-8DF5-E7F1C2D18F40}" type="slidenum">
              <a:rPr lang="en-US" smtClean="0"/>
              <a:t>4</a:t>
            </a:fld>
            <a:endParaRPr lang="en-US"/>
          </a:p>
        </p:txBody>
      </p:sp>
    </p:spTree>
    <p:extLst>
      <p:ext uri="{BB962C8B-B14F-4D97-AF65-F5344CB8AC3E}">
        <p14:creationId xmlns:p14="http://schemas.microsoft.com/office/powerpoint/2010/main" val="3847901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55ECD-D085-19FE-8BBC-ADABE83A1A87}"/>
              </a:ext>
            </a:extLst>
          </p:cNvPr>
          <p:cNvSpPr>
            <a:spLocks noGrp="1"/>
          </p:cNvSpPr>
          <p:nvPr>
            <p:ph type="title"/>
          </p:nvPr>
        </p:nvSpPr>
        <p:spPr/>
        <p:txBody>
          <a:bodyPr/>
          <a:lstStyle/>
          <a:p>
            <a:r>
              <a:rPr lang="en-US" b="1" dirty="0"/>
              <a:t>Introduction: Computer Network</a:t>
            </a:r>
          </a:p>
        </p:txBody>
      </p:sp>
      <p:sp>
        <p:nvSpPr>
          <p:cNvPr id="3" name="Content Placeholder 2">
            <a:extLst>
              <a:ext uri="{FF2B5EF4-FFF2-40B4-BE49-F238E27FC236}">
                <a16:creationId xmlns:a16="http://schemas.microsoft.com/office/drawing/2014/main" id="{76B3B635-D793-E889-AEED-AC201638E6E4}"/>
              </a:ext>
            </a:extLst>
          </p:cNvPr>
          <p:cNvSpPr>
            <a:spLocks noGrp="1"/>
          </p:cNvSpPr>
          <p:nvPr>
            <p:ph idx="1"/>
          </p:nvPr>
        </p:nvSpPr>
        <p:spPr/>
        <p:txBody>
          <a:bodyPr/>
          <a:lstStyle/>
          <a:p>
            <a:r>
              <a:rPr lang="en-US" dirty="0"/>
              <a:t>Computer network is group of computers connected to each other through some medium in order to share data/information and controls.</a:t>
            </a:r>
          </a:p>
        </p:txBody>
      </p:sp>
      <p:sp>
        <p:nvSpPr>
          <p:cNvPr id="4" name="Slide Number Placeholder 3">
            <a:extLst>
              <a:ext uri="{FF2B5EF4-FFF2-40B4-BE49-F238E27FC236}">
                <a16:creationId xmlns:a16="http://schemas.microsoft.com/office/drawing/2014/main" id="{BB04E609-E678-0242-CD22-74E39A26728F}"/>
              </a:ext>
            </a:extLst>
          </p:cNvPr>
          <p:cNvSpPr>
            <a:spLocks noGrp="1"/>
          </p:cNvSpPr>
          <p:nvPr>
            <p:ph type="sldNum" sz="quarter" idx="12"/>
          </p:nvPr>
        </p:nvSpPr>
        <p:spPr/>
        <p:txBody>
          <a:bodyPr/>
          <a:lstStyle/>
          <a:p>
            <a:fld id="{F317719D-4397-416A-8DF5-E7F1C2D18F40}" type="slidenum">
              <a:rPr lang="en-US" smtClean="0"/>
              <a:t>5</a:t>
            </a:fld>
            <a:endParaRPr lang="en-US"/>
          </a:p>
        </p:txBody>
      </p:sp>
      <p:pic>
        <p:nvPicPr>
          <p:cNvPr id="6" name="Picture 5">
            <a:extLst>
              <a:ext uri="{FF2B5EF4-FFF2-40B4-BE49-F238E27FC236}">
                <a16:creationId xmlns:a16="http://schemas.microsoft.com/office/drawing/2014/main" id="{7DFA0293-B0D7-2E6A-E3DA-91E10B0285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81475" y="3429000"/>
            <a:ext cx="3276600" cy="2723674"/>
          </a:xfrm>
          <a:prstGeom prst="rect">
            <a:avLst/>
          </a:prstGeom>
        </p:spPr>
      </p:pic>
    </p:spTree>
    <p:extLst>
      <p:ext uri="{BB962C8B-B14F-4D97-AF65-F5344CB8AC3E}">
        <p14:creationId xmlns:p14="http://schemas.microsoft.com/office/powerpoint/2010/main" val="3889625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55ECD-D085-19FE-8BBC-ADABE83A1A87}"/>
              </a:ext>
            </a:extLst>
          </p:cNvPr>
          <p:cNvSpPr>
            <a:spLocks noGrp="1"/>
          </p:cNvSpPr>
          <p:nvPr>
            <p:ph type="title"/>
          </p:nvPr>
        </p:nvSpPr>
        <p:spPr/>
        <p:txBody>
          <a:bodyPr/>
          <a:lstStyle/>
          <a:p>
            <a:r>
              <a:rPr lang="en-US" b="1" dirty="0"/>
              <a:t>Importance of Computer Network</a:t>
            </a:r>
          </a:p>
        </p:txBody>
      </p:sp>
      <p:sp>
        <p:nvSpPr>
          <p:cNvPr id="3" name="Content Placeholder 2">
            <a:extLst>
              <a:ext uri="{FF2B5EF4-FFF2-40B4-BE49-F238E27FC236}">
                <a16:creationId xmlns:a16="http://schemas.microsoft.com/office/drawing/2014/main" id="{76B3B635-D793-E889-AEED-AC201638E6E4}"/>
              </a:ext>
            </a:extLst>
          </p:cNvPr>
          <p:cNvSpPr>
            <a:spLocks noGrp="1"/>
          </p:cNvSpPr>
          <p:nvPr>
            <p:ph idx="1"/>
          </p:nvPr>
        </p:nvSpPr>
        <p:spPr/>
        <p:txBody>
          <a:bodyPr>
            <a:normAutofit lnSpcReduction="10000"/>
          </a:bodyPr>
          <a:lstStyle/>
          <a:p>
            <a:r>
              <a:rPr lang="en-US" dirty="0"/>
              <a:t>Sharing of Resources</a:t>
            </a:r>
          </a:p>
          <a:p>
            <a:r>
              <a:rPr lang="en-US" dirty="0"/>
              <a:t>Information Sharing</a:t>
            </a:r>
          </a:p>
          <a:p>
            <a:r>
              <a:rPr lang="en-US" dirty="0"/>
              <a:t>Centralize administration and support</a:t>
            </a:r>
          </a:p>
          <a:p>
            <a:r>
              <a:rPr lang="en-US" dirty="0"/>
              <a:t>Faster and cheaper communication</a:t>
            </a:r>
          </a:p>
          <a:p>
            <a:r>
              <a:rPr lang="en-US" dirty="0"/>
              <a:t>Backup and Recovery</a:t>
            </a:r>
          </a:p>
          <a:p>
            <a:pPr marL="0" indent="0">
              <a:buNone/>
            </a:pPr>
            <a:r>
              <a:rPr lang="en-US" dirty="0"/>
              <a:t>	</a:t>
            </a:r>
          </a:p>
          <a:p>
            <a:pPr marL="0" indent="0">
              <a:buNone/>
            </a:pPr>
            <a:r>
              <a:rPr lang="en-US" b="1" dirty="0"/>
              <a:t>Disadvantages of networking</a:t>
            </a:r>
          </a:p>
          <a:p>
            <a:r>
              <a:rPr lang="en-US" dirty="0"/>
              <a:t>	Security of data</a:t>
            </a:r>
          </a:p>
          <a:p>
            <a:r>
              <a:rPr lang="en-US" dirty="0"/>
              <a:t>	Need special technical knowledge</a:t>
            </a:r>
          </a:p>
        </p:txBody>
      </p:sp>
      <p:sp>
        <p:nvSpPr>
          <p:cNvPr id="4" name="Slide Number Placeholder 3">
            <a:extLst>
              <a:ext uri="{FF2B5EF4-FFF2-40B4-BE49-F238E27FC236}">
                <a16:creationId xmlns:a16="http://schemas.microsoft.com/office/drawing/2014/main" id="{BB04E609-E678-0242-CD22-74E39A26728F}"/>
              </a:ext>
            </a:extLst>
          </p:cNvPr>
          <p:cNvSpPr>
            <a:spLocks noGrp="1"/>
          </p:cNvSpPr>
          <p:nvPr>
            <p:ph type="sldNum" sz="quarter" idx="12"/>
          </p:nvPr>
        </p:nvSpPr>
        <p:spPr/>
        <p:txBody>
          <a:bodyPr/>
          <a:lstStyle/>
          <a:p>
            <a:fld id="{F317719D-4397-416A-8DF5-E7F1C2D18F40}" type="slidenum">
              <a:rPr lang="en-US" smtClean="0"/>
              <a:t>6</a:t>
            </a:fld>
            <a:endParaRPr lang="en-US"/>
          </a:p>
        </p:txBody>
      </p:sp>
    </p:spTree>
    <p:extLst>
      <p:ext uri="{BB962C8B-B14F-4D97-AF65-F5344CB8AC3E}">
        <p14:creationId xmlns:p14="http://schemas.microsoft.com/office/powerpoint/2010/main" val="1913744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9408271" cy="706964"/>
          </a:xfrm>
        </p:spPr>
        <p:txBody>
          <a:bodyPr/>
          <a:lstStyle/>
          <a:p>
            <a:r>
              <a:rPr lang="en-US" b="1" dirty="0"/>
              <a:t>Mode of Communication/Transmission media</a:t>
            </a:r>
          </a:p>
        </p:txBody>
      </p:sp>
      <p:sp>
        <p:nvSpPr>
          <p:cNvPr id="3" name="Content Placeholder 2"/>
          <p:cNvSpPr>
            <a:spLocks noGrp="1"/>
          </p:cNvSpPr>
          <p:nvPr>
            <p:ph idx="1"/>
          </p:nvPr>
        </p:nvSpPr>
        <p:spPr/>
        <p:txBody>
          <a:bodyPr>
            <a:normAutofit lnSpcReduction="10000"/>
          </a:bodyPr>
          <a:lstStyle/>
          <a:p>
            <a:pPr marL="0" indent="0" algn="just">
              <a:buNone/>
            </a:pPr>
            <a:r>
              <a:rPr lang="en-US" dirty="0"/>
              <a:t>In a network communication system, there are several modes of communication, including:</a:t>
            </a:r>
          </a:p>
          <a:p>
            <a:pPr algn="just"/>
            <a:r>
              <a:rPr lang="en-US" b="1" dirty="0"/>
              <a:t>Simplex communication: </a:t>
            </a:r>
            <a:r>
              <a:rPr lang="en-US" dirty="0"/>
              <a:t>This is a one-way communication mode where data is transmitted in only one direction. An example of this is a television broadcast.</a:t>
            </a:r>
          </a:p>
          <a:p>
            <a:pPr algn="just"/>
            <a:r>
              <a:rPr lang="en-US" b="1" dirty="0"/>
              <a:t>Half-duplex communication: </a:t>
            </a:r>
            <a:r>
              <a:rPr lang="en-US" dirty="0"/>
              <a:t>This is a two-way communication mode where data can be transmitted in both directions, but not at the same time. An example of this is a walkie-talkie.</a:t>
            </a:r>
          </a:p>
          <a:p>
            <a:pPr algn="just"/>
            <a:r>
              <a:rPr lang="en-US" b="1" dirty="0"/>
              <a:t>Full-duplex communication: </a:t>
            </a:r>
            <a:r>
              <a:rPr lang="en-US" dirty="0"/>
              <a:t>This is a two-way communication mode where data can be transmitted in both directions simultaneously. An example of this is a telephone call.</a:t>
            </a:r>
          </a:p>
        </p:txBody>
      </p:sp>
      <p:sp>
        <p:nvSpPr>
          <p:cNvPr id="4" name="Slide Number Placeholder 3">
            <a:extLst>
              <a:ext uri="{FF2B5EF4-FFF2-40B4-BE49-F238E27FC236}">
                <a16:creationId xmlns:a16="http://schemas.microsoft.com/office/drawing/2014/main" id="{63EA09FA-919C-BDB0-597C-94301108B3A0}"/>
              </a:ext>
            </a:extLst>
          </p:cNvPr>
          <p:cNvSpPr>
            <a:spLocks noGrp="1"/>
          </p:cNvSpPr>
          <p:nvPr>
            <p:ph type="sldNum" sz="quarter" idx="12"/>
          </p:nvPr>
        </p:nvSpPr>
        <p:spPr/>
        <p:txBody>
          <a:bodyPr/>
          <a:lstStyle/>
          <a:p>
            <a:fld id="{F317719D-4397-416A-8DF5-E7F1C2D18F40}" type="slidenum">
              <a:rPr lang="en-US" smtClean="0"/>
              <a:t>7</a:t>
            </a:fld>
            <a:endParaRPr lang="en-US"/>
          </a:p>
        </p:txBody>
      </p:sp>
    </p:spTree>
    <p:extLst>
      <p:ext uri="{BB962C8B-B14F-4D97-AF65-F5344CB8AC3E}">
        <p14:creationId xmlns:p14="http://schemas.microsoft.com/office/powerpoint/2010/main" val="2186023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Data Transmission Media </a:t>
            </a:r>
          </a:p>
        </p:txBody>
      </p:sp>
      <p:sp>
        <p:nvSpPr>
          <p:cNvPr id="3" name="Content Placeholder 2"/>
          <p:cNvSpPr>
            <a:spLocks noGrp="1"/>
          </p:cNvSpPr>
          <p:nvPr>
            <p:ph idx="1"/>
          </p:nvPr>
        </p:nvSpPr>
        <p:spPr/>
        <p:txBody>
          <a:bodyPr>
            <a:normAutofit/>
          </a:bodyPr>
          <a:lstStyle/>
          <a:p>
            <a:pPr algn="just"/>
            <a:r>
              <a:rPr lang="en-US" dirty="0"/>
              <a:t>Transmission media refers to the physical means by which data is transmitted from one device to another in a communication system. </a:t>
            </a:r>
          </a:p>
          <a:p>
            <a:pPr algn="just"/>
            <a:r>
              <a:rPr lang="en-US" dirty="0"/>
              <a:t>Data is transmitted through the electromagnetic signals or wave signal or light signal.</a:t>
            </a:r>
          </a:p>
          <a:p>
            <a:pPr algn="just"/>
            <a:r>
              <a:rPr lang="en-US" dirty="0"/>
              <a:t>Transmission media is of two types are wired media and wireless media. In wired media, medium characteristics are more important whereas, in wireless media, signal characteristics are more important.</a:t>
            </a:r>
          </a:p>
          <a:p>
            <a:pPr algn="just"/>
            <a:r>
              <a:rPr lang="en-US" dirty="0"/>
              <a:t>Different transmission media have different properties such as bandwidth, delay, cost and ease of installation and maintenance.</a:t>
            </a:r>
          </a:p>
          <a:p>
            <a:pPr algn="just"/>
            <a:endParaRPr lang="en-US" dirty="0"/>
          </a:p>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D1AA6813-9D26-65CB-C2B9-689FCB6DC8EB}"/>
              </a:ext>
            </a:extLst>
          </p:cNvPr>
          <p:cNvSpPr>
            <a:spLocks noGrp="1"/>
          </p:cNvSpPr>
          <p:nvPr>
            <p:ph type="sldNum" sz="quarter" idx="12"/>
          </p:nvPr>
        </p:nvSpPr>
        <p:spPr/>
        <p:txBody>
          <a:bodyPr/>
          <a:lstStyle/>
          <a:p>
            <a:fld id="{F317719D-4397-416A-8DF5-E7F1C2D18F40}" type="slidenum">
              <a:rPr lang="en-US" smtClean="0"/>
              <a:t>8</a:t>
            </a:fld>
            <a:endParaRPr lang="en-US"/>
          </a:p>
        </p:txBody>
      </p:sp>
    </p:spTree>
    <p:extLst>
      <p:ext uri="{BB962C8B-B14F-4D97-AF65-F5344CB8AC3E}">
        <p14:creationId xmlns:p14="http://schemas.microsoft.com/office/powerpoint/2010/main" val="682432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Transmission media</a:t>
            </a:r>
          </a:p>
        </p:txBody>
      </p:sp>
      <p:sp>
        <p:nvSpPr>
          <p:cNvPr id="3" name="Slide Number Placeholder 2">
            <a:extLst>
              <a:ext uri="{FF2B5EF4-FFF2-40B4-BE49-F238E27FC236}">
                <a16:creationId xmlns:a16="http://schemas.microsoft.com/office/drawing/2014/main" id="{6A742C7B-82BB-CBC9-6B38-37591C3293E7}"/>
              </a:ext>
            </a:extLst>
          </p:cNvPr>
          <p:cNvSpPr>
            <a:spLocks noGrp="1"/>
          </p:cNvSpPr>
          <p:nvPr>
            <p:ph type="sldNum" sz="quarter" idx="12"/>
          </p:nvPr>
        </p:nvSpPr>
        <p:spPr/>
        <p:txBody>
          <a:bodyPr/>
          <a:lstStyle/>
          <a:p>
            <a:fld id="{F317719D-4397-416A-8DF5-E7F1C2D18F40}" type="slidenum">
              <a:rPr lang="en-US" smtClean="0"/>
              <a:t>9</a:t>
            </a:fld>
            <a:endParaRPr lang="en-US"/>
          </a:p>
        </p:txBody>
      </p:sp>
      <p:pic>
        <p:nvPicPr>
          <p:cNvPr id="6" name="Picture 5">
            <a:extLst>
              <a:ext uri="{FF2B5EF4-FFF2-40B4-BE49-F238E27FC236}">
                <a16:creationId xmlns:a16="http://schemas.microsoft.com/office/drawing/2014/main" id="{817162DB-354D-070C-B431-CFC373C3E8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4072" y="3804018"/>
            <a:ext cx="4447778" cy="2482481"/>
          </a:xfrm>
          <a:prstGeom prst="rect">
            <a:avLst/>
          </a:prstGeom>
        </p:spPr>
      </p:pic>
      <p:sp>
        <p:nvSpPr>
          <p:cNvPr id="8" name="TextBox 7">
            <a:extLst>
              <a:ext uri="{FF2B5EF4-FFF2-40B4-BE49-F238E27FC236}">
                <a16:creationId xmlns:a16="http://schemas.microsoft.com/office/drawing/2014/main" id="{34A45C73-9617-57E0-69B3-658E049FB76F}"/>
              </a:ext>
            </a:extLst>
          </p:cNvPr>
          <p:cNvSpPr txBox="1"/>
          <p:nvPr/>
        </p:nvSpPr>
        <p:spPr>
          <a:xfrm>
            <a:off x="990600" y="2324100"/>
            <a:ext cx="10467975" cy="923330"/>
          </a:xfrm>
          <a:prstGeom prst="rect">
            <a:avLst/>
          </a:prstGeom>
          <a:noFill/>
        </p:spPr>
        <p:txBody>
          <a:bodyPr wrap="square" rtlCol="0">
            <a:spAutoFit/>
          </a:bodyPr>
          <a:lstStyle/>
          <a:p>
            <a:r>
              <a:rPr lang="en-US" dirty="0"/>
              <a:t>Guided medium: It used metal wire or glass to transmit data in form of electromagnetic signals or light signals</a:t>
            </a:r>
          </a:p>
          <a:p>
            <a:r>
              <a:rPr lang="en-US" dirty="0"/>
              <a:t>Unguided medium : It uses air as medium to transmit data in form of radio signals</a:t>
            </a:r>
          </a:p>
        </p:txBody>
      </p:sp>
    </p:spTree>
    <p:extLst>
      <p:ext uri="{BB962C8B-B14F-4D97-AF65-F5344CB8AC3E}">
        <p14:creationId xmlns:p14="http://schemas.microsoft.com/office/powerpoint/2010/main" val="2656522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Twisted pair cable</a:t>
            </a:r>
          </a:p>
        </p:txBody>
      </p:sp>
      <p:sp>
        <p:nvSpPr>
          <p:cNvPr id="3" name="Content Placeholder 2"/>
          <p:cNvSpPr>
            <a:spLocks noGrp="1"/>
          </p:cNvSpPr>
          <p:nvPr>
            <p:ph idx="1"/>
          </p:nvPr>
        </p:nvSpPr>
        <p:spPr/>
        <p:txBody>
          <a:bodyPr>
            <a:normAutofit fontScale="92500" lnSpcReduction="20000"/>
          </a:bodyPr>
          <a:lstStyle/>
          <a:p>
            <a:pPr algn="just"/>
            <a:r>
              <a:rPr lang="en-US" dirty="0"/>
              <a:t>Twisted Pair Cable is a type of copper cable used in communication systems. It is composed of two insulated copper wires that are twisted together in a spiral pattern. The twisting helps to reduce the amount of electromagnetic interference (EMI) and radio frequency interference (RFI) that the cable picks up.</a:t>
            </a:r>
          </a:p>
          <a:p>
            <a:pPr algn="just"/>
            <a:r>
              <a:rPr lang="en-US" dirty="0"/>
              <a:t>The connector used in twisted pair cable is RJ connector.</a:t>
            </a:r>
          </a:p>
          <a:p>
            <a:pPr algn="just"/>
            <a:r>
              <a:rPr lang="en-US" dirty="0"/>
              <a:t>There are two types of twisted pair cable: unshielded twisted pair (UTP) and shielded twisted pair (STP). UTP cable is more commonly used for networking applications because it is lightweight, flexible, and less expensive than STP cable. </a:t>
            </a:r>
          </a:p>
          <a:p>
            <a:pPr algn="just"/>
            <a:r>
              <a:rPr lang="en-US" dirty="0"/>
              <a:t>Twisted pair cable is commonly used for Ethernet networks and telephone lines. It is a reliable and cost-effective transmission medium that can support both data and voice communication.</a:t>
            </a:r>
          </a:p>
        </p:txBody>
      </p:sp>
      <p:sp>
        <p:nvSpPr>
          <p:cNvPr id="4" name="Slide Number Placeholder 3">
            <a:extLst>
              <a:ext uri="{FF2B5EF4-FFF2-40B4-BE49-F238E27FC236}">
                <a16:creationId xmlns:a16="http://schemas.microsoft.com/office/drawing/2014/main" id="{B16A1CB3-BBC6-AB9B-2CAF-C27FCF54F050}"/>
              </a:ext>
            </a:extLst>
          </p:cNvPr>
          <p:cNvSpPr>
            <a:spLocks noGrp="1"/>
          </p:cNvSpPr>
          <p:nvPr>
            <p:ph type="sldNum" sz="quarter" idx="12"/>
          </p:nvPr>
        </p:nvSpPr>
        <p:spPr/>
        <p:txBody>
          <a:bodyPr/>
          <a:lstStyle/>
          <a:p>
            <a:fld id="{F317719D-4397-416A-8DF5-E7F1C2D18F40}" type="slidenum">
              <a:rPr lang="en-US" smtClean="0"/>
              <a:t>10</a:t>
            </a:fld>
            <a:endParaRPr lang="en-US"/>
          </a:p>
        </p:txBody>
      </p:sp>
    </p:spTree>
    <p:extLst>
      <p:ext uri="{BB962C8B-B14F-4D97-AF65-F5344CB8AC3E}">
        <p14:creationId xmlns:p14="http://schemas.microsoft.com/office/powerpoint/2010/main" val="187051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Twisted Pair cable</a:t>
            </a:r>
            <a:br>
              <a:rPr lang="en-US" b="1" dirty="0"/>
            </a:br>
            <a:endParaRPr lang="en-US" b="1" dirty="0"/>
          </a:p>
        </p:txBody>
      </p:sp>
      <p:sp>
        <p:nvSpPr>
          <p:cNvPr id="3" name="Slide Number Placeholder 2">
            <a:extLst>
              <a:ext uri="{FF2B5EF4-FFF2-40B4-BE49-F238E27FC236}">
                <a16:creationId xmlns:a16="http://schemas.microsoft.com/office/drawing/2014/main" id="{307D74DF-4951-A76A-AA7E-A53396585092}"/>
              </a:ext>
            </a:extLst>
          </p:cNvPr>
          <p:cNvSpPr>
            <a:spLocks noGrp="1"/>
          </p:cNvSpPr>
          <p:nvPr>
            <p:ph type="sldNum" sz="quarter" idx="12"/>
          </p:nvPr>
        </p:nvSpPr>
        <p:spPr/>
        <p:txBody>
          <a:bodyPr/>
          <a:lstStyle/>
          <a:p>
            <a:fld id="{F317719D-4397-416A-8DF5-E7F1C2D18F40}" type="slidenum">
              <a:rPr lang="en-US" smtClean="0"/>
              <a:t>11</a:t>
            </a:fld>
            <a:endParaRPr lang="en-US"/>
          </a:p>
        </p:txBody>
      </p:sp>
      <p:pic>
        <p:nvPicPr>
          <p:cNvPr id="6" name="Picture 5">
            <a:extLst>
              <a:ext uri="{FF2B5EF4-FFF2-40B4-BE49-F238E27FC236}">
                <a16:creationId xmlns:a16="http://schemas.microsoft.com/office/drawing/2014/main" id="{2698D27D-A843-7EC6-9A7A-823EE72C0B6B}"/>
              </a:ext>
            </a:extLst>
          </p:cNvPr>
          <p:cNvPicPr>
            <a:picLocks noChangeAspect="1"/>
          </p:cNvPicPr>
          <p:nvPr/>
        </p:nvPicPr>
        <p:blipFill rotWithShape="1">
          <a:blip r:embed="rId2">
            <a:extLst>
              <a:ext uri="{28A0092B-C50C-407E-A947-70E740481C1C}">
                <a14:useLocalDpi xmlns:a14="http://schemas.microsoft.com/office/drawing/2010/main" val="0"/>
              </a:ext>
            </a:extLst>
          </a:blip>
          <a:srcRect b="54385"/>
          <a:stretch/>
        </p:blipFill>
        <p:spPr>
          <a:xfrm>
            <a:off x="403405" y="2876550"/>
            <a:ext cx="6422497" cy="2543537"/>
          </a:xfrm>
          <a:prstGeom prst="rect">
            <a:avLst/>
          </a:prstGeom>
        </p:spPr>
      </p:pic>
      <p:pic>
        <p:nvPicPr>
          <p:cNvPr id="8" name="Picture 7">
            <a:extLst>
              <a:ext uri="{FF2B5EF4-FFF2-40B4-BE49-F238E27FC236}">
                <a16:creationId xmlns:a16="http://schemas.microsoft.com/office/drawing/2014/main" id="{33BF2BFE-3DBF-BDAA-C5BA-9C743579F45B}"/>
              </a:ext>
            </a:extLst>
          </p:cNvPr>
          <p:cNvPicPr>
            <a:picLocks noChangeAspect="1"/>
          </p:cNvPicPr>
          <p:nvPr/>
        </p:nvPicPr>
        <p:blipFill rotWithShape="1">
          <a:blip r:embed="rId2">
            <a:extLst>
              <a:ext uri="{28A0092B-C50C-407E-A947-70E740481C1C}">
                <a14:useLocalDpi xmlns:a14="http://schemas.microsoft.com/office/drawing/2010/main" val="0"/>
              </a:ext>
            </a:extLst>
          </a:blip>
          <a:srcRect t="45616"/>
          <a:stretch/>
        </p:blipFill>
        <p:spPr>
          <a:xfrm>
            <a:off x="6467475" y="2971800"/>
            <a:ext cx="5608031" cy="2647950"/>
          </a:xfrm>
          <a:prstGeom prst="rect">
            <a:avLst/>
          </a:prstGeom>
        </p:spPr>
      </p:pic>
    </p:spTree>
    <p:extLst>
      <p:ext uri="{BB962C8B-B14F-4D97-AF65-F5344CB8AC3E}">
        <p14:creationId xmlns:p14="http://schemas.microsoft.com/office/powerpoint/2010/main" val="267015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Twisted Pair cable</a:t>
            </a:r>
            <a:br>
              <a:rPr lang="en-US" b="1" dirty="0"/>
            </a:br>
            <a:endParaRPr lang="en-US" b="1" dirty="0"/>
          </a:p>
        </p:txBody>
      </p:sp>
      <p:sp>
        <p:nvSpPr>
          <p:cNvPr id="3" name="Slide Number Placeholder 2">
            <a:extLst>
              <a:ext uri="{FF2B5EF4-FFF2-40B4-BE49-F238E27FC236}">
                <a16:creationId xmlns:a16="http://schemas.microsoft.com/office/drawing/2014/main" id="{307D74DF-4951-A76A-AA7E-A53396585092}"/>
              </a:ext>
            </a:extLst>
          </p:cNvPr>
          <p:cNvSpPr>
            <a:spLocks noGrp="1"/>
          </p:cNvSpPr>
          <p:nvPr>
            <p:ph type="sldNum" sz="quarter" idx="12"/>
          </p:nvPr>
        </p:nvSpPr>
        <p:spPr/>
        <p:txBody>
          <a:bodyPr/>
          <a:lstStyle/>
          <a:p>
            <a:fld id="{F317719D-4397-416A-8DF5-E7F1C2D18F40}" type="slidenum">
              <a:rPr lang="en-US" smtClean="0"/>
              <a:t>12</a:t>
            </a:fld>
            <a:endParaRPr lang="en-US"/>
          </a:p>
        </p:txBody>
      </p:sp>
      <p:pic>
        <p:nvPicPr>
          <p:cNvPr id="5" name="Picture 4">
            <a:extLst>
              <a:ext uri="{FF2B5EF4-FFF2-40B4-BE49-F238E27FC236}">
                <a16:creationId xmlns:a16="http://schemas.microsoft.com/office/drawing/2014/main" id="{ED9342AA-F506-FA68-F6D4-E875F480D7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2150" y="2342696"/>
            <a:ext cx="5695950" cy="4219575"/>
          </a:xfrm>
          <a:prstGeom prst="rect">
            <a:avLst/>
          </a:prstGeom>
        </p:spPr>
      </p:pic>
      <p:pic>
        <p:nvPicPr>
          <p:cNvPr id="9" name="Picture 8">
            <a:extLst>
              <a:ext uri="{FF2B5EF4-FFF2-40B4-BE49-F238E27FC236}">
                <a16:creationId xmlns:a16="http://schemas.microsoft.com/office/drawing/2014/main" id="{A0F7AFA1-C636-53AE-A755-9CA3C91F32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2925" y="2570613"/>
            <a:ext cx="2145258" cy="2109689"/>
          </a:xfrm>
          <a:prstGeom prst="rect">
            <a:avLst/>
          </a:prstGeom>
        </p:spPr>
      </p:pic>
      <p:pic>
        <p:nvPicPr>
          <p:cNvPr id="11" name="Picture 10">
            <a:extLst>
              <a:ext uri="{FF2B5EF4-FFF2-40B4-BE49-F238E27FC236}">
                <a16:creationId xmlns:a16="http://schemas.microsoft.com/office/drawing/2014/main" id="{8511E4B5-AB5C-BF64-99E8-09586DD07B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925" y="4680302"/>
            <a:ext cx="2049535" cy="1867354"/>
          </a:xfrm>
          <a:prstGeom prst="rect">
            <a:avLst/>
          </a:prstGeom>
        </p:spPr>
      </p:pic>
      <p:sp>
        <p:nvSpPr>
          <p:cNvPr id="12" name="TextBox 11">
            <a:extLst>
              <a:ext uri="{FF2B5EF4-FFF2-40B4-BE49-F238E27FC236}">
                <a16:creationId xmlns:a16="http://schemas.microsoft.com/office/drawing/2014/main" id="{CC41A17F-FF92-4D81-6727-15A623E66538}"/>
              </a:ext>
            </a:extLst>
          </p:cNvPr>
          <p:cNvSpPr txBox="1"/>
          <p:nvPr/>
        </p:nvSpPr>
        <p:spPr>
          <a:xfrm>
            <a:off x="3333750" y="2771775"/>
            <a:ext cx="1695450" cy="646331"/>
          </a:xfrm>
          <a:prstGeom prst="rect">
            <a:avLst/>
          </a:prstGeom>
          <a:noFill/>
        </p:spPr>
        <p:txBody>
          <a:bodyPr wrap="square" rtlCol="0">
            <a:spAutoFit/>
          </a:bodyPr>
          <a:lstStyle/>
          <a:p>
            <a:r>
              <a:rPr lang="en-US" dirty="0"/>
              <a:t>RJ 45 connector</a:t>
            </a:r>
          </a:p>
        </p:txBody>
      </p:sp>
      <p:sp>
        <p:nvSpPr>
          <p:cNvPr id="13" name="TextBox 12">
            <a:extLst>
              <a:ext uri="{FF2B5EF4-FFF2-40B4-BE49-F238E27FC236}">
                <a16:creationId xmlns:a16="http://schemas.microsoft.com/office/drawing/2014/main" id="{8657D47E-F83A-2721-B3F7-7FF09D6FC9A3}"/>
              </a:ext>
            </a:extLst>
          </p:cNvPr>
          <p:cNvSpPr txBox="1"/>
          <p:nvPr/>
        </p:nvSpPr>
        <p:spPr>
          <a:xfrm>
            <a:off x="3183010" y="5238001"/>
            <a:ext cx="1695450" cy="646331"/>
          </a:xfrm>
          <a:prstGeom prst="rect">
            <a:avLst/>
          </a:prstGeom>
          <a:noFill/>
        </p:spPr>
        <p:txBody>
          <a:bodyPr wrap="square" rtlCol="0">
            <a:spAutoFit/>
          </a:bodyPr>
          <a:lstStyle/>
          <a:p>
            <a:r>
              <a:rPr lang="en-US" dirty="0"/>
              <a:t>RJ 11 connector</a:t>
            </a:r>
          </a:p>
        </p:txBody>
      </p:sp>
    </p:spTree>
    <p:extLst>
      <p:ext uri="{BB962C8B-B14F-4D97-AF65-F5344CB8AC3E}">
        <p14:creationId xmlns:p14="http://schemas.microsoft.com/office/powerpoint/2010/main" val="2367986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Coaxial cable</a:t>
            </a:r>
          </a:p>
        </p:txBody>
      </p:sp>
      <p:sp>
        <p:nvSpPr>
          <p:cNvPr id="3" name="Content Placeholder 2"/>
          <p:cNvSpPr>
            <a:spLocks noGrp="1"/>
          </p:cNvSpPr>
          <p:nvPr>
            <p:ph idx="1"/>
          </p:nvPr>
        </p:nvSpPr>
        <p:spPr/>
        <p:txBody>
          <a:bodyPr>
            <a:normAutofit fontScale="92500"/>
          </a:bodyPr>
          <a:lstStyle/>
          <a:p>
            <a:pPr algn="just"/>
            <a:r>
              <a:rPr lang="en-US" dirty="0"/>
              <a:t>Coaxial cable, also known as coax cable, is a type of cable used in communication systems. It consists of a copper core that carries the signal, surrounded by plastic insulation and foil shield. Over them a metal (closely woven braided mesh) encased and finally another protective plastic casing</a:t>
            </a:r>
          </a:p>
          <a:p>
            <a:pPr algn="just"/>
            <a:r>
              <a:rPr lang="en-US" dirty="0"/>
              <a:t>The metal shield helps to reduce electromagnetic interference (EMI) and radio frequency interference (RFI) that can affect the signal quality. </a:t>
            </a:r>
          </a:p>
          <a:p>
            <a:pPr algn="just"/>
            <a:r>
              <a:rPr lang="en-US" dirty="0"/>
              <a:t>Coaxial cable is commonly used for cable television (CATV) and broadband internet. It is also used in professional video and audio applications, such as in studios and broadcast facilities. </a:t>
            </a:r>
          </a:p>
          <a:p>
            <a:pPr algn="just"/>
            <a:r>
              <a:rPr lang="en-US" dirty="0"/>
              <a:t>One of the advantages of coaxial cable is its ability to transmit high-frequency signals over long distances with minimal signal loss.</a:t>
            </a:r>
          </a:p>
        </p:txBody>
      </p:sp>
      <p:sp>
        <p:nvSpPr>
          <p:cNvPr id="4" name="Slide Number Placeholder 3">
            <a:extLst>
              <a:ext uri="{FF2B5EF4-FFF2-40B4-BE49-F238E27FC236}">
                <a16:creationId xmlns:a16="http://schemas.microsoft.com/office/drawing/2014/main" id="{523CE95C-5BBA-E728-C89D-5511CDDB39FC}"/>
              </a:ext>
            </a:extLst>
          </p:cNvPr>
          <p:cNvSpPr>
            <a:spLocks noGrp="1"/>
          </p:cNvSpPr>
          <p:nvPr>
            <p:ph type="sldNum" sz="quarter" idx="12"/>
          </p:nvPr>
        </p:nvSpPr>
        <p:spPr/>
        <p:txBody>
          <a:bodyPr/>
          <a:lstStyle/>
          <a:p>
            <a:fld id="{F317719D-4397-416A-8DF5-E7F1C2D18F40}" type="slidenum">
              <a:rPr lang="en-US" smtClean="0"/>
              <a:t>13</a:t>
            </a:fld>
            <a:endParaRPr lang="en-US"/>
          </a:p>
        </p:txBody>
      </p:sp>
    </p:spTree>
    <p:extLst>
      <p:ext uri="{BB962C8B-B14F-4D97-AF65-F5344CB8AC3E}">
        <p14:creationId xmlns:p14="http://schemas.microsoft.com/office/powerpoint/2010/main" val="2362495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Coaxial cable</a:t>
            </a:r>
          </a:p>
        </p:txBody>
      </p:sp>
      <p:pic>
        <p:nvPicPr>
          <p:cNvPr id="4098" name="Picture 2" descr="What is a coaxial cable in a computer? - Quora"/>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387"/>
          <a:stretch/>
        </p:blipFill>
        <p:spPr bwMode="auto">
          <a:xfrm>
            <a:off x="491135" y="2971799"/>
            <a:ext cx="4581525" cy="235332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FCE0B02D-A915-440F-8890-E89EF97730CA}"/>
              </a:ext>
            </a:extLst>
          </p:cNvPr>
          <p:cNvSpPr>
            <a:spLocks noGrp="1"/>
          </p:cNvSpPr>
          <p:nvPr>
            <p:ph type="sldNum" sz="quarter" idx="12"/>
          </p:nvPr>
        </p:nvSpPr>
        <p:spPr/>
        <p:txBody>
          <a:bodyPr/>
          <a:lstStyle/>
          <a:p>
            <a:fld id="{F317719D-4397-416A-8DF5-E7F1C2D18F40}" type="slidenum">
              <a:rPr lang="en-US" smtClean="0"/>
              <a:t>14</a:t>
            </a:fld>
            <a:endParaRPr lang="en-US"/>
          </a:p>
        </p:txBody>
      </p:sp>
      <p:pic>
        <p:nvPicPr>
          <p:cNvPr id="4100" name="Picture 4" descr="DX Engineering DXE-RG6UQF200 DX Engineering RG-6/U 75-ohm Quad-Shield Coax  Cable Assemblies | DX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5660" y="2941874"/>
            <a:ext cx="2157513" cy="21575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6FADA06-BE56-7152-34F2-CFB237739F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92085" y="2294943"/>
            <a:ext cx="2803718" cy="3451377"/>
          </a:xfrm>
          <a:prstGeom prst="rect">
            <a:avLst/>
          </a:prstGeom>
        </p:spPr>
      </p:pic>
      <p:sp>
        <p:nvSpPr>
          <p:cNvPr id="7" name="TextBox 6">
            <a:extLst>
              <a:ext uri="{FF2B5EF4-FFF2-40B4-BE49-F238E27FC236}">
                <a16:creationId xmlns:a16="http://schemas.microsoft.com/office/drawing/2014/main" id="{7AC1460A-53E7-0731-C7B5-DA588021EF97}"/>
              </a:ext>
            </a:extLst>
          </p:cNvPr>
          <p:cNvSpPr txBox="1"/>
          <p:nvPr/>
        </p:nvSpPr>
        <p:spPr>
          <a:xfrm>
            <a:off x="8692085" y="5534025"/>
            <a:ext cx="3023665" cy="369332"/>
          </a:xfrm>
          <a:prstGeom prst="rect">
            <a:avLst/>
          </a:prstGeom>
          <a:noFill/>
        </p:spPr>
        <p:txBody>
          <a:bodyPr wrap="square" rtlCol="0">
            <a:spAutoFit/>
          </a:bodyPr>
          <a:lstStyle/>
          <a:p>
            <a:pPr algn="ctr"/>
            <a:r>
              <a:rPr lang="en-US" dirty="0"/>
              <a:t>BNC connector</a:t>
            </a:r>
          </a:p>
        </p:txBody>
      </p:sp>
    </p:spTree>
    <p:extLst>
      <p:ext uri="{BB962C8B-B14F-4D97-AF65-F5344CB8AC3E}">
        <p14:creationId xmlns:p14="http://schemas.microsoft.com/office/powerpoint/2010/main" val="1457024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Fiber Optic Cable</a:t>
            </a:r>
          </a:p>
        </p:txBody>
      </p:sp>
      <p:sp>
        <p:nvSpPr>
          <p:cNvPr id="3" name="Content Placeholder 2"/>
          <p:cNvSpPr>
            <a:spLocks noGrp="1"/>
          </p:cNvSpPr>
          <p:nvPr>
            <p:ph idx="1"/>
          </p:nvPr>
        </p:nvSpPr>
        <p:spPr/>
        <p:txBody>
          <a:bodyPr>
            <a:normAutofit fontScale="92500" lnSpcReduction="10000"/>
          </a:bodyPr>
          <a:lstStyle/>
          <a:p>
            <a:pPr algn="just"/>
            <a:r>
              <a:rPr lang="en-US" dirty="0"/>
              <a:t>Fiber optic cable, also known as optical fiber cable, is a type of cable used in communication systems that transmits data in form of light.</a:t>
            </a:r>
          </a:p>
          <a:p>
            <a:pPr algn="just"/>
            <a:r>
              <a:rPr lang="en-US" dirty="0"/>
              <a:t> It consists of a glass or plastic core that carries the light, surrounded by cladding that helps to keep the light within the core. The core and cladding are covered by a protective outer layer called the buffer.</a:t>
            </a:r>
          </a:p>
          <a:p>
            <a:pPr algn="just"/>
            <a:r>
              <a:rPr lang="en-US" dirty="0"/>
              <a:t>The refractive index of cladding less than of core and the light is passed in core in the angle so that total internal reflection is realized.</a:t>
            </a:r>
          </a:p>
          <a:p>
            <a:pPr algn="just"/>
            <a:r>
              <a:rPr lang="en-US" dirty="0"/>
              <a:t>Fiber optic cable is known for its high bandwidth, fast data transmission speeds, and resistance to interference since it uses light signal .</a:t>
            </a:r>
          </a:p>
          <a:p>
            <a:pPr algn="just"/>
            <a:r>
              <a:rPr lang="en-US" dirty="0"/>
              <a:t>It is widely used in high-speed data transmission applications, such as in the internet backbone, long-distance telecommunications.</a:t>
            </a:r>
          </a:p>
        </p:txBody>
      </p:sp>
      <p:sp>
        <p:nvSpPr>
          <p:cNvPr id="4" name="Slide Number Placeholder 3">
            <a:extLst>
              <a:ext uri="{FF2B5EF4-FFF2-40B4-BE49-F238E27FC236}">
                <a16:creationId xmlns:a16="http://schemas.microsoft.com/office/drawing/2014/main" id="{23D3C5BA-44D6-FF13-49B6-DAEF3BDF6988}"/>
              </a:ext>
            </a:extLst>
          </p:cNvPr>
          <p:cNvSpPr>
            <a:spLocks noGrp="1"/>
          </p:cNvSpPr>
          <p:nvPr>
            <p:ph type="sldNum" sz="quarter" idx="12"/>
          </p:nvPr>
        </p:nvSpPr>
        <p:spPr/>
        <p:txBody>
          <a:bodyPr/>
          <a:lstStyle/>
          <a:p>
            <a:fld id="{F317719D-4397-416A-8DF5-E7F1C2D18F40}" type="slidenum">
              <a:rPr lang="en-US" smtClean="0"/>
              <a:t>15</a:t>
            </a:fld>
            <a:endParaRPr lang="en-US"/>
          </a:p>
        </p:txBody>
      </p:sp>
    </p:spTree>
    <p:extLst>
      <p:ext uri="{BB962C8B-B14F-4D97-AF65-F5344CB8AC3E}">
        <p14:creationId xmlns:p14="http://schemas.microsoft.com/office/powerpoint/2010/main" val="3122258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Fiber Optic Cable</a:t>
            </a:r>
          </a:p>
        </p:txBody>
      </p:sp>
      <p:sp>
        <p:nvSpPr>
          <p:cNvPr id="3" name="Slide Number Placeholder 2">
            <a:extLst>
              <a:ext uri="{FF2B5EF4-FFF2-40B4-BE49-F238E27FC236}">
                <a16:creationId xmlns:a16="http://schemas.microsoft.com/office/drawing/2014/main" id="{31CFFACE-F983-5EB0-810E-BBAFB52AA606}"/>
              </a:ext>
            </a:extLst>
          </p:cNvPr>
          <p:cNvSpPr>
            <a:spLocks noGrp="1"/>
          </p:cNvSpPr>
          <p:nvPr>
            <p:ph type="sldNum" sz="quarter" idx="12"/>
          </p:nvPr>
        </p:nvSpPr>
        <p:spPr/>
        <p:txBody>
          <a:bodyPr/>
          <a:lstStyle/>
          <a:p>
            <a:fld id="{F317719D-4397-416A-8DF5-E7F1C2D18F40}" type="slidenum">
              <a:rPr lang="en-US" smtClean="0"/>
              <a:t>16</a:t>
            </a:fld>
            <a:endParaRPr lang="en-US"/>
          </a:p>
        </p:txBody>
      </p:sp>
      <p:pic>
        <p:nvPicPr>
          <p:cNvPr id="7" name="Content Placeholder 6">
            <a:extLst>
              <a:ext uri="{FF2B5EF4-FFF2-40B4-BE49-F238E27FC236}">
                <a16:creationId xmlns:a16="http://schemas.microsoft.com/office/drawing/2014/main" id="{01A45F7A-4D80-E4C1-BD39-4E6E2AF2F7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0906" y="2654300"/>
            <a:ext cx="3480594" cy="2567905"/>
          </a:xfrm>
        </p:spPr>
      </p:pic>
      <p:pic>
        <p:nvPicPr>
          <p:cNvPr id="9" name="Picture 8">
            <a:extLst>
              <a:ext uri="{FF2B5EF4-FFF2-40B4-BE49-F238E27FC236}">
                <a16:creationId xmlns:a16="http://schemas.microsoft.com/office/drawing/2014/main" id="{BD81607F-6EFF-89A1-A817-9FEABC656A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265" y="2872178"/>
            <a:ext cx="3844829" cy="2137971"/>
          </a:xfrm>
          <a:prstGeom prst="rect">
            <a:avLst/>
          </a:prstGeom>
        </p:spPr>
      </p:pic>
      <p:pic>
        <p:nvPicPr>
          <p:cNvPr id="11" name="Picture 10">
            <a:extLst>
              <a:ext uri="{FF2B5EF4-FFF2-40B4-BE49-F238E27FC236}">
                <a16:creationId xmlns:a16="http://schemas.microsoft.com/office/drawing/2014/main" id="{03EA9568-1AFC-1BC8-7F13-A3755E20B0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5132" y="3352799"/>
            <a:ext cx="2857500" cy="1576388"/>
          </a:xfrm>
          <a:prstGeom prst="rect">
            <a:avLst/>
          </a:prstGeom>
        </p:spPr>
      </p:pic>
    </p:spTree>
    <p:extLst>
      <p:ext uri="{BB962C8B-B14F-4D97-AF65-F5344CB8AC3E}">
        <p14:creationId xmlns:p14="http://schemas.microsoft.com/office/powerpoint/2010/main" val="2435388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Unguided Media</a:t>
            </a:r>
          </a:p>
        </p:txBody>
      </p:sp>
      <p:sp>
        <p:nvSpPr>
          <p:cNvPr id="3" name="Content Placeholder 2"/>
          <p:cNvSpPr>
            <a:spLocks noGrp="1"/>
          </p:cNvSpPr>
          <p:nvPr>
            <p:ph idx="1"/>
          </p:nvPr>
        </p:nvSpPr>
        <p:spPr/>
        <p:txBody>
          <a:bodyPr/>
          <a:lstStyle/>
          <a:p>
            <a:pPr algn="just"/>
            <a:r>
              <a:rPr lang="en-US" dirty="0"/>
              <a:t>Unguided or wireless communication refers to the transmission of information or data without the use of physical connections or wires. </a:t>
            </a:r>
          </a:p>
          <a:p>
            <a:pPr algn="just"/>
            <a:r>
              <a:rPr lang="en-US" dirty="0"/>
              <a:t>Instead, wireless communication relies on electromagnetic waves or other forms of energy to transmit data from one device to another through air. </a:t>
            </a:r>
          </a:p>
          <a:p>
            <a:pPr algn="just"/>
            <a:r>
              <a:rPr lang="en-US" dirty="0"/>
              <a:t>This type of communication provides greater mobility and freedom for users as they are not tied to a physical connection.</a:t>
            </a:r>
          </a:p>
        </p:txBody>
      </p:sp>
      <p:sp>
        <p:nvSpPr>
          <p:cNvPr id="4" name="Slide Number Placeholder 3">
            <a:extLst>
              <a:ext uri="{FF2B5EF4-FFF2-40B4-BE49-F238E27FC236}">
                <a16:creationId xmlns:a16="http://schemas.microsoft.com/office/drawing/2014/main" id="{9BD2D026-4B60-BAF2-3764-8212FC64F36E}"/>
              </a:ext>
            </a:extLst>
          </p:cNvPr>
          <p:cNvSpPr>
            <a:spLocks noGrp="1"/>
          </p:cNvSpPr>
          <p:nvPr>
            <p:ph type="sldNum" sz="quarter" idx="12"/>
          </p:nvPr>
        </p:nvSpPr>
        <p:spPr/>
        <p:txBody>
          <a:bodyPr/>
          <a:lstStyle/>
          <a:p>
            <a:fld id="{F317719D-4397-416A-8DF5-E7F1C2D18F40}" type="slidenum">
              <a:rPr lang="en-US" smtClean="0"/>
              <a:t>17</a:t>
            </a:fld>
            <a:endParaRPr lang="en-US"/>
          </a:p>
        </p:txBody>
      </p:sp>
    </p:spTree>
    <p:extLst>
      <p:ext uri="{BB962C8B-B14F-4D97-AF65-F5344CB8AC3E}">
        <p14:creationId xmlns:p14="http://schemas.microsoft.com/office/powerpoint/2010/main" val="3687890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Unguided media</a:t>
            </a:r>
          </a:p>
        </p:txBody>
      </p:sp>
      <p:sp>
        <p:nvSpPr>
          <p:cNvPr id="3" name="Content Placeholder 2"/>
          <p:cNvSpPr>
            <a:spLocks noGrp="1"/>
          </p:cNvSpPr>
          <p:nvPr>
            <p:ph idx="1"/>
          </p:nvPr>
        </p:nvSpPr>
        <p:spPr/>
        <p:txBody>
          <a:bodyPr>
            <a:normAutofit/>
          </a:bodyPr>
          <a:lstStyle/>
          <a:p>
            <a:pPr algn="just"/>
            <a:r>
              <a:rPr lang="en-US" dirty="0"/>
              <a:t>Radio Waves, Microwave System ,Communication satellite , Infrared waves</a:t>
            </a:r>
          </a:p>
        </p:txBody>
      </p:sp>
      <p:sp>
        <p:nvSpPr>
          <p:cNvPr id="4" name="Slide Number Placeholder 3">
            <a:extLst>
              <a:ext uri="{FF2B5EF4-FFF2-40B4-BE49-F238E27FC236}">
                <a16:creationId xmlns:a16="http://schemas.microsoft.com/office/drawing/2014/main" id="{29582328-6124-CAC0-E7F3-9BD07E62F92E}"/>
              </a:ext>
            </a:extLst>
          </p:cNvPr>
          <p:cNvSpPr>
            <a:spLocks noGrp="1"/>
          </p:cNvSpPr>
          <p:nvPr>
            <p:ph type="sldNum" sz="quarter" idx="12"/>
          </p:nvPr>
        </p:nvSpPr>
        <p:spPr/>
        <p:txBody>
          <a:bodyPr/>
          <a:lstStyle/>
          <a:p>
            <a:fld id="{F317719D-4397-416A-8DF5-E7F1C2D18F40}" type="slidenum">
              <a:rPr lang="en-US" smtClean="0"/>
              <a:t>18</a:t>
            </a:fld>
            <a:endParaRPr lang="en-US"/>
          </a:p>
        </p:txBody>
      </p:sp>
    </p:spTree>
    <p:extLst>
      <p:ext uri="{BB962C8B-B14F-4D97-AF65-F5344CB8AC3E}">
        <p14:creationId xmlns:p14="http://schemas.microsoft.com/office/powerpoint/2010/main" val="2043590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Radio waves communication</a:t>
            </a:r>
          </a:p>
        </p:txBody>
      </p:sp>
      <p:sp>
        <p:nvSpPr>
          <p:cNvPr id="3" name="Content Placeholder 2"/>
          <p:cNvSpPr>
            <a:spLocks noGrp="1"/>
          </p:cNvSpPr>
          <p:nvPr>
            <p:ph idx="1"/>
          </p:nvPr>
        </p:nvSpPr>
        <p:spPr>
          <a:xfrm>
            <a:off x="1154954" y="2603500"/>
            <a:ext cx="8055721" cy="3416300"/>
          </a:xfrm>
        </p:spPr>
        <p:txBody>
          <a:bodyPr>
            <a:normAutofit fontScale="92500" lnSpcReduction="10000"/>
          </a:bodyPr>
          <a:lstStyle/>
          <a:p>
            <a:pPr algn="just"/>
            <a:r>
              <a:rPr lang="en-US" dirty="0"/>
              <a:t>Electromagnetic waves ranging in frequencies between 3KHz and  1GHz are normally called radio waves.</a:t>
            </a:r>
          </a:p>
          <a:p>
            <a:pPr algn="just"/>
            <a:r>
              <a:rPr lang="en-US" dirty="0"/>
              <a:t>Radio waves are easy to generate, can travel long distance and can penetrate the obstacle, so are widely used for communication both indoors and outdoors.</a:t>
            </a:r>
          </a:p>
          <a:p>
            <a:r>
              <a:rPr lang="en-US" dirty="0"/>
              <a:t>It transmits in signal in omnidirectional.</a:t>
            </a:r>
            <a:br>
              <a:rPr lang="en-US" dirty="0"/>
            </a:br>
            <a:endParaRPr lang="en-US" dirty="0"/>
          </a:p>
          <a:p>
            <a:pPr algn="just"/>
            <a:r>
              <a:rPr lang="en-US" dirty="0"/>
              <a:t>Single sender and send signal to multiple receiving antenna.</a:t>
            </a:r>
          </a:p>
          <a:p>
            <a:pPr algn="just"/>
            <a:r>
              <a:rPr lang="en-US" dirty="0"/>
              <a:t>Disadvantage is radio waves can be interfered by sending another signal on same frequency.</a:t>
            </a:r>
          </a:p>
          <a:p>
            <a:pPr algn="just"/>
            <a:r>
              <a:rPr lang="en-US" dirty="0"/>
              <a:t>It is used in AM,FM radio, television, cordless phone ,walkie talkie</a:t>
            </a:r>
          </a:p>
          <a:p>
            <a:pPr algn="just"/>
            <a:endParaRPr lang="en-US" dirty="0"/>
          </a:p>
        </p:txBody>
      </p:sp>
      <p:sp>
        <p:nvSpPr>
          <p:cNvPr id="4" name="Slide Number Placeholder 3">
            <a:extLst>
              <a:ext uri="{FF2B5EF4-FFF2-40B4-BE49-F238E27FC236}">
                <a16:creationId xmlns:a16="http://schemas.microsoft.com/office/drawing/2014/main" id="{29582328-6124-CAC0-E7F3-9BD07E62F92E}"/>
              </a:ext>
            </a:extLst>
          </p:cNvPr>
          <p:cNvSpPr>
            <a:spLocks noGrp="1"/>
          </p:cNvSpPr>
          <p:nvPr>
            <p:ph type="sldNum" sz="quarter" idx="12"/>
          </p:nvPr>
        </p:nvSpPr>
        <p:spPr/>
        <p:txBody>
          <a:bodyPr/>
          <a:lstStyle/>
          <a:p>
            <a:fld id="{F317719D-4397-416A-8DF5-E7F1C2D18F40}" type="slidenum">
              <a:rPr lang="en-US" smtClean="0"/>
              <a:t>19</a:t>
            </a:fld>
            <a:endParaRPr lang="en-US"/>
          </a:p>
        </p:txBody>
      </p:sp>
      <p:pic>
        <p:nvPicPr>
          <p:cNvPr id="6" name="Picture 5">
            <a:extLst>
              <a:ext uri="{FF2B5EF4-FFF2-40B4-BE49-F238E27FC236}">
                <a16:creationId xmlns:a16="http://schemas.microsoft.com/office/drawing/2014/main" id="{BE0C7ACC-5934-8648-A018-2F58A61177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0027" y="3429001"/>
            <a:ext cx="2773261" cy="1643062"/>
          </a:xfrm>
          <a:prstGeom prst="rect">
            <a:avLst/>
          </a:prstGeom>
        </p:spPr>
      </p:pic>
    </p:spTree>
    <p:extLst>
      <p:ext uri="{BB962C8B-B14F-4D97-AF65-F5344CB8AC3E}">
        <p14:creationId xmlns:p14="http://schemas.microsoft.com/office/powerpoint/2010/main" val="3548882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Electromagnetic Spectrum</a:t>
            </a:r>
          </a:p>
        </p:txBody>
      </p:sp>
      <p:sp>
        <p:nvSpPr>
          <p:cNvPr id="3" name="Slide Number Placeholder 2">
            <a:extLst>
              <a:ext uri="{FF2B5EF4-FFF2-40B4-BE49-F238E27FC236}">
                <a16:creationId xmlns:a16="http://schemas.microsoft.com/office/drawing/2014/main" id="{A7D889F4-1B4E-92BE-8CD7-647913C55713}"/>
              </a:ext>
            </a:extLst>
          </p:cNvPr>
          <p:cNvSpPr>
            <a:spLocks noGrp="1"/>
          </p:cNvSpPr>
          <p:nvPr>
            <p:ph type="sldNum" sz="quarter" idx="12"/>
          </p:nvPr>
        </p:nvSpPr>
        <p:spPr/>
        <p:txBody>
          <a:bodyPr/>
          <a:lstStyle/>
          <a:p>
            <a:fld id="{F317719D-4397-416A-8DF5-E7F1C2D18F40}" type="slidenum">
              <a:rPr lang="en-US" smtClean="0"/>
              <a:t>20</a:t>
            </a:fld>
            <a:endParaRPr lang="en-US"/>
          </a:p>
        </p:txBody>
      </p:sp>
      <p:pic>
        <p:nvPicPr>
          <p:cNvPr id="9" name="Content Placeholder 8">
            <a:extLst>
              <a:ext uri="{FF2B5EF4-FFF2-40B4-BE49-F238E27FC236}">
                <a16:creationId xmlns:a16="http://schemas.microsoft.com/office/drawing/2014/main" id="{3BFFBA5D-22D6-04E8-9192-5FF5149AA6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8322" y="2603500"/>
            <a:ext cx="6575356" cy="3971516"/>
          </a:xfrm>
        </p:spPr>
      </p:pic>
    </p:spTree>
    <p:extLst>
      <p:ext uri="{BB962C8B-B14F-4D97-AF65-F5344CB8AC3E}">
        <p14:creationId xmlns:p14="http://schemas.microsoft.com/office/powerpoint/2010/main" val="1681336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Microwave station</a:t>
            </a:r>
          </a:p>
        </p:txBody>
      </p:sp>
      <p:sp>
        <p:nvSpPr>
          <p:cNvPr id="3" name="Content Placeholder 2"/>
          <p:cNvSpPr>
            <a:spLocks noGrp="1"/>
          </p:cNvSpPr>
          <p:nvPr>
            <p:ph idx="1"/>
          </p:nvPr>
        </p:nvSpPr>
        <p:spPr/>
        <p:txBody>
          <a:bodyPr>
            <a:normAutofit fontScale="85000" lnSpcReduction="20000"/>
          </a:bodyPr>
          <a:lstStyle/>
          <a:p>
            <a:pPr algn="just"/>
            <a:r>
              <a:rPr lang="en-US" dirty="0"/>
              <a:t>Electromagnetic wave having frequencies between 1 and 300GHz are called Microwaves.</a:t>
            </a:r>
          </a:p>
          <a:p>
            <a:pPr algn="just"/>
            <a:r>
              <a:rPr lang="en-US" dirty="0"/>
              <a:t>Microwave system uses high frequency(high speed) radio signals to transmit data through space.</a:t>
            </a:r>
          </a:p>
          <a:p>
            <a:pPr algn="just"/>
            <a:r>
              <a:rPr lang="en-US" dirty="0"/>
              <a:t>At microwaves frequencies the electromagnetic waves cannot bend and pass obstacles like hill. So, it is necessary that microwaves transmission be in the line of sight</a:t>
            </a:r>
          </a:p>
          <a:p>
            <a:pPr algn="just"/>
            <a:r>
              <a:rPr lang="en-US" dirty="0"/>
              <a:t>Line of sight communication means that there must be an unblocked direct line between the workstations and transceiver. The line of sight due to earths curvature is only 50Kms</a:t>
            </a:r>
          </a:p>
          <a:p>
            <a:pPr algn="just"/>
            <a:r>
              <a:rPr lang="en-US" dirty="0"/>
              <a:t>Microwave propagates in only one direction at a time. Hence, two frequencies are required for two way communication.</a:t>
            </a:r>
          </a:p>
          <a:p>
            <a:pPr algn="just"/>
            <a:r>
              <a:rPr lang="en-US" dirty="0"/>
              <a:t>Microwave signal loses its strength with distance. So repeaters must be place in interval of 25-30 km</a:t>
            </a:r>
          </a:p>
          <a:p>
            <a:pPr algn="just"/>
            <a:r>
              <a:rPr lang="en-US" dirty="0"/>
              <a:t>Microwave relay stations are placed generally on top of hill or tall buildings.</a:t>
            </a:r>
          </a:p>
        </p:txBody>
      </p:sp>
      <p:sp>
        <p:nvSpPr>
          <p:cNvPr id="4" name="Slide Number Placeholder 3">
            <a:extLst>
              <a:ext uri="{FF2B5EF4-FFF2-40B4-BE49-F238E27FC236}">
                <a16:creationId xmlns:a16="http://schemas.microsoft.com/office/drawing/2014/main" id="{6454F6E5-1C6D-EDE3-251B-DCA9108A9122}"/>
              </a:ext>
            </a:extLst>
          </p:cNvPr>
          <p:cNvSpPr>
            <a:spLocks noGrp="1"/>
          </p:cNvSpPr>
          <p:nvPr>
            <p:ph type="sldNum" sz="quarter" idx="12"/>
          </p:nvPr>
        </p:nvSpPr>
        <p:spPr/>
        <p:txBody>
          <a:bodyPr/>
          <a:lstStyle/>
          <a:p>
            <a:fld id="{F317719D-4397-416A-8DF5-E7F1C2D18F40}" type="slidenum">
              <a:rPr lang="en-US" smtClean="0"/>
              <a:t>21</a:t>
            </a:fld>
            <a:endParaRPr lang="en-US"/>
          </a:p>
        </p:txBody>
      </p:sp>
    </p:spTree>
    <p:extLst>
      <p:ext uri="{BB962C8B-B14F-4D97-AF65-F5344CB8AC3E}">
        <p14:creationId xmlns:p14="http://schemas.microsoft.com/office/powerpoint/2010/main" val="3779785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Microwave station</a:t>
            </a:r>
          </a:p>
        </p:txBody>
      </p:sp>
      <p:pic>
        <p:nvPicPr>
          <p:cNvPr id="2050" name="Picture 2" descr="Communication Via Microwaves | Phillips Telecom"/>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532503" y="2603500"/>
            <a:ext cx="6071307" cy="34163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4DFFB14-E3EE-6895-69E1-1BF02BE6DD3B}"/>
              </a:ext>
            </a:extLst>
          </p:cNvPr>
          <p:cNvSpPr>
            <a:spLocks noGrp="1"/>
          </p:cNvSpPr>
          <p:nvPr>
            <p:ph type="sldNum" sz="quarter" idx="12"/>
          </p:nvPr>
        </p:nvSpPr>
        <p:spPr/>
        <p:txBody>
          <a:bodyPr/>
          <a:lstStyle/>
          <a:p>
            <a:fld id="{F317719D-4397-416A-8DF5-E7F1C2D18F40}" type="slidenum">
              <a:rPr lang="en-US" smtClean="0"/>
              <a:t>22</a:t>
            </a:fld>
            <a:endParaRPr lang="en-US"/>
          </a:p>
        </p:txBody>
      </p:sp>
    </p:spTree>
    <p:extLst>
      <p:ext uri="{BB962C8B-B14F-4D97-AF65-F5344CB8AC3E}">
        <p14:creationId xmlns:p14="http://schemas.microsoft.com/office/powerpoint/2010/main" val="45229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Satellite Communication</a:t>
            </a:r>
          </a:p>
        </p:txBody>
      </p:sp>
      <p:sp>
        <p:nvSpPr>
          <p:cNvPr id="3" name="Content Placeholder 2"/>
          <p:cNvSpPr>
            <a:spLocks noGrp="1"/>
          </p:cNvSpPr>
          <p:nvPr>
            <p:ph idx="1"/>
          </p:nvPr>
        </p:nvSpPr>
        <p:spPr/>
        <p:txBody>
          <a:bodyPr>
            <a:normAutofit lnSpcReduction="10000"/>
          </a:bodyPr>
          <a:lstStyle/>
          <a:p>
            <a:pPr algn="just"/>
            <a:r>
              <a:rPr lang="en-US" dirty="0"/>
              <a:t>A Artificial satellite is an artificial object that is projected in space to orbit the Earth or another celestial body. Satellites are used for a variety of purposes, including communication, navigation, meteorology, and scientific research.</a:t>
            </a:r>
          </a:p>
          <a:p>
            <a:pPr algn="just"/>
            <a:r>
              <a:rPr lang="en-US" dirty="0"/>
              <a:t>Communication satellites are used to transmit signals from one location on the Earth to another, and are an important component of the global communication network. Navigation satellites are used to provide precise positional information to enable navigation systems, such as GPS. </a:t>
            </a:r>
          </a:p>
          <a:p>
            <a:pPr algn="just"/>
            <a:r>
              <a:rPr lang="en-US" dirty="0"/>
              <a:t>In satellite communication, the terms "uplink" and "downlink" refer to the transmission of signals between the Earth and a satellite. The uplink refers to the transmission of signals from the Earth to the satellite, while the downlink refers to the transmission of signals from the satellite to the Earth.</a:t>
            </a:r>
          </a:p>
          <a:p>
            <a:pPr algn="just"/>
            <a:endParaRPr lang="en-US" dirty="0"/>
          </a:p>
        </p:txBody>
      </p:sp>
      <p:sp>
        <p:nvSpPr>
          <p:cNvPr id="4" name="Slide Number Placeholder 3">
            <a:extLst>
              <a:ext uri="{FF2B5EF4-FFF2-40B4-BE49-F238E27FC236}">
                <a16:creationId xmlns:a16="http://schemas.microsoft.com/office/drawing/2014/main" id="{1FCD7C9D-FE77-3965-BDA0-0A1FF1DD8FB1}"/>
              </a:ext>
            </a:extLst>
          </p:cNvPr>
          <p:cNvSpPr>
            <a:spLocks noGrp="1"/>
          </p:cNvSpPr>
          <p:nvPr>
            <p:ph type="sldNum" sz="quarter" idx="12"/>
          </p:nvPr>
        </p:nvSpPr>
        <p:spPr/>
        <p:txBody>
          <a:bodyPr/>
          <a:lstStyle/>
          <a:p>
            <a:fld id="{F317719D-4397-416A-8DF5-E7F1C2D18F40}" type="slidenum">
              <a:rPr lang="en-US" smtClean="0"/>
              <a:t>23</a:t>
            </a:fld>
            <a:endParaRPr lang="en-US"/>
          </a:p>
        </p:txBody>
      </p:sp>
    </p:spTree>
    <p:extLst>
      <p:ext uri="{BB962C8B-B14F-4D97-AF65-F5344CB8AC3E}">
        <p14:creationId xmlns:p14="http://schemas.microsoft.com/office/powerpoint/2010/main" val="2658354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Satellite</a:t>
            </a:r>
          </a:p>
        </p:txBody>
      </p:sp>
      <p:pic>
        <p:nvPicPr>
          <p:cNvPr id="4098" name="Picture 2" descr="Satellite Communication: Definition, Block Diagram, Advantages, Application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109207" y="2603500"/>
            <a:ext cx="4917898" cy="34163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1CD98CF-CB7C-8368-C274-2FE88FC9A2C3}"/>
              </a:ext>
            </a:extLst>
          </p:cNvPr>
          <p:cNvSpPr>
            <a:spLocks noGrp="1"/>
          </p:cNvSpPr>
          <p:nvPr>
            <p:ph type="sldNum" sz="quarter" idx="12"/>
          </p:nvPr>
        </p:nvSpPr>
        <p:spPr/>
        <p:txBody>
          <a:bodyPr/>
          <a:lstStyle/>
          <a:p>
            <a:fld id="{F317719D-4397-416A-8DF5-E7F1C2D18F40}" type="slidenum">
              <a:rPr lang="en-US" smtClean="0"/>
              <a:t>24</a:t>
            </a:fld>
            <a:endParaRPr lang="en-US"/>
          </a:p>
        </p:txBody>
      </p:sp>
    </p:spTree>
    <p:extLst>
      <p:ext uri="{BB962C8B-B14F-4D97-AF65-F5344CB8AC3E}">
        <p14:creationId xmlns:p14="http://schemas.microsoft.com/office/powerpoint/2010/main" val="1085413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Questions:</a:t>
            </a:r>
          </a:p>
        </p:txBody>
      </p:sp>
      <p:sp>
        <p:nvSpPr>
          <p:cNvPr id="3" name="Content Placeholder 2"/>
          <p:cNvSpPr>
            <a:spLocks noGrp="1"/>
          </p:cNvSpPr>
          <p:nvPr>
            <p:ph idx="1"/>
          </p:nvPr>
        </p:nvSpPr>
        <p:spPr/>
        <p:txBody>
          <a:bodyPr/>
          <a:lstStyle/>
          <a:p>
            <a:r>
              <a:rPr lang="en-US" dirty="0"/>
              <a:t>What is Communication System? What are the types of Transmission media? </a:t>
            </a:r>
          </a:p>
          <a:p>
            <a:r>
              <a:rPr lang="en-US" dirty="0"/>
              <a:t>Differentiate between Guided and Unguided Transmission media.</a:t>
            </a:r>
          </a:p>
        </p:txBody>
      </p:sp>
      <p:sp>
        <p:nvSpPr>
          <p:cNvPr id="4" name="Slide Number Placeholder 3">
            <a:extLst>
              <a:ext uri="{FF2B5EF4-FFF2-40B4-BE49-F238E27FC236}">
                <a16:creationId xmlns:a16="http://schemas.microsoft.com/office/drawing/2014/main" id="{F1E1A793-ED32-8450-82C7-686B934CFF22}"/>
              </a:ext>
            </a:extLst>
          </p:cNvPr>
          <p:cNvSpPr>
            <a:spLocks noGrp="1"/>
          </p:cNvSpPr>
          <p:nvPr>
            <p:ph type="sldNum" sz="quarter" idx="12"/>
          </p:nvPr>
        </p:nvSpPr>
        <p:spPr/>
        <p:txBody>
          <a:bodyPr/>
          <a:lstStyle/>
          <a:p>
            <a:fld id="{F317719D-4397-416A-8DF5-E7F1C2D18F40}" type="slidenum">
              <a:rPr lang="en-US" smtClean="0"/>
              <a:t>25</a:t>
            </a:fld>
            <a:endParaRPr lang="en-US"/>
          </a:p>
        </p:txBody>
      </p:sp>
    </p:spTree>
    <p:extLst>
      <p:ext uri="{BB962C8B-B14F-4D97-AF65-F5344CB8AC3E}">
        <p14:creationId xmlns:p14="http://schemas.microsoft.com/office/powerpoint/2010/main" val="3520699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Computer Network</a:t>
            </a:r>
          </a:p>
        </p:txBody>
      </p:sp>
      <p:pic>
        <p:nvPicPr>
          <p:cNvPr id="1026" name="Picture 2" descr="Different Types of Computer Networks: LAN, MAN, WAN - TutorialsMat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5135" y="1690688"/>
            <a:ext cx="8519130" cy="426665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47A643C-F8FC-4939-2744-EC6397040022}"/>
              </a:ext>
            </a:extLst>
          </p:cNvPr>
          <p:cNvSpPr>
            <a:spLocks noGrp="1"/>
          </p:cNvSpPr>
          <p:nvPr>
            <p:ph type="sldNum" sz="quarter" idx="12"/>
          </p:nvPr>
        </p:nvSpPr>
        <p:spPr/>
        <p:txBody>
          <a:bodyPr/>
          <a:lstStyle/>
          <a:p>
            <a:fld id="{F317719D-4397-416A-8DF5-E7F1C2D18F40}" type="slidenum">
              <a:rPr lang="en-US" smtClean="0"/>
              <a:t>26</a:t>
            </a:fld>
            <a:endParaRPr lang="en-US"/>
          </a:p>
        </p:txBody>
      </p:sp>
    </p:spTree>
    <p:extLst>
      <p:ext uri="{BB962C8B-B14F-4D97-AF65-F5344CB8AC3E}">
        <p14:creationId xmlns:p14="http://schemas.microsoft.com/office/powerpoint/2010/main" val="2811606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Personal Area Network (PAN)</a:t>
            </a:r>
          </a:p>
        </p:txBody>
      </p:sp>
      <p:sp>
        <p:nvSpPr>
          <p:cNvPr id="3" name="Content Placeholder 2"/>
          <p:cNvSpPr>
            <a:spLocks noGrp="1"/>
          </p:cNvSpPr>
          <p:nvPr>
            <p:ph idx="1"/>
          </p:nvPr>
        </p:nvSpPr>
        <p:spPr>
          <a:xfrm>
            <a:off x="838200" y="1825625"/>
            <a:ext cx="6071647" cy="4565748"/>
          </a:xfrm>
        </p:spPr>
        <p:txBody>
          <a:bodyPr>
            <a:normAutofit/>
          </a:bodyPr>
          <a:lstStyle/>
          <a:p>
            <a:pPr algn="just"/>
            <a:r>
              <a:rPr lang="en-US" dirty="0"/>
              <a:t>A Personal Area Network (PAN) is a type of computer network that is used to connect devices that are close to an individual, such as a smartphone, tablet, or laptop. PANs are typically created using wireless communication technologies, such as Bluetooth or NFC (Near Field Communication).</a:t>
            </a:r>
          </a:p>
          <a:p>
            <a:pPr algn="just"/>
            <a:r>
              <a:rPr lang="en-US" dirty="0"/>
              <a:t>The main purpose of a PAN is to allow devices to exchange data and share resources, such as printers or files, with each other without the need for a wired connection. PANs are also used to connect wearable devices, such as smartwatches or fitness trackers, to other devices, such as smartphones.</a:t>
            </a:r>
          </a:p>
        </p:txBody>
      </p:sp>
      <p:sp>
        <p:nvSpPr>
          <p:cNvPr id="4" name="Slide Number Placeholder 3">
            <a:extLst>
              <a:ext uri="{FF2B5EF4-FFF2-40B4-BE49-F238E27FC236}">
                <a16:creationId xmlns:a16="http://schemas.microsoft.com/office/drawing/2014/main" id="{4E1D8092-C79B-5087-F83F-7E7F8A3C7736}"/>
              </a:ext>
            </a:extLst>
          </p:cNvPr>
          <p:cNvSpPr>
            <a:spLocks noGrp="1"/>
          </p:cNvSpPr>
          <p:nvPr>
            <p:ph type="sldNum" sz="quarter" idx="12"/>
          </p:nvPr>
        </p:nvSpPr>
        <p:spPr/>
        <p:txBody>
          <a:bodyPr/>
          <a:lstStyle/>
          <a:p>
            <a:fld id="{F317719D-4397-416A-8DF5-E7F1C2D18F40}" type="slidenum">
              <a:rPr lang="en-US" smtClean="0"/>
              <a:t>27</a:t>
            </a:fld>
            <a:endParaRPr lang="en-US"/>
          </a:p>
        </p:txBody>
      </p:sp>
      <p:pic>
        <p:nvPicPr>
          <p:cNvPr id="3078" name="Picture 6" descr="personal area network (P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3203" y="1825625"/>
            <a:ext cx="4780431" cy="3572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056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Local Area Network (LAN)</a:t>
            </a:r>
          </a:p>
        </p:txBody>
      </p:sp>
      <p:sp>
        <p:nvSpPr>
          <p:cNvPr id="3" name="Content Placeholder 2"/>
          <p:cNvSpPr>
            <a:spLocks noGrp="1"/>
          </p:cNvSpPr>
          <p:nvPr>
            <p:ph idx="1"/>
          </p:nvPr>
        </p:nvSpPr>
        <p:spPr>
          <a:xfrm>
            <a:off x="838201" y="1825625"/>
            <a:ext cx="6637256" cy="4688297"/>
          </a:xfrm>
        </p:spPr>
        <p:txBody>
          <a:bodyPr>
            <a:normAutofit/>
          </a:bodyPr>
          <a:lstStyle/>
          <a:p>
            <a:pPr algn="just"/>
            <a:r>
              <a:rPr lang="en-US" dirty="0"/>
              <a:t>A Local Area Network (LAN) is a type of computer network that covers a small geographic area, such as a home, office, or a building. </a:t>
            </a:r>
          </a:p>
          <a:p>
            <a:pPr algn="just"/>
            <a:r>
              <a:rPr lang="en-US" dirty="0"/>
              <a:t>A LAN network is typically used to connect computers and other devices, such as printers, in a small area to allow them to share resources and exchange data.</a:t>
            </a:r>
          </a:p>
          <a:p>
            <a:pPr algn="just"/>
            <a:r>
              <a:rPr lang="en-US" dirty="0"/>
              <a:t>In a LAN network, computers are connected to each other using cables, such as Ethernet cables, or through wireless communication. </a:t>
            </a:r>
          </a:p>
          <a:p>
            <a:pPr algn="just"/>
            <a:r>
              <a:rPr lang="en-US" dirty="0"/>
              <a:t>The main advantage of a LAN network is that it provides high-speed communication and allows for the sharing of resources, such as printers and files, among all connected devices.</a:t>
            </a:r>
          </a:p>
        </p:txBody>
      </p:sp>
      <p:sp>
        <p:nvSpPr>
          <p:cNvPr id="4" name="Slide Number Placeholder 3">
            <a:extLst>
              <a:ext uri="{FF2B5EF4-FFF2-40B4-BE49-F238E27FC236}">
                <a16:creationId xmlns:a16="http://schemas.microsoft.com/office/drawing/2014/main" id="{E66CE831-856D-9782-922E-BDE5296A64C5}"/>
              </a:ext>
            </a:extLst>
          </p:cNvPr>
          <p:cNvSpPr>
            <a:spLocks noGrp="1"/>
          </p:cNvSpPr>
          <p:nvPr>
            <p:ph type="sldNum" sz="quarter" idx="12"/>
          </p:nvPr>
        </p:nvSpPr>
        <p:spPr/>
        <p:txBody>
          <a:bodyPr/>
          <a:lstStyle/>
          <a:p>
            <a:fld id="{F317719D-4397-416A-8DF5-E7F1C2D18F40}" type="slidenum">
              <a:rPr lang="en-US" smtClean="0"/>
              <a:t>28</a:t>
            </a:fld>
            <a:endParaRPr lang="en-US"/>
          </a:p>
        </p:txBody>
      </p:sp>
      <p:pic>
        <p:nvPicPr>
          <p:cNvPr id="2050" name="Picture 2" descr="What is local area network (LAN) in computer - IT Rele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6860" y="2253006"/>
            <a:ext cx="4273947" cy="310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250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Metropolitan Area Network (MAN)</a:t>
            </a:r>
          </a:p>
        </p:txBody>
      </p:sp>
      <p:sp>
        <p:nvSpPr>
          <p:cNvPr id="3" name="Content Placeholder 2"/>
          <p:cNvSpPr>
            <a:spLocks noGrp="1"/>
          </p:cNvSpPr>
          <p:nvPr>
            <p:ph idx="1"/>
          </p:nvPr>
        </p:nvSpPr>
        <p:spPr>
          <a:xfrm>
            <a:off x="838200" y="1825624"/>
            <a:ext cx="5430625" cy="4452627"/>
          </a:xfrm>
        </p:spPr>
        <p:txBody>
          <a:bodyPr>
            <a:normAutofit/>
          </a:bodyPr>
          <a:lstStyle/>
          <a:p>
            <a:pPr algn="just"/>
            <a:r>
              <a:rPr lang="en-US" dirty="0"/>
              <a:t>A Metropolitan Area Network (MAN) is a type of computer network that covers a city or a metropolitan area. It is larger than a Local Area Network (LAN) but smaller than a Wide Area Network (WAN).</a:t>
            </a:r>
          </a:p>
          <a:p>
            <a:pPr algn="just"/>
            <a:r>
              <a:rPr lang="en-US" dirty="0"/>
              <a:t>MANs are typically used to connect multiple LANs within a metropolitan area to provide high-speed communication and resource sharing among a large number of users. </a:t>
            </a:r>
          </a:p>
          <a:p>
            <a:pPr algn="just"/>
            <a:endParaRPr lang="en-US" dirty="0"/>
          </a:p>
        </p:txBody>
      </p:sp>
      <p:sp>
        <p:nvSpPr>
          <p:cNvPr id="4" name="Slide Number Placeholder 3">
            <a:extLst>
              <a:ext uri="{FF2B5EF4-FFF2-40B4-BE49-F238E27FC236}">
                <a16:creationId xmlns:a16="http://schemas.microsoft.com/office/drawing/2014/main" id="{07158E54-B817-6EFB-CC20-F7FB3D7D0CB4}"/>
              </a:ext>
            </a:extLst>
          </p:cNvPr>
          <p:cNvSpPr>
            <a:spLocks noGrp="1"/>
          </p:cNvSpPr>
          <p:nvPr>
            <p:ph type="sldNum" sz="quarter" idx="12"/>
          </p:nvPr>
        </p:nvSpPr>
        <p:spPr/>
        <p:txBody>
          <a:bodyPr/>
          <a:lstStyle/>
          <a:p>
            <a:fld id="{F317719D-4397-416A-8DF5-E7F1C2D18F40}" type="slidenum">
              <a:rPr lang="en-US" smtClean="0"/>
              <a:t>29</a:t>
            </a:fld>
            <a:endParaRPr lang="en-US"/>
          </a:p>
        </p:txBody>
      </p:sp>
      <p:pic>
        <p:nvPicPr>
          <p:cNvPr id="4098" name="Picture 2" descr="Metropolitan Area Network (MAN) - CyberHo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0105" y="1825623"/>
            <a:ext cx="5245693" cy="4113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988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Wide Area Network (WAN)</a:t>
            </a:r>
          </a:p>
        </p:txBody>
      </p:sp>
      <p:sp>
        <p:nvSpPr>
          <p:cNvPr id="3" name="Content Placeholder 2"/>
          <p:cNvSpPr>
            <a:spLocks noGrp="1"/>
          </p:cNvSpPr>
          <p:nvPr>
            <p:ph idx="1"/>
          </p:nvPr>
        </p:nvSpPr>
        <p:spPr>
          <a:xfrm>
            <a:off x="838200" y="1825624"/>
            <a:ext cx="6307318" cy="4594029"/>
          </a:xfrm>
        </p:spPr>
        <p:txBody>
          <a:bodyPr>
            <a:normAutofit/>
          </a:bodyPr>
          <a:lstStyle/>
          <a:p>
            <a:pPr algn="just"/>
            <a:r>
              <a:rPr lang="en-US" dirty="0"/>
              <a:t>A Wide Area Network (WAN) is a type of computer network that covers a large geographic area, such as a country or the entire world. </a:t>
            </a:r>
          </a:p>
          <a:p>
            <a:pPr algn="just"/>
            <a:r>
              <a:rPr lang="en-US" dirty="0"/>
              <a:t>WANs are used to connect multiple local area networks (LANs) and metropolitan area networks (MANs) to provide communication and resource sharing among a large number of users and devices.</a:t>
            </a:r>
          </a:p>
          <a:p>
            <a:pPr algn="just"/>
            <a:r>
              <a:rPr lang="en-US" dirty="0"/>
              <a:t>WANs are typically implemented using long-distance communication technologies, such as leased lines, satellite communication, or public communication networks, such as the internet. </a:t>
            </a:r>
          </a:p>
          <a:p>
            <a:pPr algn="just"/>
            <a:r>
              <a:rPr lang="en-US" dirty="0"/>
              <a:t>They are designed to support large numbers of users and devices and can cover distances that span thousands of miles.</a:t>
            </a:r>
          </a:p>
        </p:txBody>
      </p:sp>
      <p:sp>
        <p:nvSpPr>
          <p:cNvPr id="4" name="Slide Number Placeholder 3">
            <a:extLst>
              <a:ext uri="{FF2B5EF4-FFF2-40B4-BE49-F238E27FC236}">
                <a16:creationId xmlns:a16="http://schemas.microsoft.com/office/drawing/2014/main" id="{31D32364-4A3B-7387-4991-F11EEF5A374C}"/>
              </a:ext>
            </a:extLst>
          </p:cNvPr>
          <p:cNvSpPr>
            <a:spLocks noGrp="1"/>
          </p:cNvSpPr>
          <p:nvPr>
            <p:ph type="sldNum" sz="quarter" idx="12"/>
          </p:nvPr>
        </p:nvSpPr>
        <p:spPr/>
        <p:txBody>
          <a:bodyPr/>
          <a:lstStyle/>
          <a:p>
            <a:fld id="{F317719D-4397-416A-8DF5-E7F1C2D18F40}" type="slidenum">
              <a:rPr lang="en-US" smtClean="0"/>
              <a:t>30</a:t>
            </a:fld>
            <a:endParaRPr lang="en-US"/>
          </a:p>
        </p:txBody>
      </p:sp>
      <p:pic>
        <p:nvPicPr>
          <p:cNvPr id="5122" name="Picture 2" descr="Essential WAN Security Tips - Enterprise Vis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5081" y="2381806"/>
            <a:ext cx="4756919" cy="3172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725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Differentiate between types of networks:</a:t>
            </a:r>
          </a:p>
        </p:txBody>
      </p:sp>
      <p:pic>
        <p:nvPicPr>
          <p:cNvPr id="6146" name="Picture 2" descr="What are the differences between LAN, WAN, MAN and PAN? - Quora"/>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77331" y="2673350"/>
            <a:ext cx="5581650" cy="32766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D58D912-0787-5E9A-9DF4-353468C59D87}"/>
              </a:ext>
            </a:extLst>
          </p:cNvPr>
          <p:cNvSpPr>
            <a:spLocks noGrp="1"/>
          </p:cNvSpPr>
          <p:nvPr>
            <p:ph type="sldNum" sz="quarter" idx="12"/>
          </p:nvPr>
        </p:nvSpPr>
        <p:spPr/>
        <p:txBody>
          <a:bodyPr/>
          <a:lstStyle/>
          <a:p>
            <a:fld id="{F317719D-4397-416A-8DF5-E7F1C2D18F40}" type="slidenum">
              <a:rPr lang="en-US" smtClean="0"/>
              <a:t>31</a:t>
            </a:fld>
            <a:endParaRPr lang="en-US"/>
          </a:p>
        </p:txBody>
      </p:sp>
    </p:spTree>
    <p:extLst>
      <p:ext uri="{BB962C8B-B14F-4D97-AF65-F5344CB8AC3E}">
        <p14:creationId xmlns:p14="http://schemas.microsoft.com/office/powerpoint/2010/main" val="1400635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r>
              <a:rPr lang="en-US" dirty="0"/>
              <a:t>Differentiate between PAN, LAN, MAN and WAN.</a:t>
            </a:r>
          </a:p>
        </p:txBody>
      </p:sp>
      <p:sp>
        <p:nvSpPr>
          <p:cNvPr id="4" name="Slide Number Placeholder 3">
            <a:extLst>
              <a:ext uri="{FF2B5EF4-FFF2-40B4-BE49-F238E27FC236}">
                <a16:creationId xmlns:a16="http://schemas.microsoft.com/office/drawing/2014/main" id="{AB3D3A31-D17D-4977-160A-4425BBF17286}"/>
              </a:ext>
            </a:extLst>
          </p:cNvPr>
          <p:cNvSpPr>
            <a:spLocks noGrp="1"/>
          </p:cNvSpPr>
          <p:nvPr>
            <p:ph type="sldNum" sz="quarter" idx="12"/>
          </p:nvPr>
        </p:nvSpPr>
        <p:spPr/>
        <p:txBody>
          <a:bodyPr/>
          <a:lstStyle/>
          <a:p>
            <a:fld id="{F317719D-4397-416A-8DF5-E7F1C2D18F40}" type="slidenum">
              <a:rPr lang="en-US" smtClean="0"/>
              <a:t>32</a:t>
            </a:fld>
            <a:endParaRPr lang="en-US"/>
          </a:p>
        </p:txBody>
      </p:sp>
    </p:spTree>
    <p:extLst>
      <p:ext uri="{BB962C8B-B14F-4D97-AF65-F5344CB8AC3E}">
        <p14:creationId xmlns:p14="http://schemas.microsoft.com/office/powerpoint/2010/main" val="35713445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title"/>
          </p:nvPr>
        </p:nvSpPr>
        <p:spPr/>
        <p:txBody>
          <a:bodyPr/>
          <a:lstStyle/>
          <a:p>
            <a:r>
              <a:rPr lang="en-US" altLang="en-US" b="1" dirty="0"/>
              <a:t>Network Topology</a:t>
            </a:r>
            <a:endParaRPr lang="en-IN" altLang="en-US" b="1" dirty="0"/>
          </a:p>
        </p:txBody>
      </p:sp>
      <p:sp>
        <p:nvSpPr>
          <p:cNvPr id="5" name="Content Placeholder 4"/>
          <p:cNvSpPr>
            <a:spLocks noGrp="1"/>
          </p:cNvSpPr>
          <p:nvPr>
            <p:ph idx="1"/>
          </p:nvPr>
        </p:nvSpPr>
        <p:spPr/>
        <p:txBody>
          <a:bodyPr rtlCol="0">
            <a:normAutofit/>
          </a:bodyPr>
          <a:lstStyle/>
          <a:p>
            <a:pPr algn="just">
              <a:defRPr/>
            </a:pPr>
            <a:r>
              <a:rPr lang="en-IN" dirty="0"/>
              <a:t>  Computer network topology is the way various components of a network (like nodes, links, peripherals, etc) are arranged. </a:t>
            </a:r>
          </a:p>
          <a:p>
            <a:pPr algn="just">
              <a:defRPr/>
            </a:pPr>
            <a:r>
              <a:rPr lang="en-IN" dirty="0"/>
              <a:t>Network topologies define the layout, virtual shape or structure of network, not only physically but also logically. </a:t>
            </a:r>
          </a:p>
          <a:p>
            <a:pPr algn="just">
              <a:defRPr/>
            </a:pPr>
            <a:r>
              <a:rPr lang="en-IN" dirty="0"/>
              <a:t>The way in which different systems and nodes are connected and communicate with each other is determined by topology of the network.</a:t>
            </a:r>
            <a:br>
              <a:rPr lang="en-IN" dirty="0"/>
            </a:br>
            <a:endParaRPr lang="en-IN" dirty="0"/>
          </a:p>
        </p:txBody>
      </p:sp>
      <p:sp>
        <p:nvSpPr>
          <p:cNvPr id="2" name="Slide Number Placeholder 1">
            <a:extLst>
              <a:ext uri="{FF2B5EF4-FFF2-40B4-BE49-F238E27FC236}">
                <a16:creationId xmlns:a16="http://schemas.microsoft.com/office/drawing/2014/main" id="{1E072C80-C9DF-32B5-777E-8FC02F05CBA9}"/>
              </a:ext>
            </a:extLst>
          </p:cNvPr>
          <p:cNvSpPr>
            <a:spLocks noGrp="1"/>
          </p:cNvSpPr>
          <p:nvPr>
            <p:ph type="sldNum" sz="quarter" idx="12"/>
          </p:nvPr>
        </p:nvSpPr>
        <p:spPr/>
        <p:txBody>
          <a:bodyPr/>
          <a:lstStyle/>
          <a:p>
            <a:fld id="{F317719D-4397-416A-8DF5-E7F1C2D18F40}" type="slidenum">
              <a:rPr lang="en-US" smtClean="0"/>
              <a:t>33</a:t>
            </a:fld>
            <a:endParaRPr lang="en-US"/>
          </a:p>
        </p:txBody>
      </p:sp>
    </p:spTree>
    <p:extLst>
      <p:ext uri="{BB962C8B-B14F-4D97-AF65-F5344CB8AC3E}">
        <p14:creationId xmlns:p14="http://schemas.microsoft.com/office/powerpoint/2010/main" val="2685885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IN" altLang="en-US" b="1"/>
              <a:t>Topology can be physical or logical</a:t>
            </a:r>
            <a:endParaRPr lang="en-IN" altLang="en-US"/>
          </a:p>
        </p:txBody>
      </p:sp>
      <p:sp>
        <p:nvSpPr>
          <p:cNvPr id="3075" name="Content Placeholder 2"/>
          <p:cNvSpPr>
            <a:spLocks noGrp="1"/>
          </p:cNvSpPr>
          <p:nvPr>
            <p:ph idx="1"/>
          </p:nvPr>
        </p:nvSpPr>
        <p:spPr/>
        <p:txBody>
          <a:bodyPr/>
          <a:lstStyle/>
          <a:p>
            <a:r>
              <a:rPr lang="en-IN" altLang="en-US" i="1"/>
              <a:t>Physical Topology</a:t>
            </a:r>
            <a:r>
              <a:rPr lang="en-IN" altLang="en-US"/>
              <a:t> is the physical layout of nodes, workstations and cables in the network.</a:t>
            </a:r>
          </a:p>
          <a:p>
            <a:r>
              <a:rPr lang="en-IN" altLang="en-US" i="1"/>
              <a:t>Logical topology </a:t>
            </a:r>
            <a:r>
              <a:rPr lang="en-IN" altLang="en-US"/>
              <a:t>is the way information flows between different components.</a:t>
            </a:r>
          </a:p>
        </p:txBody>
      </p:sp>
      <p:sp>
        <p:nvSpPr>
          <p:cNvPr id="2" name="Slide Number Placeholder 1">
            <a:extLst>
              <a:ext uri="{FF2B5EF4-FFF2-40B4-BE49-F238E27FC236}">
                <a16:creationId xmlns:a16="http://schemas.microsoft.com/office/drawing/2014/main" id="{14D5A6B4-3824-2DB5-C1B6-62416214D948}"/>
              </a:ext>
            </a:extLst>
          </p:cNvPr>
          <p:cNvSpPr>
            <a:spLocks noGrp="1"/>
          </p:cNvSpPr>
          <p:nvPr>
            <p:ph type="sldNum" sz="quarter" idx="12"/>
          </p:nvPr>
        </p:nvSpPr>
        <p:spPr/>
        <p:txBody>
          <a:bodyPr/>
          <a:lstStyle/>
          <a:p>
            <a:fld id="{F317719D-4397-416A-8DF5-E7F1C2D18F40}" type="slidenum">
              <a:rPr lang="en-US" smtClean="0"/>
              <a:t>34</a:t>
            </a:fld>
            <a:endParaRPr lang="en-US"/>
          </a:p>
        </p:txBody>
      </p:sp>
    </p:spTree>
    <p:extLst>
      <p:ext uri="{BB962C8B-B14F-4D97-AF65-F5344CB8AC3E}">
        <p14:creationId xmlns:p14="http://schemas.microsoft.com/office/powerpoint/2010/main" val="3385674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IN" b="1" dirty="0"/>
              <a:t>Types of Physical Network Topologies</a:t>
            </a:r>
            <a:endParaRPr lang="en-IN" dirty="0"/>
          </a:p>
        </p:txBody>
      </p:sp>
      <p:sp>
        <p:nvSpPr>
          <p:cNvPr id="4099" name="Content Placeholder 2"/>
          <p:cNvSpPr>
            <a:spLocks noGrp="1"/>
          </p:cNvSpPr>
          <p:nvPr>
            <p:ph idx="1"/>
          </p:nvPr>
        </p:nvSpPr>
        <p:spPr/>
        <p:txBody>
          <a:bodyPr/>
          <a:lstStyle/>
          <a:p>
            <a:r>
              <a:rPr lang="en-US" altLang="en-US"/>
              <a:t>Bus Topology</a:t>
            </a:r>
          </a:p>
          <a:p>
            <a:r>
              <a:rPr lang="en-US" altLang="en-US"/>
              <a:t>Star Topology</a:t>
            </a:r>
          </a:p>
          <a:p>
            <a:r>
              <a:rPr lang="en-US" altLang="en-US"/>
              <a:t>Ring Topology</a:t>
            </a:r>
          </a:p>
          <a:p>
            <a:r>
              <a:rPr lang="en-US" altLang="en-US"/>
              <a:t>Mesh Topology</a:t>
            </a:r>
          </a:p>
          <a:p>
            <a:r>
              <a:rPr lang="en-US" altLang="en-US"/>
              <a:t>Tree Topology</a:t>
            </a:r>
          </a:p>
          <a:p>
            <a:r>
              <a:rPr lang="en-US" altLang="en-US"/>
              <a:t>Hybrid Topology</a:t>
            </a:r>
            <a:endParaRPr lang="en-IN" altLang="en-US"/>
          </a:p>
        </p:txBody>
      </p:sp>
      <p:sp>
        <p:nvSpPr>
          <p:cNvPr id="3" name="Slide Number Placeholder 2">
            <a:extLst>
              <a:ext uri="{FF2B5EF4-FFF2-40B4-BE49-F238E27FC236}">
                <a16:creationId xmlns:a16="http://schemas.microsoft.com/office/drawing/2014/main" id="{A35C7452-EDC9-B365-7471-D49816B23DF7}"/>
              </a:ext>
            </a:extLst>
          </p:cNvPr>
          <p:cNvSpPr>
            <a:spLocks noGrp="1"/>
          </p:cNvSpPr>
          <p:nvPr>
            <p:ph type="sldNum" sz="quarter" idx="12"/>
          </p:nvPr>
        </p:nvSpPr>
        <p:spPr/>
        <p:txBody>
          <a:bodyPr/>
          <a:lstStyle/>
          <a:p>
            <a:fld id="{F317719D-4397-416A-8DF5-E7F1C2D18F40}" type="slidenum">
              <a:rPr lang="en-US" smtClean="0"/>
              <a:t>35</a:t>
            </a:fld>
            <a:endParaRPr lang="en-US"/>
          </a:p>
        </p:txBody>
      </p:sp>
    </p:spTree>
    <p:extLst>
      <p:ext uri="{BB962C8B-B14F-4D97-AF65-F5344CB8AC3E}">
        <p14:creationId xmlns:p14="http://schemas.microsoft.com/office/powerpoint/2010/main" val="2751807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b="1" dirty="0"/>
              <a:t>Bus Topology</a:t>
            </a:r>
            <a:endParaRPr lang="en-IN" altLang="en-US" b="1" dirty="0"/>
          </a:p>
        </p:txBody>
      </p:sp>
      <p:sp>
        <p:nvSpPr>
          <p:cNvPr id="5123" name="Content Placeholder 2"/>
          <p:cNvSpPr>
            <a:spLocks noGrp="1"/>
          </p:cNvSpPr>
          <p:nvPr>
            <p:ph idx="1"/>
          </p:nvPr>
        </p:nvSpPr>
        <p:spPr/>
        <p:txBody>
          <a:bodyPr/>
          <a:lstStyle/>
          <a:p>
            <a:pPr algn="just"/>
            <a:r>
              <a:rPr lang="en-IN" altLang="en-US" dirty="0"/>
              <a:t>In the bus topology, the computers are connected through a common communication media. A special type of central wire is used as communication media. </a:t>
            </a:r>
          </a:p>
          <a:p>
            <a:pPr algn="just"/>
            <a:r>
              <a:rPr lang="en-IN" altLang="en-US" dirty="0"/>
              <a:t>This central wire is called Bus. The computer are attached through the bus the ends of the bus are closed with the terminator .The terminators are used to absorb signals. </a:t>
            </a:r>
          </a:p>
        </p:txBody>
      </p:sp>
      <p:sp>
        <p:nvSpPr>
          <p:cNvPr id="2" name="Slide Number Placeholder 1">
            <a:extLst>
              <a:ext uri="{FF2B5EF4-FFF2-40B4-BE49-F238E27FC236}">
                <a16:creationId xmlns:a16="http://schemas.microsoft.com/office/drawing/2014/main" id="{35DE5921-B089-B663-3B33-0755B778AE3B}"/>
              </a:ext>
            </a:extLst>
          </p:cNvPr>
          <p:cNvSpPr>
            <a:spLocks noGrp="1"/>
          </p:cNvSpPr>
          <p:nvPr>
            <p:ph type="sldNum" sz="quarter" idx="12"/>
          </p:nvPr>
        </p:nvSpPr>
        <p:spPr/>
        <p:txBody>
          <a:bodyPr/>
          <a:lstStyle/>
          <a:p>
            <a:fld id="{F317719D-4397-416A-8DF5-E7F1C2D18F40}" type="slidenum">
              <a:rPr lang="en-US" smtClean="0"/>
              <a:t>36</a:t>
            </a:fld>
            <a:endParaRPr lang="en-US"/>
          </a:p>
        </p:txBody>
      </p:sp>
    </p:spTree>
    <p:extLst>
      <p:ext uri="{BB962C8B-B14F-4D97-AF65-F5344CB8AC3E}">
        <p14:creationId xmlns:p14="http://schemas.microsoft.com/office/powerpoint/2010/main" val="27136319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b="1" dirty="0"/>
              <a:t>Bus Topology</a:t>
            </a:r>
            <a:endParaRPr lang="en-IN" altLang="en-US" dirty="0"/>
          </a:p>
        </p:txBody>
      </p:sp>
      <p:pic>
        <p:nvPicPr>
          <p:cNvPr id="6147" name="Picture 2" descr="C:\Users\dell\Desktop\appt\bus images.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2357438"/>
            <a:ext cx="6559550" cy="2825750"/>
          </a:xfrm>
          <a:noFill/>
        </p:spPr>
      </p:pic>
      <p:sp>
        <p:nvSpPr>
          <p:cNvPr id="2" name="Slide Number Placeholder 1">
            <a:extLst>
              <a:ext uri="{FF2B5EF4-FFF2-40B4-BE49-F238E27FC236}">
                <a16:creationId xmlns:a16="http://schemas.microsoft.com/office/drawing/2014/main" id="{7DBAF87F-9BD7-BF49-F42B-B402D30C35C9}"/>
              </a:ext>
            </a:extLst>
          </p:cNvPr>
          <p:cNvSpPr>
            <a:spLocks noGrp="1"/>
          </p:cNvSpPr>
          <p:nvPr>
            <p:ph type="sldNum" sz="quarter" idx="12"/>
          </p:nvPr>
        </p:nvSpPr>
        <p:spPr/>
        <p:txBody>
          <a:bodyPr/>
          <a:lstStyle/>
          <a:p>
            <a:fld id="{F317719D-4397-416A-8DF5-E7F1C2D18F40}" type="slidenum">
              <a:rPr lang="en-US" smtClean="0"/>
              <a:t>37</a:t>
            </a:fld>
            <a:endParaRPr lang="en-US"/>
          </a:p>
        </p:txBody>
      </p:sp>
    </p:spTree>
    <p:extLst>
      <p:ext uri="{BB962C8B-B14F-4D97-AF65-F5344CB8AC3E}">
        <p14:creationId xmlns:p14="http://schemas.microsoft.com/office/powerpoint/2010/main" val="1852508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a:t>Advantages of Bus Topology</a:t>
            </a:r>
            <a:endParaRPr lang="en-IN" altLang="en-US"/>
          </a:p>
        </p:txBody>
      </p:sp>
      <p:sp>
        <p:nvSpPr>
          <p:cNvPr id="7171" name="Content Placeholder 2"/>
          <p:cNvSpPr>
            <a:spLocks noGrp="1"/>
          </p:cNvSpPr>
          <p:nvPr>
            <p:ph idx="1"/>
          </p:nvPr>
        </p:nvSpPr>
        <p:spPr/>
        <p:txBody>
          <a:bodyPr/>
          <a:lstStyle/>
          <a:p>
            <a:r>
              <a:rPr lang="en-IN" altLang="en-US"/>
              <a:t>Easy to install and configure</a:t>
            </a:r>
          </a:p>
          <a:p>
            <a:r>
              <a:rPr lang="en-IN" altLang="en-US"/>
              <a:t>Inexpensive</a:t>
            </a:r>
          </a:p>
          <a:p>
            <a:r>
              <a:rPr lang="en-IN" altLang="en-US"/>
              <a:t>Easily extended</a:t>
            </a:r>
          </a:p>
        </p:txBody>
      </p:sp>
      <p:sp>
        <p:nvSpPr>
          <p:cNvPr id="2" name="Slide Number Placeholder 1">
            <a:extLst>
              <a:ext uri="{FF2B5EF4-FFF2-40B4-BE49-F238E27FC236}">
                <a16:creationId xmlns:a16="http://schemas.microsoft.com/office/drawing/2014/main" id="{EFE227B7-5CA7-A24A-CF3B-84BBD513B76E}"/>
              </a:ext>
            </a:extLst>
          </p:cNvPr>
          <p:cNvSpPr>
            <a:spLocks noGrp="1"/>
          </p:cNvSpPr>
          <p:nvPr>
            <p:ph type="sldNum" sz="quarter" idx="12"/>
          </p:nvPr>
        </p:nvSpPr>
        <p:spPr/>
        <p:txBody>
          <a:bodyPr/>
          <a:lstStyle/>
          <a:p>
            <a:fld id="{F317719D-4397-416A-8DF5-E7F1C2D18F40}" type="slidenum">
              <a:rPr lang="en-US" smtClean="0"/>
              <a:t>38</a:t>
            </a:fld>
            <a:endParaRPr lang="en-US"/>
          </a:p>
        </p:txBody>
      </p:sp>
    </p:spTree>
    <p:extLst>
      <p:ext uri="{BB962C8B-B14F-4D97-AF65-F5344CB8AC3E}">
        <p14:creationId xmlns:p14="http://schemas.microsoft.com/office/powerpoint/2010/main" val="1085046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a:t>Disadvantages of Bus Topology</a:t>
            </a:r>
            <a:endParaRPr lang="en-IN" altLang="en-US"/>
          </a:p>
        </p:txBody>
      </p:sp>
      <p:sp>
        <p:nvSpPr>
          <p:cNvPr id="8195" name="Content Placeholder 2"/>
          <p:cNvSpPr>
            <a:spLocks noGrp="1"/>
          </p:cNvSpPr>
          <p:nvPr>
            <p:ph idx="1"/>
          </p:nvPr>
        </p:nvSpPr>
        <p:spPr/>
        <p:txBody>
          <a:bodyPr/>
          <a:lstStyle/>
          <a:p>
            <a:r>
              <a:rPr lang="en-IN" altLang="en-US"/>
              <a:t>Performance decreases</a:t>
            </a:r>
          </a:p>
          <a:p>
            <a:r>
              <a:rPr lang="en-IN" altLang="en-US"/>
              <a:t>Weak signals</a:t>
            </a:r>
          </a:p>
          <a:p>
            <a:r>
              <a:rPr lang="en-IN" altLang="en-US"/>
              <a:t>Difficult troubleshooting</a:t>
            </a:r>
          </a:p>
        </p:txBody>
      </p:sp>
      <p:sp>
        <p:nvSpPr>
          <p:cNvPr id="2" name="Slide Number Placeholder 1">
            <a:extLst>
              <a:ext uri="{FF2B5EF4-FFF2-40B4-BE49-F238E27FC236}">
                <a16:creationId xmlns:a16="http://schemas.microsoft.com/office/drawing/2014/main" id="{2F30AE8E-04FA-030F-168C-828C2C54F406}"/>
              </a:ext>
            </a:extLst>
          </p:cNvPr>
          <p:cNvSpPr>
            <a:spLocks noGrp="1"/>
          </p:cNvSpPr>
          <p:nvPr>
            <p:ph type="sldNum" sz="quarter" idx="12"/>
          </p:nvPr>
        </p:nvSpPr>
        <p:spPr/>
        <p:txBody>
          <a:bodyPr/>
          <a:lstStyle/>
          <a:p>
            <a:fld id="{F317719D-4397-416A-8DF5-E7F1C2D18F40}" type="slidenum">
              <a:rPr lang="en-US" smtClean="0"/>
              <a:t>39</a:t>
            </a:fld>
            <a:endParaRPr lang="en-US"/>
          </a:p>
        </p:txBody>
      </p:sp>
    </p:spTree>
    <p:extLst>
      <p:ext uri="{BB962C8B-B14F-4D97-AF65-F5344CB8AC3E}">
        <p14:creationId xmlns:p14="http://schemas.microsoft.com/office/powerpoint/2010/main" val="30558578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b="1" dirty="0"/>
              <a:t>Star Topology</a:t>
            </a:r>
            <a:endParaRPr lang="en-IN" altLang="en-US" b="1" dirty="0"/>
          </a:p>
        </p:txBody>
      </p:sp>
      <p:sp>
        <p:nvSpPr>
          <p:cNvPr id="3" name="Content Placeholder 2"/>
          <p:cNvSpPr>
            <a:spLocks noGrp="1"/>
          </p:cNvSpPr>
          <p:nvPr>
            <p:ph idx="1"/>
          </p:nvPr>
        </p:nvSpPr>
        <p:spPr/>
        <p:txBody>
          <a:bodyPr rtlCol="0">
            <a:normAutofit/>
          </a:bodyPr>
          <a:lstStyle/>
          <a:p>
            <a:pPr algn="just">
              <a:defRPr/>
            </a:pPr>
            <a:r>
              <a:rPr lang="en-IN" dirty="0"/>
              <a:t>The star topology uses a separate cable for each work station as shown in fig. The cable connects the work station to a central device typically a HUB. </a:t>
            </a:r>
          </a:p>
          <a:p>
            <a:pPr algn="just">
              <a:defRPr/>
            </a:pPr>
            <a:r>
              <a:rPr lang="en-IN" dirty="0"/>
              <a:t>The configuration provides a more reliable network that is easily expanded. With star there is no central point of failure in the cable. If there is a problem with the cable only the station connected to that cable is a effected to add more work stations simply connect another HUB.</a:t>
            </a:r>
          </a:p>
        </p:txBody>
      </p:sp>
      <p:sp>
        <p:nvSpPr>
          <p:cNvPr id="2" name="Slide Number Placeholder 1">
            <a:extLst>
              <a:ext uri="{FF2B5EF4-FFF2-40B4-BE49-F238E27FC236}">
                <a16:creationId xmlns:a16="http://schemas.microsoft.com/office/drawing/2014/main" id="{07499868-8153-A87C-D9E2-2B2D81ACC570}"/>
              </a:ext>
            </a:extLst>
          </p:cNvPr>
          <p:cNvSpPr>
            <a:spLocks noGrp="1"/>
          </p:cNvSpPr>
          <p:nvPr>
            <p:ph type="sldNum" sz="quarter" idx="12"/>
          </p:nvPr>
        </p:nvSpPr>
        <p:spPr/>
        <p:txBody>
          <a:bodyPr/>
          <a:lstStyle/>
          <a:p>
            <a:fld id="{F317719D-4397-416A-8DF5-E7F1C2D18F40}" type="slidenum">
              <a:rPr lang="en-US" smtClean="0"/>
              <a:t>40</a:t>
            </a:fld>
            <a:endParaRPr lang="en-US"/>
          </a:p>
        </p:txBody>
      </p:sp>
    </p:spTree>
    <p:extLst>
      <p:ext uri="{BB962C8B-B14F-4D97-AF65-F5344CB8AC3E}">
        <p14:creationId xmlns:p14="http://schemas.microsoft.com/office/powerpoint/2010/main" val="3866111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b="1" dirty="0"/>
              <a:t>Star Topology</a:t>
            </a:r>
            <a:endParaRPr lang="en-IN" altLang="en-US" dirty="0"/>
          </a:p>
        </p:txBody>
      </p:sp>
      <p:pic>
        <p:nvPicPr>
          <p:cNvPr id="10243" name="Picture 2" descr="C:\Users\dell\Desktop\appt\star imag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95689" y="2428876"/>
            <a:ext cx="4143375" cy="3286125"/>
          </a:xfrm>
          <a:noFill/>
        </p:spPr>
      </p:pic>
      <p:sp>
        <p:nvSpPr>
          <p:cNvPr id="2" name="Slide Number Placeholder 1">
            <a:extLst>
              <a:ext uri="{FF2B5EF4-FFF2-40B4-BE49-F238E27FC236}">
                <a16:creationId xmlns:a16="http://schemas.microsoft.com/office/drawing/2014/main" id="{3A689F85-00AA-B1DD-A21A-2EC501E3DA7D}"/>
              </a:ext>
            </a:extLst>
          </p:cNvPr>
          <p:cNvSpPr>
            <a:spLocks noGrp="1"/>
          </p:cNvSpPr>
          <p:nvPr>
            <p:ph type="sldNum" sz="quarter" idx="12"/>
          </p:nvPr>
        </p:nvSpPr>
        <p:spPr/>
        <p:txBody>
          <a:bodyPr/>
          <a:lstStyle/>
          <a:p>
            <a:fld id="{F317719D-4397-416A-8DF5-E7F1C2D18F40}" type="slidenum">
              <a:rPr lang="en-US" smtClean="0"/>
              <a:t>41</a:t>
            </a:fld>
            <a:endParaRPr lang="en-US"/>
          </a:p>
        </p:txBody>
      </p:sp>
    </p:spTree>
    <p:extLst>
      <p:ext uri="{BB962C8B-B14F-4D97-AF65-F5344CB8AC3E}">
        <p14:creationId xmlns:p14="http://schemas.microsoft.com/office/powerpoint/2010/main" val="28124503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a:t>Advantages of Star Topology</a:t>
            </a:r>
            <a:endParaRPr lang="en-IN" altLang="en-US" dirty="0"/>
          </a:p>
        </p:txBody>
      </p:sp>
      <p:sp>
        <p:nvSpPr>
          <p:cNvPr id="11267" name="Content Placeholder 2"/>
          <p:cNvSpPr>
            <a:spLocks noGrp="1"/>
          </p:cNvSpPr>
          <p:nvPr>
            <p:ph idx="1"/>
          </p:nvPr>
        </p:nvSpPr>
        <p:spPr/>
        <p:txBody>
          <a:bodyPr/>
          <a:lstStyle/>
          <a:p>
            <a:r>
              <a:rPr lang="en-IN" altLang="en-US"/>
              <a:t>Easily expended and modified</a:t>
            </a:r>
          </a:p>
          <a:p>
            <a:r>
              <a:rPr lang="en-IN" altLang="en-US"/>
              <a:t>Easy to troubleshoot</a:t>
            </a:r>
          </a:p>
          <a:p>
            <a:r>
              <a:rPr lang="en-IN" altLang="en-US"/>
              <a:t>Multiple cable types supported by hub</a:t>
            </a:r>
          </a:p>
          <a:p>
            <a:endParaRPr lang="en-IN" altLang="en-US"/>
          </a:p>
        </p:txBody>
      </p:sp>
      <p:sp>
        <p:nvSpPr>
          <p:cNvPr id="2" name="Slide Number Placeholder 1">
            <a:extLst>
              <a:ext uri="{FF2B5EF4-FFF2-40B4-BE49-F238E27FC236}">
                <a16:creationId xmlns:a16="http://schemas.microsoft.com/office/drawing/2014/main" id="{B5274B7D-2405-8F92-73CE-C8B13866021D}"/>
              </a:ext>
            </a:extLst>
          </p:cNvPr>
          <p:cNvSpPr>
            <a:spLocks noGrp="1"/>
          </p:cNvSpPr>
          <p:nvPr>
            <p:ph type="sldNum" sz="quarter" idx="12"/>
          </p:nvPr>
        </p:nvSpPr>
        <p:spPr/>
        <p:txBody>
          <a:bodyPr/>
          <a:lstStyle/>
          <a:p>
            <a:fld id="{F317719D-4397-416A-8DF5-E7F1C2D18F40}" type="slidenum">
              <a:rPr lang="en-US" smtClean="0"/>
              <a:t>42</a:t>
            </a:fld>
            <a:endParaRPr lang="en-US"/>
          </a:p>
        </p:txBody>
      </p:sp>
    </p:spTree>
    <p:extLst>
      <p:ext uri="{BB962C8B-B14F-4D97-AF65-F5344CB8AC3E}">
        <p14:creationId xmlns:p14="http://schemas.microsoft.com/office/powerpoint/2010/main" val="13797712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Disadvantages of Star Topology</a:t>
            </a:r>
            <a:endParaRPr lang="en-IN" altLang="en-US"/>
          </a:p>
        </p:txBody>
      </p:sp>
      <p:sp>
        <p:nvSpPr>
          <p:cNvPr id="12291" name="Content Placeholder 2"/>
          <p:cNvSpPr>
            <a:spLocks noGrp="1"/>
          </p:cNvSpPr>
          <p:nvPr>
            <p:ph idx="1"/>
          </p:nvPr>
        </p:nvSpPr>
        <p:spPr/>
        <p:txBody>
          <a:bodyPr/>
          <a:lstStyle/>
          <a:p>
            <a:r>
              <a:rPr lang="en-IN" altLang="en-US" dirty="0"/>
              <a:t>If hub fails then entire network will fail</a:t>
            </a:r>
          </a:p>
          <a:p>
            <a:r>
              <a:rPr lang="en-IN" altLang="en-US" dirty="0"/>
              <a:t>Require more cables</a:t>
            </a:r>
          </a:p>
          <a:p>
            <a:r>
              <a:rPr lang="en-IN" altLang="en-US" dirty="0"/>
              <a:t>May require a device to rebroadcast signals across the network</a:t>
            </a:r>
          </a:p>
        </p:txBody>
      </p:sp>
      <p:sp>
        <p:nvSpPr>
          <p:cNvPr id="2" name="Slide Number Placeholder 1">
            <a:extLst>
              <a:ext uri="{FF2B5EF4-FFF2-40B4-BE49-F238E27FC236}">
                <a16:creationId xmlns:a16="http://schemas.microsoft.com/office/drawing/2014/main" id="{AF351039-3AE8-690E-5B36-19D660A49F4D}"/>
              </a:ext>
            </a:extLst>
          </p:cNvPr>
          <p:cNvSpPr>
            <a:spLocks noGrp="1"/>
          </p:cNvSpPr>
          <p:nvPr>
            <p:ph type="sldNum" sz="quarter" idx="12"/>
          </p:nvPr>
        </p:nvSpPr>
        <p:spPr/>
        <p:txBody>
          <a:bodyPr/>
          <a:lstStyle/>
          <a:p>
            <a:fld id="{F317719D-4397-416A-8DF5-E7F1C2D18F40}" type="slidenum">
              <a:rPr lang="en-US" smtClean="0"/>
              <a:t>43</a:t>
            </a:fld>
            <a:endParaRPr lang="en-US"/>
          </a:p>
        </p:txBody>
      </p:sp>
    </p:spTree>
    <p:extLst>
      <p:ext uri="{BB962C8B-B14F-4D97-AF65-F5344CB8AC3E}">
        <p14:creationId xmlns:p14="http://schemas.microsoft.com/office/powerpoint/2010/main" val="3737845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b="1" dirty="0"/>
              <a:t>Ring Topology</a:t>
            </a:r>
            <a:endParaRPr lang="en-IN" altLang="en-US" b="1" dirty="0"/>
          </a:p>
        </p:txBody>
      </p:sp>
      <p:sp>
        <p:nvSpPr>
          <p:cNvPr id="3" name="Content Placeholder 2"/>
          <p:cNvSpPr>
            <a:spLocks noGrp="1"/>
          </p:cNvSpPr>
          <p:nvPr>
            <p:ph idx="1"/>
          </p:nvPr>
        </p:nvSpPr>
        <p:spPr/>
        <p:txBody>
          <a:bodyPr rtlCol="0">
            <a:normAutofit fontScale="92500" lnSpcReduction="10000"/>
          </a:bodyPr>
          <a:lstStyle/>
          <a:p>
            <a:pPr algn="just">
              <a:defRPr/>
            </a:pPr>
            <a:r>
              <a:rPr lang="en-IN" dirty="0"/>
              <a:t>Every computer is connected to the next computer in the ring and each transmits what it receives from the previous computer. The messages flow around the ring in one direction.</a:t>
            </a:r>
          </a:p>
          <a:p>
            <a:pPr algn="just">
              <a:defRPr/>
            </a:pPr>
            <a:r>
              <a:rPr lang="en-IN" dirty="0"/>
              <a:t>Some ring network do ring token passing. A short message called token (memory area)is passed around a ring until a computer wishes to send information to other computers. </a:t>
            </a:r>
          </a:p>
          <a:p>
            <a:pPr algn="just">
              <a:defRPr/>
            </a:pPr>
            <a:r>
              <a:rPr lang="en-IN" dirty="0"/>
              <a:t>That computer modifies token, adds an electronic address and data and send it around the ring. Each computer in sequence receives the token and next computer until either the electronic address matches the address of a computer.</a:t>
            </a:r>
          </a:p>
          <a:p>
            <a:pPr algn="just">
              <a:defRPr/>
            </a:pPr>
            <a:r>
              <a:rPr lang="en-IN" dirty="0"/>
              <a:t>Or the token return to its origin .The receiving computer returns a message to the sender indicating that message has been received.</a:t>
            </a:r>
          </a:p>
          <a:p>
            <a:pPr algn="just">
              <a:defRPr/>
            </a:pPr>
            <a:endParaRPr lang="en-IN" dirty="0"/>
          </a:p>
        </p:txBody>
      </p:sp>
      <p:sp>
        <p:nvSpPr>
          <p:cNvPr id="2" name="Slide Number Placeholder 1">
            <a:extLst>
              <a:ext uri="{FF2B5EF4-FFF2-40B4-BE49-F238E27FC236}">
                <a16:creationId xmlns:a16="http://schemas.microsoft.com/office/drawing/2014/main" id="{4AC6E475-6854-C8AC-BAFB-60979EF1064A}"/>
              </a:ext>
            </a:extLst>
          </p:cNvPr>
          <p:cNvSpPr>
            <a:spLocks noGrp="1"/>
          </p:cNvSpPr>
          <p:nvPr>
            <p:ph type="sldNum" sz="quarter" idx="12"/>
          </p:nvPr>
        </p:nvSpPr>
        <p:spPr/>
        <p:txBody>
          <a:bodyPr/>
          <a:lstStyle/>
          <a:p>
            <a:fld id="{F317719D-4397-416A-8DF5-E7F1C2D18F40}" type="slidenum">
              <a:rPr lang="en-US" smtClean="0"/>
              <a:t>44</a:t>
            </a:fld>
            <a:endParaRPr lang="en-US"/>
          </a:p>
        </p:txBody>
      </p:sp>
    </p:spTree>
    <p:extLst>
      <p:ext uri="{BB962C8B-B14F-4D97-AF65-F5344CB8AC3E}">
        <p14:creationId xmlns:p14="http://schemas.microsoft.com/office/powerpoint/2010/main" val="623684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b="1" dirty="0"/>
              <a:t>Ring Topology</a:t>
            </a:r>
            <a:endParaRPr lang="en-IN" altLang="en-US" dirty="0"/>
          </a:p>
        </p:txBody>
      </p:sp>
      <p:pic>
        <p:nvPicPr>
          <p:cNvPr id="14339" name="Picture 2" descr="C:\Users\dell\Desktop\appt\ring imag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667125" y="2286001"/>
            <a:ext cx="3786188" cy="3357563"/>
          </a:xfrm>
          <a:noFill/>
        </p:spPr>
      </p:pic>
      <p:sp>
        <p:nvSpPr>
          <p:cNvPr id="2" name="Slide Number Placeholder 1">
            <a:extLst>
              <a:ext uri="{FF2B5EF4-FFF2-40B4-BE49-F238E27FC236}">
                <a16:creationId xmlns:a16="http://schemas.microsoft.com/office/drawing/2014/main" id="{3F3857F1-72A5-E146-477C-59A77A09AC50}"/>
              </a:ext>
            </a:extLst>
          </p:cNvPr>
          <p:cNvSpPr>
            <a:spLocks noGrp="1"/>
          </p:cNvSpPr>
          <p:nvPr>
            <p:ph type="sldNum" sz="quarter" idx="12"/>
          </p:nvPr>
        </p:nvSpPr>
        <p:spPr/>
        <p:txBody>
          <a:bodyPr/>
          <a:lstStyle/>
          <a:p>
            <a:fld id="{F317719D-4397-416A-8DF5-E7F1C2D18F40}" type="slidenum">
              <a:rPr lang="en-US" smtClean="0"/>
              <a:t>45</a:t>
            </a:fld>
            <a:endParaRPr lang="en-US"/>
          </a:p>
        </p:txBody>
      </p:sp>
    </p:spTree>
    <p:extLst>
      <p:ext uri="{BB962C8B-B14F-4D97-AF65-F5344CB8AC3E}">
        <p14:creationId xmlns:p14="http://schemas.microsoft.com/office/powerpoint/2010/main" val="23225647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a:t>Advantages</a:t>
            </a:r>
            <a:endParaRPr lang="en-IN" altLang="en-US"/>
          </a:p>
        </p:txBody>
      </p:sp>
      <p:sp>
        <p:nvSpPr>
          <p:cNvPr id="15363" name="Content Placeholder 2"/>
          <p:cNvSpPr>
            <a:spLocks noGrp="1"/>
          </p:cNvSpPr>
          <p:nvPr>
            <p:ph idx="1"/>
          </p:nvPr>
        </p:nvSpPr>
        <p:spPr/>
        <p:txBody>
          <a:bodyPr/>
          <a:lstStyle/>
          <a:p>
            <a:r>
              <a:rPr lang="en-IN" altLang="en-US"/>
              <a:t>It provides an orderly network in which every device has access to the token and can transmit.</a:t>
            </a:r>
          </a:p>
          <a:p>
            <a:r>
              <a:rPr lang="en-IN" altLang="en-US"/>
              <a:t>It performs well under a heavy load.</a:t>
            </a:r>
          </a:p>
        </p:txBody>
      </p:sp>
      <p:sp>
        <p:nvSpPr>
          <p:cNvPr id="2" name="Slide Number Placeholder 1">
            <a:extLst>
              <a:ext uri="{FF2B5EF4-FFF2-40B4-BE49-F238E27FC236}">
                <a16:creationId xmlns:a16="http://schemas.microsoft.com/office/drawing/2014/main" id="{99BEC7AD-27C6-A924-EE62-7FDFFE7E73FE}"/>
              </a:ext>
            </a:extLst>
          </p:cNvPr>
          <p:cNvSpPr>
            <a:spLocks noGrp="1"/>
          </p:cNvSpPr>
          <p:nvPr>
            <p:ph type="sldNum" sz="quarter" idx="12"/>
          </p:nvPr>
        </p:nvSpPr>
        <p:spPr/>
        <p:txBody>
          <a:bodyPr/>
          <a:lstStyle/>
          <a:p>
            <a:fld id="{F317719D-4397-416A-8DF5-E7F1C2D18F40}" type="slidenum">
              <a:rPr lang="en-US" smtClean="0"/>
              <a:t>46</a:t>
            </a:fld>
            <a:endParaRPr lang="en-US"/>
          </a:p>
        </p:txBody>
      </p:sp>
    </p:spTree>
    <p:extLst>
      <p:ext uri="{BB962C8B-B14F-4D97-AF65-F5344CB8AC3E}">
        <p14:creationId xmlns:p14="http://schemas.microsoft.com/office/powerpoint/2010/main" val="13544143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a:t>Disadvantages</a:t>
            </a:r>
            <a:endParaRPr lang="en-IN" altLang="en-US"/>
          </a:p>
        </p:txBody>
      </p:sp>
      <p:sp>
        <p:nvSpPr>
          <p:cNvPr id="16387" name="Content Placeholder 2"/>
          <p:cNvSpPr>
            <a:spLocks noGrp="1"/>
          </p:cNvSpPr>
          <p:nvPr>
            <p:ph idx="1"/>
          </p:nvPr>
        </p:nvSpPr>
        <p:spPr/>
        <p:txBody>
          <a:bodyPr/>
          <a:lstStyle/>
          <a:p>
            <a:r>
              <a:rPr lang="en-IN" altLang="en-US"/>
              <a:t>Failure of one computer can effect the whole network .</a:t>
            </a:r>
          </a:p>
          <a:p>
            <a:r>
              <a:rPr lang="en-IN" altLang="en-US"/>
              <a:t>Difficult to troubleshoot.</a:t>
            </a:r>
          </a:p>
          <a:p>
            <a:r>
              <a:rPr lang="en-IN" altLang="en-US"/>
              <a:t>Change mode with adding or removing a device effect the entire network.</a:t>
            </a:r>
          </a:p>
        </p:txBody>
      </p:sp>
      <p:sp>
        <p:nvSpPr>
          <p:cNvPr id="2" name="Slide Number Placeholder 1">
            <a:extLst>
              <a:ext uri="{FF2B5EF4-FFF2-40B4-BE49-F238E27FC236}">
                <a16:creationId xmlns:a16="http://schemas.microsoft.com/office/drawing/2014/main" id="{BCAB97EC-57D4-065E-BA3A-864DD2FE1DF7}"/>
              </a:ext>
            </a:extLst>
          </p:cNvPr>
          <p:cNvSpPr>
            <a:spLocks noGrp="1"/>
          </p:cNvSpPr>
          <p:nvPr>
            <p:ph type="sldNum" sz="quarter" idx="12"/>
          </p:nvPr>
        </p:nvSpPr>
        <p:spPr/>
        <p:txBody>
          <a:bodyPr/>
          <a:lstStyle/>
          <a:p>
            <a:fld id="{F317719D-4397-416A-8DF5-E7F1C2D18F40}" type="slidenum">
              <a:rPr lang="en-US" smtClean="0"/>
              <a:t>47</a:t>
            </a:fld>
            <a:endParaRPr lang="en-US"/>
          </a:p>
        </p:txBody>
      </p:sp>
    </p:spTree>
    <p:extLst>
      <p:ext uri="{BB962C8B-B14F-4D97-AF65-F5344CB8AC3E}">
        <p14:creationId xmlns:p14="http://schemas.microsoft.com/office/powerpoint/2010/main" val="3063624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b="1" dirty="0"/>
              <a:t>Mesh Topology</a:t>
            </a:r>
            <a:endParaRPr lang="en-IN" altLang="en-US" b="1" dirty="0"/>
          </a:p>
        </p:txBody>
      </p:sp>
      <p:sp>
        <p:nvSpPr>
          <p:cNvPr id="17411" name="Content Placeholder 2"/>
          <p:cNvSpPr>
            <a:spLocks noGrp="1"/>
          </p:cNvSpPr>
          <p:nvPr>
            <p:ph idx="1"/>
          </p:nvPr>
        </p:nvSpPr>
        <p:spPr/>
        <p:txBody>
          <a:bodyPr/>
          <a:lstStyle/>
          <a:p>
            <a:pPr algn="just"/>
            <a:r>
              <a:rPr lang="en-IN" altLang="en-US" dirty="0"/>
              <a:t>A mesh network or mesh topology uses separate cable to connect each device to every other device on the network, providing a straight communication path. </a:t>
            </a:r>
          </a:p>
          <a:p>
            <a:pPr algn="just"/>
            <a:r>
              <a:rPr lang="en-IN" altLang="en-US" dirty="0"/>
              <a:t>For sending messages, check the cable connected into two devices. A message is send directly from sender to receiver because each one has individual and separate connection.</a:t>
            </a:r>
          </a:p>
        </p:txBody>
      </p:sp>
      <p:sp>
        <p:nvSpPr>
          <p:cNvPr id="2" name="Slide Number Placeholder 1">
            <a:extLst>
              <a:ext uri="{FF2B5EF4-FFF2-40B4-BE49-F238E27FC236}">
                <a16:creationId xmlns:a16="http://schemas.microsoft.com/office/drawing/2014/main" id="{83C1268A-A8A0-F545-E2A8-417FEA76EA42}"/>
              </a:ext>
            </a:extLst>
          </p:cNvPr>
          <p:cNvSpPr>
            <a:spLocks noGrp="1"/>
          </p:cNvSpPr>
          <p:nvPr>
            <p:ph type="sldNum" sz="quarter" idx="12"/>
          </p:nvPr>
        </p:nvSpPr>
        <p:spPr/>
        <p:txBody>
          <a:bodyPr/>
          <a:lstStyle/>
          <a:p>
            <a:fld id="{F317719D-4397-416A-8DF5-E7F1C2D18F40}" type="slidenum">
              <a:rPr lang="en-US" smtClean="0"/>
              <a:t>48</a:t>
            </a:fld>
            <a:endParaRPr lang="en-US"/>
          </a:p>
        </p:txBody>
      </p:sp>
    </p:spTree>
    <p:extLst>
      <p:ext uri="{BB962C8B-B14F-4D97-AF65-F5344CB8AC3E}">
        <p14:creationId xmlns:p14="http://schemas.microsoft.com/office/powerpoint/2010/main" val="29297122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b="1" dirty="0"/>
              <a:t>Mesh Topology</a:t>
            </a:r>
            <a:endParaRPr lang="en-IN" altLang="en-US" dirty="0"/>
          </a:p>
        </p:txBody>
      </p:sp>
      <p:pic>
        <p:nvPicPr>
          <p:cNvPr id="18435" name="Picture 2" descr="C:\Users\dell\Desktop\appt\mesh imag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095751" y="2214563"/>
            <a:ext cx="3571875" cy="3357562"/>
          </a:xfrm>
          <a:noFill/>
        </p:spPr>
      </p:pic>
      <p:sp>
        <p:nvSpPr>
          <p:cNvPr id="2" name="Slide Number Placeholder 1">
            <a:extLst>
              <a:ext uri="{FF2B5EF4-FFF2-40B4-BE49-F238E27FC236}">
                <a16:creationId xmlns:a16="http://schemas.microsoft.com/office/drawing/2014/main" id="{8D4876A9-922C-DE33-BB4D-D90C79BBFDAF}"/>
              </a:ext>
            </a:extLst>
          </p:cNvPr>
          <p:cNvSpPr>
            <a:spLocks noGrp="1"/>
          </p:cNvSpPr>
          <p:nvPr>
            <p:ph type="sldNum" sz="quarter" idx="12"/>
          </p:nvPr>
        </p:nvSpPr>
        <p:spPr/>
        <p:txBody>
          <a:bodyPr/>
          <a:lstStyle/>
          <a:p>
            <a:fld id="{F317719D-4397-416A-8DF5-E7F1C2D18F40}" type="slidenum">
              <a:rPr lang="en-US" smtClean="0"/>
              <a:t>49</a:t>
            </a:fld>
            <a:endParaRPr lang="en-US"/>
          </a:p>
        </p:txBody>
      </p:sp>
    </p:spTree>
    <p:extLst>
      <p:ext uri="{BB962C8B-B14F-4D97-AF65-F5344CB8AC3E}">
        <p14:creationId xmlns:p14="http://schemas.microsoft.com/office/powerpoint/2010/main" val="35052630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a:t>Advantages</a:t>
            </a:r>
            <a:endParaRPr lang="en-IN" altLang="en-US"/>
          </a:p>
        </p:txBody>
      </p:sp>
      <p:sp>
        <p:nvSpPr>
          <p:cNvPr id="19459" name="Content Placeholder 2"/>
          <p:cNvSpPr>
            <a:spLocks noGrp="1"/>
          </p:cNvSpPr>
          <p:nvPr>
            <p:ph idx="1"/>
          </p:nvPr>
        </p:nvSpPr>
        <p:spPr/>
        <p:txBody>
          <a:bodyPr/>
          <a:lstStyle/>
          <a:p>
            <a:r>
              <a:rPr lang="en-IN" altLang="en-US"/>
              <a:t>Enhance for error tolerance provided by redundant links.</a:t>
            </a:r>
          </a:p>
          <a:p>
            <a:r>
              <a:rPr lang="en-IN" altLang="en-US"/>
              <a:t>Easy to troubleshoot.</a:t>
            </a:r>
          </a:p>
        </p:txBody>
      </p:sp>
      <p:sp>
        <p:nvSpPr>
          <p:cNvPr id="2" name="Slide Number Placeholder 1">
            <a:extLst>
              <a:ext uri="{FF2B5EF4-FFF2-40B4-BE49-F238E27FC236}">
                <a16:creationId xmlns:a16="http://schemas.microsoft.com/office/drawing/2014/main" id="{D4F72BB1-A50D-89B1-8DA9-8F100CD267A0}"/>
              </a:ext>
            </a:extLst>
          </p:cNvPr>
          <p:cNvSpPr>
            <a:spLocks noGrp="1"/>
          </p:cNvSpPr>
          <p:nvPr>
            <p:ph type="sldNum" sz="quarter" idx="12"/>
          </p:nvPr>
        </p:nvSpPr>
        <p:spPr/>
        <p:txBody>
          <a:bodyPr/>
          <a:lstStyle/>
          <a:p>
            <a:fld id="{F317719D-4397-416A-8DF5-E7F1C2D18F40}" type="slidenum">
              <a:rPr lang="en-US" smtClean="0"/>
              <a:t>50</a:t>
            </a:fld>
            <a:endParaRPr lang="en-US"/>
          </a:p>
        </p:txBody>
      </p:sp>
    </p:spTree>
    <p:extLst>
      <p:ext uri="{BB962C8B-B14F-4D97-AF65-F5344CB8AC3E}">
        <p14:creationId xmlns:p14="http://schemas.microsoft.com/office/powerpoint/2010/main" val="19107420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Disadvantages</a:t>
            </a:r>
            <a:endParaRPr lang="en-IN" altLang="en-US"/>
          </a:p>
        </p:txBody>
      </p:sp>
      <p:sp>
        <p:nvSpPr>
          <p:cNvPr id="20483" name="Content Placeholder 2"/>
          <p:cNvSpPr>
            <a:spLocks noGrp="1"/>
          </p:cNvSpPr>
          <p:nvPr>
            <p:ph idx="1"/>
          </p:nvPr>
        </p:nvSpPr>
        <p:spPr/>
        <p:txBody>
          <a:bodyPr/>
          <a:lstStyle/>
          <a:p>
            <a:r>
              <a:rPr lang="en-IN" altLang="en-US"/>
              <a:t>Difficult to install and maintain.</a:t>
            </a:r>
          </a:p>
          <a:p>
            <a:r>
              <a:rPr lang="en-IN" altLang="en-US"/>
              <a:t>Expensive.</a:t>
            </a:r>
          </a:p>
        </p:txBody>
      </p:sp>
      <p:sp>
        <p:nvSpPr>
          <p:cNvPr id="2" name="Slide Number Placeholder 1">
            <a:extLst>
              <a:ext uri="{FF2B5EF4-FFF2-40B4-BE49-F238E27FC236}">
                <a16:creationId xmlns:a16="http://schemas.microsoft.com/office/drawing/2014/main" id="{BD468EA7-D2F8-3866-DE43-FA1ED3A78A88}"/>
              </a:ext>
            </a:extLst>
          </p:cNvPr>
          <p:cNvSpPr>
            <a:spLocks noGrp="1"/>
          </p:cNvSpPr>
          <p:nvPr>
            <p:ph type="sldNum" sz="quarter" idx="12"/>
          </p:nvPr>
        </p:nvSpPr>
        <p:spPr/>
        <p:txBody>
          <a:bodyPr/>
          <a:lstStyle/>
          <a:p>
            <a:fld id="{F317719D-4397-416A-8DF5-E7F1C2D18F40}" type="slidenum">
              <a:rPr lang="en-US" smtClean="0"/>
              <a:t>51</a:t>
            </a:fld>
            <a:endParaRPr lang="en-US"/>
          </a:p>
        </p:txBody>
      </p:sp>
    </p:spTree>
    <p:extLst>
      <p:ext uri="{BB962C8B-B14F-4D97-AF65-F5344CB8AC3E}">
        <p14:creationId xmlns:p14="http://schemas.microsoft.com/office/powerpoint/2010/main" val="1090030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b="1" dirty="0"/>
              <a:t>Tree Topology</a:t>
            </a:r>
            <a:endParaRPr lang="en-IN" altLang="en-US" b="1" dirty="0"/>
          </a:p>
        </p:txBody>
      </p:sp>
      <p:sp>
        <p:nvSpPr>
          <p:cNvPr id="3" name="Content Placeholder 2"/>
          <p:cNvSpPr>
            <a:spLocks noGrp="1"/>
          </p:cNvSpPr>
          <p:nvPr>
            <p:ph idx="1"/>
          </p:nvPr>
        </p:nvSpPr>
        <p:spPr/>
        <p:txBody>
          <a:bodyPr rtlCol="0">
            <a:normAutofit fontScale="92500"/>
          </a:bodyPr>
          <a:lstStyle/>
          <a:p>
            <a:pPr algn="just">
              <a:defRPr/>
            </a:pPr>
            <a:r>
              <a:rPr lang="en-IN" dirty="0"/>
              <a:t>The type of network topology in which a central 'root' node (the top level of the hierarchy) is connected to one or more other nodes that are one level lower in the hierarchy (i.e., the second level) with a point-to-point link between each of the second level nodes and the top level central 'root' node, while each of the second level nodes that are connected to the top level central 'root' node will also have one or more other nodes that are one level lower in the hierarchy (i.e., the third level) connected to it, also with a point-to-point link, the top level central 'root' node being the only node that has no other node above it in the hierarchy (The hierarchy of the tree is symmetrical.)</a:t>
            </a:r>
          </a:p>
          <a:p>
            <a:pPr algn="just">
              <a:defRPr/>
            </a:pPr>
            <a:r>
              <a:rPr lang="en-IN" dirty="0"/>
              <a:t> Each node in the network having a specific fixed number, of nodes connected to it at the next lower level in the hierarchy, the number, being referred to as the 'branching factor' of the hierarchical tree.</a:t>
            </a:r>
          </a:p>
        </p:txBody>
      </p:sp>
      <p:sp>
        <p:nvSpPr>
          <p:cNvPr id="2" name="Slide Number Placeholder 1">
            <a:extLst>
              <a:ext uri="{FF2B5EF4-FFF2-40B4-BE49-F238E27FC236}">
                <a16:creationId xmlns:a16="http://schemas.microsoft.com/office/drawing/2014/main" id="{F5FF6893-F30F-C342-FE77-52CF178331A8}"/>
              </a:ext>
            </a:extLst>
          </p:cNvPr>
          <p:cNvSpPr>
            <a:spLocks noGrp="1"/>
          </p:cNvSpPr>
          <p:nvPr>
            <p:ph type="sldNum" sz="quarter" idx="12"/>
          </p:nvPr>
        </p:nvSpPr>
        <p:spPr/>
        <p:txBody>
          <a:bodyPr/>
          <a:lstStyle/>
          <a:p>
            <a:fld id="{F317719D-4397-416A-8DF5-E7F1C2D18F40}" type="slidenum">
              <a:rPr lang="en-US" smtClean="0"/>
              <a:t>52</a:t>
            </a:fld>
            <a:endParaRPr lang="en-US"/>
          </a:p>
        </p:txBody>
      </p:sp>
    </p:spTree>
    <p:extLst>
      <p:ext uri="{BB962C8B-B14F-4D97-AF65-F5344CB8AC3E}">
        <p14:creationId xmlns:p14="http://schemas.microsoft.com/office/powerpoint/2010/main" val="15126613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b="1" dirty="0"/>
              <a:t>Tree Topology</a:t>
            </a:r>
            <a:endParaRPr lang="en-IN" altLang="en-US" dirty="0"/>
          </a:p>
        </p:txBody>
      </p:sp>
      <p:pic>
        <p:nvPicPr>
          <p:cNvPr id="22531" name="Picture 2" descr="C:\Users\dell\Desktop\appt\tree imag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381375" y="1714500"/>
            <a:ext cx="5410200" cy="3505200"/>
          </a:xfrm>
          <a:noFill/>
        </p:spPr>
      </p:pic>
      <p:sp>
        <p:nvSpPr>
          <p:cNvPr id="2" name="Slide Number Placeholder 1">
            <a:extLst>
              <a:ext uri="{FF2B5EF4-FFF2-40B4-BE49-F238E27FC236}">
                <a16:creationId xmlns:a16="http://schemas.microsoft.com/office/drawing/2014/main" id="{02EB960A-C351-3E0F-6597-358B987D7BB4}"/>
              </a:ext>
            </a:extLst>
          </p:cNvPr>
          <p:cNvSpPr>
            <a:spLocks noGrp="1"/>
          </p:cNvSpPr>
          <p:nvPr>
            <p:ph type="sldNum" sz="quarter" idx="12"/>
          </p:nvPr>
        </p:nvSpPr>
        <p:spPr/>
        <p:txBody>
          <a:bodyPr/>
          <a:lstStyle/>
          <a:p>
            <a:fld id="{F317719D-4397-416A-8DF5-E7F1C2D18F40}" type="slidenum">
              <a:rPr lang="en-US" smtClean="0"/>
              <a:t>53</a:t>
            </a:fld>
            <a:endParaRPr lang="en-US"/>
          </a:p>
        </p:txBody>
      </p:sp>
    </p:spTree>
    <p:extLst>
      <p:ext uri="{BB962C8B-B14F-4D97-AF65-F5344CB8AC3E}">
        <p14:creationId xmlns:p14="http://schemas.microsoft.com/office/powerpoint/2010/main" val="30573083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a:t>Advantages</a:t>
            </a:r>
            <a:endParaRPr lang="en-IN" altLang="en-US"/>
          </a:p>
        </p:txBody>
      </p:sp>
      <p:sp>
        <p:nvSpPr>
          <p:cNvPr id="23555" name="Content Placeholder 2"/>
          <p:cNvSpPr>
            <a:spLocks noGrp="1"/>
          </p:cNvSpPr>
          <p:nvPr>
            <p:ph idx="1"/>
          </p:nvPr>
        </p:nvSpPr>
        <p:spPr/>
        <p:txBody>
          <a:bodyPr/>
          <a:lstStyle/>
          <a:p>
            <a:r>
              <a:rPr lang="en-IN" altLang="en-US" b="1"/>
              <a:t>It is scalable.</a:t>
            </a:r>
            <a:r>
              <a:rPr lang="en-IN" altLang="en-US"/>
              <a:t>Secondary nodes allow more devices to be connected to a central node.</a:t>
            </a:r>
          </a:p>
          <a:p>
            <a:r>
              <a:rPr lang="en-IN" altLang="en-US"/>
              <a:t>Point to point connection of devices.</a:t>
            </a:r>
          </a:p>
          <a:p>
            <a:r>
              <a:rPr lang="en-IN" altLang="en-US"/>
              <a:t>Having different levels of the network makes it more manageable hence easier fault identification and isolation.</a:t>
            </a:r>
          </a:p>
        </p:txBody>
      </p:sp>
      <p:sp>
        <p:nvSpPr>
          <p:cNvPr id="2" name="Slide Number Placeholder 1">
            <a:extLst>
              <a:ext uri="{FF2B5EF4-FFF2-40B4-BE49-F238E27FC236}">
                <a16:creationId xmlns:a16="http://schemas.microsoft.com/office/drawing/2014/main" id="{D68804ED-9D1C-94DA-739B-1AE71DA98AAB}"/>
              </a:ext>
            </a:extLst>
          </p:cNvPr>
          <p:cNvSpPr>
            <a:spLocks noGrp="1"/>
          </p:cNvSpPr>
          <p:nvPr>
            <p:ph type="sldNum" sz="quarter" idx="12"/>
          </p:nvPr>
        </p:nvSpPr>
        <p:spPr/>
        <p:txBody>
          <a:bodyPr/>
          <a:lstStyle/>
          <a:p>
            <a:fld id="{F317719D-4397-416A-8DF5-E7F1C2D18F40}" type="slidenum">
              <a:rPr lang="en-US" smtClean="0"/>
              <a:t>54</a:t>
            </a:fld>
            <a:endParaRPr lang="en-US"/>
          </a:p>
        </p:txBody>
      </p:sp>
    </p:spTree>
    <p:extLst>
      <p:ext uri="{BB962C8B-B14F-4D97-AF65-F5344CB8AC3E}">
        <p14:creationId xmlns:p14="http://schemas.microsoft.com/office/powerpoint/2010/main" val="39362457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a:t>Disadvantages</a:t>
            </a:r>
            <a:endParaRPr lang="en-IN" altLang="en-US"/>
          </a:p>
        </p:txBody>
      </p:sp>
      <p:sp>
        <p:nvSpPr>
          <p:cNvPr id="24579" name="Content Placeholder 2"/>
          <p:cNvSpPr>
            <a:spLocks noGrp="1"/>
          </p:cNvSpPr>
          <p:nvPr>
            <p:ph idx="1"/>
          </p:nvPr>
        </p:nvSpPr>
        <p:spPr/>
        <p:txBody>
          <a:bodyPr/>
          <a:lstStyle/>
          <a:p>
            <a:r>
              <a:rPr lang="en-IN" altLang="en-US"/>
              <a:t>Maintenance of the network may be an issue when the network spans a great area.</a:t>
            </a:r>
          </a:p>
          <a:p>
            <a:r>
              <a:rPr lang="en-IN" altLang="en-US"/>
              <a:t>Since it is a variation of bus topology, if the backbone fails, the entire network is crippled.</a:t>
            </a:r>
          </a:p>
        </p:txBody>
      </p:sp>
      <p:sp>
        <p:nvSpPr>
          <p:cNvPr id="2" name="Slide Number Placeholder 1">
            <a:extLst>
              <a:ext uri="{FF2B5EF4-FFF2-40B4-BE49-F238E27FC236}">
                <a16:creationId xmlns:a16="http://schemas.microsoft.com/office/drawing/2014/main" id="{6FC3F922-EEC9-2164-33A0-216708F2FECE}"/>
              </a:ext>
            </a:extLst>
          </p:cNvPr>
          <p:cNvSpPr>
            <a:spLocks noGrp="1"/>
          </p:cNvSpPr>
          <p:nvPr>
            <p:ph type="sldNum" sz="quarter" idx="12"/>
          </p:nvPr>
        </p:nvSpPr>
        <p:spPr/>
        <p:txBody>
          <a:bodyPr/>
          <a:lstStyle/>
          <a:p>
            <a:fld id="{F317719D-4397-416A-8DF5-E7F1C2D18F40}" type="slidenum">
              <a:rPr lang="en-US" smtClean="0"/>
              <a:t>55</a:t>
            </a:fld>
            <a:endParaRPr lang="en-US"/>
          </a:p>
        </p:txBody>
      </p:sp>
    </p:spTree>
    <p:extLst>
      <p:ext uri="{BB962C8B-B14F-4D97-AF65-F5344CB8AC3E}">
        <p14:creationId xmlns:p14="http://schemas.microsoft.com/office/powerpoint/2010/main" val="3521145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b="1" dirty="0"/>
              <a:t>Hybrid Topology</a:t>
            </a:r>
            <a:endParaRPr lang="en-IN" altLang="en-US" b="1" dirty="0"/>
          </a:p>
        </p:txBody>
      </p:sp>
      <p:sp>
        <p:nvSpPr>
          <p:cNvPr id="3" name="Content Placeholder 2"/>
          <p:cNvSpPr>
            <a:spLocks noGrp="1"/>
          </p:cNvSpPr>
          <p:nvPr>
            <p:ph idx="1"/>
          </p:nvPr>
        </p:nvSpPr>
        <p:spPr/>
        <p:txBody>
          <a:bodyPr rtlCol="0">
            <a:normAutofit/>
          </a:bodyPr>
          <a:lstStyle/>
          <a:p>
            <a:pPr algn="just">
              <a:defRPr/>
            </a:pPr>
            <a:r>
              <a:rPr lang="en-IN" dirty="0"/>
              <a:t>Hybrid networks use a combination of any two or more topologies in such a way that the resulting network does not exhibit one of the standard topologies (e.g., bus, star, ring, etc.). </a:t>
            </a:r>
          </a:p>
          <a:p>
            <a:pPr algn="just">
              <a:defRPr/>
            </a:pPr>
            <a:r>
              <a:rPr lang="en-IN" dirty="0"/>
              <a:t>For example, a tree network connected to a tree network is still a tree network topology. A hybrid topology is always produced when two different basic network topologies are connected. Two common examples for Hybrid network are: </a:t>
            </a:r>
            <a:r>
              <a:rPr lang="en-IN" i="1" dirty="0"/>
              <a:t>star ring network</a:t>
            </a:r>
            <a:r>
              <a:rPr lang="en-IN" dirty="0"/>
              <a:t> and </a:t>
            </a:r>
            <a:r>
              <a:rPr lang="en-IN" i="1" dirty="0"/>
              <a:t>star bus network.</a:t>
            </a:r>
            <a:endParaRPr lang="en-IN" dirty="0"/>
          </a:p>
        </p:txBody>
      </p:sp>
      <p:sp>
        <p:nvSpPr>
          <p:cNvPr id="2" name="Slide Number Placeholder 1">
            <a:extLst>
              <a:ext uri="{FF2B5EF4-FFF2-40B4-BE49-F238E27FC236}">
                <a16:creationId xmlns:a16="http://schemas.microsoft.com/office/drawing/2014/main" id="{595B142E-ACD0-0CE0-0AF5-DA34719E486C}"/>
              </a:ext>
            </a:extLst>
          </p:cNvPr>
          <p:cNvSpPr>
            <a:spLocks noGrp="1"/>
          </p:cNvSpPr>
          <p:nvPr>
            <p:ph type="sldNum" sz="quarter" idx="12"/>
          </p:nvPr>
        </p:nvSpPr>
        <p:spPr/>
        <p:txBody>
          <a:bodyPr/>
          <a:lstStyle/>
          <a:p>
            <a:fld id="{F317719D-4397-416A-8DF5-E7F1C2D18F40}" type="slidenum">
              <a:rPr lang="en-US" smtClean="0"/>
              <a:t>56</a:t>
            </a:fld>
            <a:endParaRPr lang="en-US"/>
          </a:p>
        </p:txBody>
      </p:sp>
    </p:spTree>
    <p:extLst>
      <p:ext uri="{BB962C8B-B14F-4D97-AF65-F5344CB8AC3E}">
        <p14:creationId xmlns:p14="http://schemas.microsoft.com/office/powerpoint/2010/main" val="37906957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b="1" dirty="0"/>
              <a:t>Tree Topology</a:t>
            </a:r>
            <a:endParaRPr lang="en-IN" altLang="en-US" dirty="0"/>
          </a:p>
        </p:txBody>
      </p:sp>
      <p:pic>
        <p:nvPicPr>
          <p:cNvPr id="26627" name="Picture 2" descr="C:\Users\dell\Desktop\appt\hybrid topology.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024313" y="2286001"/>
            <a:ext cx="3643312" cy="2982913"/>
          </a:xfrm>
          <a:noFill/>
        </p:spPr>
      </p:pic>
      <p:sp>
        <p:nvSpPr>
          <p:cNvPr id="2" name="Slide Number Placeholder 1">
            <a:extLst>
              <a:ext uri="{FF2B5EF4-FFF2-40B4-BE49-F238E27FC236}">
                <a16:creationId xmlns:a16="http://schemas.microsoft.com/office/drawing/2014/main" id="{173C2EE8-2AFE-F68B-8BA9-E31E6CC9B09A}"/>
              </a:ext>
            </a:extLst>
          </p:cNvPr>
          <p:cNvSpPr>
            <a:spLocks noGrp="1"/>
          </p:cNvSpPr>
          <p:nvPr>
            <p:ph type="sldNum" sz="quarter" idx="12"/>
          </p:nvPr>
        </p:nvSpPr>
        <p:spPr/>
        <p:txBody>
          <a:bodyPr/>
          <a:lstStyle/>
          <a:p>
            <a:fld id="{F317719D-4397-416A-8DF5-E7F1C2D18F40}" type="slidenum">
              <a:rPr lang="en-US" smtClean="0"/>
              <a:t>57</a:t>
            </a:fld>
            <a:endParaRPr lang="en-US"/>
          </a:p>
        </p:txBody>
      </p:sp>
    </p:spTree>
    <p:extLst>
      <p:ext uri="{BB962C8B-B14F-4D97-AF65-F5344CB8AC3E}">
        <p14:creationId xmlns:p14="http://schemas.microsoft.com/office/powerpoint/2010/main" val="34225505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pPr algn="just"/>
            <a:r>
              <a:rPr lang="en-US" dirty="0"/>
              <a:t>What is Network Topology? What are the types of network topology? Explain with proper figure. And if you have to arrange the network, Which topology would you choose and why?</a:t>
            </a:r>
          </a:p>
        </p:txBody>
      </p:sp>
      <p:sp>
        <p:nvSpPr>
          <p:cNvPr id="4" name="Slide Number Placeholder 3">
            <a:extLst>
              <a:ext uri="{FF2B5EF4-FFF2-40B4-BE49-F238E27FC236}">
                <a16:creationId xmlns:a16="http://schemas.microsoft.com/office/drawing/2014/main" id="{7BB0C183-6CEF-AC79-BE6C-5C92DF685731}"/>
              </a:ext>
            </a:extLst>
          </p:cNvPr>
          <p:cNvSpPr>
            <a:spLocks noGrp="1"/>
          </p:cNvSpPr>
          <p:nvPr>
            <p:ph type="sldNum" sz="quarter" idx="12"/>
          </p:nvPr>
        </p:nvSpPr>
        <p:spPr/>
        <p:txBody>
          <a:bodyPr/>
          <a:lstStyle/>
          <a:p>
            <a:fld id="{F317719D-4397-416A-8DF5-E7F1C2D18F40}" type="slidenum">
              <a:rPr lang="en-US" smtClean="0"/>
              <a:t>58</a:t>
            </a:fld>
            <a:endParaRPr lang="en-US"/>
          </a:p>
        </p:txBody>
      </p:sp>
    </p:spTree>
    <p:extLst>
      <p:ext uri="{BB962C8B-B14F-4D97-AF65-F5344CB8AC3E}">
        <p14:creationId xmlns:p14="http://schemas.microsoft.com/office/powerpoint/2010/main" val="1624435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OSI (Open Systems Interconnection)</a:t>
            </a:r>
          </a:p>
        </p:txBody>
      </p:sp>
      <p:sp>
        <p:nvSpPr>
          <p:cNvPr id="3" name="Content Placeholder 2"/>
          <p:cNvSpPr>
            <a:spLocks noGrp="1"/>
          </p:cNvSpPr>
          <p:nvPr>
            <p:ph idx="1"/>
          </p:nvPr>
        </p:nvSpPr>
        <p:spPr/>
        <p:txBody>
          <a:bodyPr/>
          <a:lstStyle/>
          <a:p>
            <a:pPr algn="just"/>
            <a:r>
              <a:rPr lang="en-US" dirty="0"/>
              <a:t>The OSI (Open Systems Interconnection) reference model is a conceptual model that provides a framework for understanding how communication between different computer systems and network devices occurs.</a:t>
            </a:r>
          </a:p>
          <a:p>
            <a:pPr algn="just"/>
            <a:r>
              <a:rPr lang="en-US" dirty="0"/>
              <a:t> It was developed by the International Organization for Standardization (ISO) in 1984 and is composed of seven layers, each with a specific function in the communication process.</a:t>
            </a:r>
          </a:p>
        </p:txBody>
      </p:sp>
      <p:sp>
        <p:nvSpPr>
          <p:cNvPr id="4" name="Slide Number Placeholder 3">
            <a:extLst>
              <a:ext uri="{FF2B5EF4-FFF2-40B4-BE49-F238E27FC236}">
                <a16:creationId xmlns:a16="http://schemas.microsoft.com/office/drawing/2014/main" id="{3D121CD3-E74A-CD7C-2FDA-7E0FE86182A6}"/>
              </a:ext>
            </a:extLst>
          </p:cNvPr>
          <p:cNvSpPr>
            <a:spLocks noGrp="1"/>
          </p:cNvSpPr>
          <p:nvPr>
            <p:ph type="sldNum" sz="quarter" idx="12"/>
          </p:nvPr>
        </p:nvSpPr>
        <p:spPr/>
        <p:txBody>
          <a:bodyPr/>
          <a:lstStyle/>
          <a:p>
            <a:fld id="{F317719D-4397-416A-8DF5-E7F1C2D18F40}" type="slidenum">
              <a:rPr lang="en-US" smtClean="0"/>
              <a:t>59</a:t>
            </a:fld>
            <a:endParaRPr lang="en-US"/>
          </a:p>
        </p:txBody>
      </p:sp>
    </p:spTree>
    <p:extLst>
      <p:ext uri="{BB962C8B-B14F-4D97-AF65-F5344CB8AC3E}">
        <p14:creationId xmlns:p14="http://schemas.microsoft.com/office/powerpoint/2010/main" val="36645731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OSI (Open Systems Interconnection)</a:t>
            </a:r>
            <a:endParaRPr lang="en-US" dirty="0"/>
          </a:p>
        </p:txBody>
      </p:sp>
      <p:pic>
        <p:nvPicPr>
          <p:cNvPr id="1026" name="Picture 2" descr="Layers of OSI Model - GeeksforGeek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477145" y="2603500"/>
            <a:ext cx="4182022" cy="34163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91A46CB-3FB5-668B-1554-E2FDDF29CD93}"/>
              </a:ext>
            </a:extLst>
          </p:cNvPr>
          <p:cNvSpPr>
            <a:spLocks noGrp="1"/>
          </p:cNvSpPr>
          <p:nvPr>
            <p:ph type="sldNum" sz="quarter" idx="12"/>
          </p:nvPr>
        </p:nvSpPr>
        <p:spPr/>
        <p:txBody>
          <a:bodyPr/>
          <a:lstStyle/>
          <a:p>
            <a:fld id="{F317719D-4397-416A-8DF5-E7F1C2D18F40}" type="slidenum">
              <a:rPr lang="en-US" smtClean="0"/>
              <a:t>60</a:t>
            </a:fld>
            <a:endParaRPr lang="en-US"/>
          </a:p>
        </p:txBody>
      </p:sp>
    </p:spTree>
    <p:extLst>
      <p:ext uri="{BB962C8B-B14F-4D97-AF65-F5344CB8AC3E}">
        <p14:creationId xmlns:p14="http://schemas.microsoft.com/office/powerpoint/2010/main" val="21679693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FD0AA9-24E4-3B47-479A-9D0F56F03D2E}"/>
              </a:ext>
            </a:extLst>
          </p:cNvPr>
          <p:cNvSpPr>
            <a:spLocks noGrp="1"/>
          </p:cNvSpPr>
          <p:nvPr>
            <p:ph type="title"/>
          </p:nvPr>
        </p:nvSpPr>
        <p:spPr/>
        <p:txBody>
          <a:bodyPr/>
          <a:lstStyle/>
          <a:p>
            <a:r>
              <a:rPr lang="en-US" b="1" dirty="0"/>
              <a:t>1. Physical Layer</a:t>
            </a:r>
          </a:p>
        </p:txBody>
      </p:sp>
      <p:sp>
        <p:nvSpPr>
          <p:cNvPr id="3" name="Content Placeholder 2"/>
          <p:cNvSpPr>
            <a:spLocks noGrp="1"/>
          </p:cNvSpPr>
          <p:nvPr>
            <p:ph idx="1"/>
          </p:nvPr>
        </p:nvSpPr>
        <p:spPr/>
        <p:txBody>
          <a:bodyPr>
            <a:normAutofit/>
          </a:bodyPr>
          <a:lstStyle/>
          <a:p>
            <a:pPr algn="just"/>
            <a:r>
              <a:rPr lang="en-US" dirty="0"/>
              <a:t>Converts Binary bits of Frames into Signal to be transmitted in to media.</a:t>
            </a:r>
          </a:p>
          <a:p>
            <a:pPr algn="just"/>
            <a:r>
              <a:rPr lang="en-US" dirty="0"/>
              <a:t>Cables and Connecters</a:t>
            </a:r>
          </a:p>
          <a:p>
            <a:pPr algn="just"/>
            <a:r>
              <a:rPr lang="en-US" dirty="0"/>
              <a:t>Topology</a:t>
            </a:r>
          </a:p>
          <a:p>
            <a:pPr algn="just"/>
            <a:r>
              <a:rPr lang="en-US" dirty="0"/>
              <a:t>Hardware</a:t>
            </a:r>
          </a:p>
          <a:p>
            <a:pPr algn="just"/>
            <a:r>
              <a:rPr lang="en-US" dirty="0"/>
              <a:t>Mode of Communication</a:t>
            </a:r>
          </a:p>
        </p:txBody>
      </p:sp>
      <p:sp>
        <p:nvSpPr>
          <p:cNvPr id="4" name="Slide Number Placeholder 3">
            <a:extLst>
              <a:ext uri="{FF2B5EF4-FFF2-40B4-BE49-F238E27FC236}">
                <a16:creationId xmlns:a16="http://schemas.microsoft.com/office/drawing/2014/main" id="{89EAA1CD-52C9-3325-5C48-ED18EE4AF4D7}"/>
              </a:ext>
            </a:extLst>
          </p:cNvPr>
          <p:cNvSpPr>
            <a:spLocks noGrp="1"/>
          </p:cNvSpPr>
          <p:nvPr>
            <p:ph type="sldNum" sz="quarter" idx="12"/>
          </p:nvPr>
        </p:nvSpPr>
        <p:spPr/>
        <p:txBody>
          <a:bodyPr/>
          <a:lstStyle/>
          <a:p>
            <a:fld id="{F317719D-4397-416A-8DF5-E7F1C2D18F40}" type="slidenum">
              <a:rPr lang="en-US" smtClean="0"/>
              <a:t>61</a:t>
            </a:fld>
            <a:endParaRPr lang="en-US"/>
          </a:p>
        </p:txBody>
      </p:sp>
    </p:spTree>
    <p:extLst>
      <p:ext uri="{BB962C8B-B14F-4D97-AF65-F5344CB8AC3E}">
        <p14:creationId xmlns:p14="http://schemas.microsoft.com/office/powerpoint/2010/main" val="23627189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002F2-D949-85A4-7126-F3F1A2B2EE74}"/>
              </a:ext>
            </a:extLst>
          </p:cNvPr>
          <p:cNvSpPr>
            <a:spLocks noGrp="1"/>
          </p:cNvSpPr>
          <p:nvPr>
            <p:ph type="title"/>
          </p:nvPr>
        </p:nvSpPr>
        <p:spPr/>
        <p:txBody>
          <a:bodyPr/>
          <a:lstStyle/>
          <a:p>
            <a:r>
              <a:rPr lang="en-US" b="1" dirty="0"/>
              <a:t>2. Data Link Layer</a:t>
            </a:r>
          </a:p>
        </p:txBody>
      </p:sp>
      <p:sp>
        <p:nvSpPr>
          <p:cNvPr id="3" name="Content Placeholder 2"/>
          <p:cNvSpPr>
            <a:spLocks noGrp="1"/>
          </p:cNvSpPr>
          <p:nvPr>
            <p:ph idx="1"/>
          </p:nvPr>
        </p:nvSpPr>
        <p:spPr/>
        <p:txBody>
          <a:bodyPr>
            <a:normAutofit/>
          </a:bodyPr>
          <a:lstStyle/>
          <a:p>
            <a:r>
              <a:rPr lang="en-US" dirty="0"/>
              <a:t>Framing</a:t>
            </a:r>
          </a:p>
          <a:p>
            <a:r>
              <a:rPr lang="en-US" dirty="0"/>
              <a:t>Physical Addressing</a:t>
            </a:r>
          </a:p>
          <a:p>
            <a:r>
              <a:rPr lang="en-US" dirty="0"/>
              <a:t>Media access control</a:t>
            </a:r>
          </a:p>
        </p:txBody>
      </p:sp>
      <p:sp>
        <p:nvSpPr>
          <p:cNvPr id="4" name="Slide Number Placeholder 3">
            <a:extLst>
              <a:ext uri="{FF2B5EF4-FFF2-40B4-BE49-F238E27FC236}">
                <a16:creationId xmlns:a16="http://schemas.microsoft.com/office/drawing/2014/main" id="{89EAA1CD-52C9-3325-5C48-ED18EE4AF4D7}"/>
              </a:ext>
            </a:extLst>
          </p:cNvPr>
          <p:cNvSpPr>
            <a:spLocks noGrp="1"/>
          </p:cNvSpPr>
          <p:nvPr>
            <p:ph type="sldNum" sz="quarter" idx="12"/>
          </p:nvPr>
        </p:nvSpPr>
        <p:spPr/>
        <p:txBody>
          <a:bodyPr/>
          <a:lstStyle/>
          <a:p>
            <a:fld id="{F317719D-4397-416A-8DF5-E7F1C2D18F40}" type="slidenum">
              <a:rPr lang="en-US" smtClean="0"/>
              <a:t>62</a:t>
            </a:fld>
            <a:endParaRPr lang="en-US"/>
          </a:p>
        </p:txBody>
      </p:sp>
    </p:spTree>
    <p:extLst>
      <p:ext uri="{BB962C8B-B14F-4D97-AF65-F5344CB8AC3E}">
        <p14:creationId xmlns:p14="http://schemas.microsoft.com/office/powerpoint/2010/main" val="17582472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3. Network Layer</a:t>
            </a:r>
          </a:p>
        </p:txBody>
      </p:sp>
      <p:sp>
        <p:nvSpPr>
          <p:cNvPr id="3" name="Content Placeholder 2"/>
          <p:cNvSpPr>
            <a:spLocks noGrp="1"/>
          </p:cNvSpPr>
          <p:nvPr>
            <p:ph idx="1"/>
          </p:nvPr>
        </p:nvSpPr>
        <p:spPr/>
        <p:txBody>
          <a:bodyPr>
            <a:normAutofit/>
          </a:bodyPr>
          <a:lstStyle/>
          <a:p>
            <a:pPr algn="just"/>
            <a:r>
              <a:rPr lang="en-US" sz="1800" dirty="0"/>
              <a:t>Functions of Network Layer is</a:t>
            </a:r>
          </a:p>
          <a:p>
            <a:pPr lvl="1" algn="just"/>
            <a:r>
              <a:rPr lang="en-US" dirty="0"/>
              <a:t>Logical Addressing</a:t>
            </a:r>
          </a:p>
          <a:p>
            <a:pPr lvl="1" algn="just"/>
            <a:r>
              <a:rPr lang="en-US" dirty="0"/>
              <a:t>Routing and Path determination</a:t>
            </a:r>
          </a:p>
        </p:txBody>
      </p:sp>
      <p:sp>
        <p:nvSpPr>
          <p:cNvPr id="4" name="Slide Number Placeholder 3">
            <a:extLst>
              <a:ext uri="{FF2B5EF4-FFF2-40B4-BE49-F238E27FC236}">
                <a16:creationId xmlns:a16="http://schemas.microsoft.com/office/drawing/2014/main" id="{89EAA1CD-52C9-3325-5C48-ED18EE4AF4D7}"/>
              </a:ext>
            </a:extLst>
          </p:cNvPr>
          <p:cNvSpPr>
            <a:spLocks noGrp="1"/>
          </p:cNvSpPr>
          <p:nvPr>
            <p:ph type="sldNum" sz="quarter" idx="12"/>
          </p:nvPr>
        </p:nvSpPr>
        <p:spPr/>
        <p:txBody>
          <a:bodyPr/>
          <a:lstStyle/>
          <a:p>
            <a:fld id="{F317719D-4397-416A-8DF5-E7F1C2D18F40}" type="slidenum">
              <a:rPr lang="en-US" smtClean="0"/>
              <a:t>63</a:t>
            </a:fld>
            <a:endParaRPr lang="en-US"/>
          </a:p>
        </p:txBody>
      </p:sp>
      <p:pic>
        <p:nvPicPr>
          <p:cNvPr id="6" name="Picture 5">
            <a:extLst>
              <a:ext uri="{FF2B5EF4-FFF2-40B4-BE49-F238E27FC236}">
                <a16:creationId xmlns:a16="http://schemas.microsoft.com/office/drawing/2014/main" id="{2BF63746-5834-FCF2-F774-BF38297206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954" y="3922182"/>
            <a:ext cx="5715000" cy="1962150"/>
          </a:xfrm>
          <a:prstGeom prst="rect">
            <a:avLst/>
          </a:prstGeom>
        </p:spPr>
      </p:pic>
      <p:pic>
        <p:nvPicPr>
          <p:cNvPr id="8" name="Picture 7">
            <a:extLst>
              <a:ext uri="{FF2B5EF4-FFF2-40B4-BE49-F238E27FC236}">
                <a16:creationId xmlns:a16="http://schemas.microsoft.com/office/drawing/2014/main" id="{18C68C6C-F2F6-89F3-E5C7-BDE27D2A1A14}"/>
              </a:ext>
            </a:extLst>
          </p:cNvPr>
          <p:cNvPicPr>
            <a:picLocks noChangeAspect="1"/>
          </p:cNvPicPr>
          <p:nvPr/>
        </p:nvPicPr>
        <p:blipFill rotWithShape="1">
          <a:blip r:embed="rId3">
            <a:extLst>
              <a:ext uri="{28A0092B-C50C-407E-A947-70E740481C1C}">
                <a14:useLocalDpi xmlns:a14="http://schemas.microsoft.com/office/drawing/2010/main" val="0"/>
              </a:ext>
            </a:extLst>
          </a:blip>
          <a:srcRect l="12261" t="27337" r="10755" b="23721"/>
          <a:stretch/>
        </p:blipFill>
        <p:spPr>
          <a:xfrm>
            <a:off x="7484165" y="3289852"/>
            <a:ext cx="4115213" cy="1962150"/>
          </a:xfrm>
          <a:prstGeom prst="rect">
            <a:avLst/>
          </a:prstGeom>
        </p:spPr>
      </p:pic>
    </p:spTree>
    <p:extLst>
      <p:ext uri="{BB962C8B-B14F-4D97-AF65-F5344CB8AC3E}">
        <p14:creationId xmlns:p14="http://schemas.microsoft.com/office/powerpoint/2010/main" val="20591860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4. Transport Layer</a:t>
            </a:r>
          </a:p>
        </p:txBody>
      </p:sp>
      <p:sp>
        <p:nvSpPr>
          <p:cNvPr id="3" name="Content Placeholder 2"/>
          <p:cNvSpPr>
            <a:spLocks noGrp="1"/>
          </p:cNvSpPr>
          <p:nvPr>
            <p:ph idx="1"/>
          </p:nvPr>
        </p:nvSpPr>
        <p:spPr/>
        <p:txBody>
          <a:bodyPr>
            <a:normAutofit/>
          </a:bodyPr>
          <a:lstStyle/>
          <a:p>
            <a:pPr algn="just"/>
            <a:r>
              <a:rPr lang="en-US" dirty="0"/>
              <a:t>This layer ensures end to end delivery of information</a:t>
            </a:r>
          </a:p>
          <a:p>
            <a:pPr lvl="1" algn="just"/>
            <a:r>
              <a:rPr lang="en-US" sz="1800" dirty="0"/>
              <a:t>Ensures reliability by segmentation of information</a:t>
            </a:r>
          </a:p>
          <a:p>
            <a:pPr lvl="1" algn="just"/>
            <a:r>
              <a:rPr lang="en-US" sz="1800" dirty="0"/>
              <a:t>Error control- group of bits called checksum is added to every segment</a:t>
            </a:r>
          </a:p>
          <a:p>
            <a:pPr lvl="1" algn="just"/>
            <a:r>
              <a:rPr lang="en-US" sz="1800" dirty="0"/>
              <a:t>Flow control or Congestion control</a:t>
            </a:r>
          </a:p>
          <a:p>
            <a:pPr lvl="1" algn="just"/>
            <a:r>
              <a:rPr lang="en-US" sz="1800" dirty="0"/>
              <a:t>Multiplexing</a:t>
            </a:r>
          </a:p>
        </p:txBody>
      </p:sp>
      <p:sp>
        <p:nvSpPr>
          <p:cNvPr id="4" name="Slide Number Placeholder 3">
            <a:extLst>
              <a:ext uri="{FF2B5EF4-FFF2-40B4-BE49-F238E27FC236}">
                <a16:creationId xmlns:a16="http://schemas.microsoft.com/office/drawing/2014/main" id="{89EAA1CD-52C9-3325-5C48-ED18EE4AF4D7}"/>
              </a:ext>
            </a:extLst>
          </p:cNvPr>
          <p:cNvSpPr>
            <a:spLocks noGrp="1"/>
          </p:cNvSpPr>
          <p:nvPr>
            <p:ph type="sldNum" sz="quarter" idx="12"/>
          </p:nvPr>
        </p:nvSpPr>
        <p:spPr/>
        <p:txBody>
          <a:bodyPr/>
          <a:lstStyle/>
          <a:p>
            <a:fld id="{F317719D-4397-416A-8DF5-E7F1C2D18F40}" type="slidenum">
              <a:rPr lang="en-US" smtClean="0"/>
              <a:t>64</a:t>
            </a:fld>
            <a:endParaRPr lang="en-US"/>
          </a:p>
        </p:txBody>
      </p:sp>
    </p:spTree>
    <p:extLst>
      <p:ext uri="{BB962C8B-B14F-4D97-AF65-F5344CB8AC3E}">
        <p14:creationId xmlns:p14="http://schemas.microsoft.com/office/powerpoint/2010/main" val="19152422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5. Session Layer</a:t>
            </a:r>
          </a:p>
        </p:txBody>
      </p:sp>
      <p:sp>
        <p:nvSpPr>
          <p:cNvPr id="3" name="Content Placeholder 2"/>
          <p:cNvSpPr>
            <a:spLocks noGrp="1"/>
          </p:cNvSpPr>
          <p:nvPr>
            <p:ph idx="1"/>
          </p:nvPr>
        </p:nvSpPr>
        <p:spPr>
          <a:xfrm>
            <a:off x="1154954" y="2603500"/>
            <a:ext cx="10563281" cy="3416300"/>
          </a:xfrm>
        </p:spPr>
        <p:txBody>
          <a:bodyPr>
            <a:normAutofit/>
          </a:bodyPr>
          <a:lstStyle/>
          <a:p>
            <a:pPr marL="0" indent="0" algn="just">
              <a:buNone/>
            </a:pPr>
            <a:endParaRPr lang="en-US" sz="2000" b="1" dirty="0"/>
          </a:p>
          <a:p>
            <a:pPr algn="just"/>
            <a:r>
              <a:rPr lang="en-US" sz="2000" dirty="0"/>
              <a:t>This layer establishes, manages, and terminates sessions between devices. </a:t>
            </a:r>
          </a:p>
          <a:p>
            <a:pPr lvl="1" algn="just"/>
            <a:r>
              <a:rPr lang="en-US" sz="2000" dirty="0"/>
              <a:t>Authentication</a:t>
            </a:r>
          </a:p>
          <a:p>
            <a:pPr lvl="1" algn="just"/>
            <a:r>
              <a:rPr lang="en-US" sz="2000" dirty="0"/>
              <a:t>Authorization</a:t>
            </a:r>
          </a:p>
          <a:p>
            <a:pPr algn="just"/>
            <a:r>
              <a:rPr lang="en-US" sz="2000" dirty="0"/>
              <a:t>Dialog control- keeping track of whose turn it is to transmit(half duplex or full duplex)</a:t>
            </a:r>
          </a:p>
          <a:p>
            <a:pPr algn="just"/>
            <a:r>
              <a:rPr lang="en-US" sz="2000" dirty="0"/>
              <a:t>Maintain checkpoints and recovery</a:t>
            </a:r>
          </a:p>
          <a:p>
            <a:pPr algn="just"/>
            <a:r>
              <a:rPr lang="en-US" sz="2000" dirty="0"/>
              <a:t>Synchronization </a:t>
            </a:r>
          </a:p>
          <a:p>
            <a:pPr algn="just"/>
            <a:endParaRPr lang="en-US" sz="2000" dirty="0"/>
          </a:p>
        </p:txBody>
      </p:sp>
      <p:sp>
        <p:nvSpPr>
          <p:cNvPr id="4" name="Slide Number Placeholder 3">
            <a:extLst>
              <a:ext uri="{FF2B5EF4-FFF2-40B4-BE49-F238E27FC236}">
                <a16:creationId xmlns:a16="http://schemas.microsoft.com/office/drawing/2014/main" id="{9B2D71E7-78AB-E001-F75A-AD41940AE2C2}"/>
              </a:ext>
            </a:extLst>
          </p:cNvPr>
          <p:cNvSpPr>
            <a:spLocks noGrp="1"/>
          </p:cNvSpPr>
          <p:nvPr>
            <p:ph type="sldNum" sz="quarter" idx="12"/>
          </p:nvPr>
        </p:nvSpPr>
        <p:spPr/>
        <p:txBody>
          <a:bodyPr/>
          <a:lstStyle/>
          <a:p>
            <a:fld id="{F317719D-4397-416A-8DF5-E7F1C2D18F40}" type="slidenum">
              <a:rPr lang="en-US" smtClean="0"/>
              <a:t>65</a:t>
            </a:fld>
            <a:endParaRPr lang="en-US"/>
          </a:p>
        </p:txBody>
      </p:sp>
    </p:spTree>
    <p:extLst>
      <p:ext uri="{BB962C8B-B14F-4D97-AF65-F5344CB8AC3E}">
        <p14:creationId xmlns:p14="http://schemas.microsoft.com/office/powerpoint/2010/main" val="28462496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8645390-012C-625B-CF2F-9A8F22EC5F51}"/>
              </a:ext>
            </a:extLst>
          </p:cNvPr>
          <p:cNvSpPr>
            <a:spLocks noGrp="1"/>
          </p:cNvSpPr>
          <p:nvPr>
            <p:ph type="title"/>
          </p:nvPr>
        </p:nvSpPr>
        <p:spPr/>
        <p:txBody>
          <a:bodyPr/>
          <a:lstStyle/>
          <a:p>
            <a:r>
              <a:rPr lang="en-US" b="1" dirty="0"/>
              <a:t>6. Presentation Layer</a:t>
            </a:r>
          </a:p>
        </p:txBody>
      </p:sp>
      <p:sp>
        <p:nvSpPr>
          <p:cNvPr id="3" name="Content Placeholder 2"/>
          <p:cNvSpPr>
            <a:spLocks noGrp="1"/>
          </p:cNvSpPr>
          <p:nvPr>
            <p:ph idx="1"/>
          </p:nvPr>
        </p:nvSpPr>
        <p:spPr>
          <a:xfrm>
            <a:off x="817024" y="2230297"/>
            <a:ext cx="8825659" cy="3416300"/>
          </a:xfrm>
        </p:spPr>
        <p:txBody>
          <a:bodyPr>
            <a:normAutofit/>
          </a:bodyPr>
          <a:lstStyle/>
          <a:p>
            <a:pPr marL="0" indent="0" algn="just">
              <a:buNone/>
            </a:pPr>
            <a:r>
              <a:rPr lang="en-US" sz="2000" dirty="0"/>
              <a:t>This layer is responsible for </a:t>
            </a:r>
          </a:p>
          <a:p>
            <a:pPr lvl="1" algn="just"/>
            <a:r>
              <a:rPr lang="en-US" sz="2000" dirty="0"/>
              <a:t>Data encryption, Data compression, and data conversion between different data formats. ASCII to EBCDIC.</a:t>
            </a:r>
          </a:p>
          <a:p>
            <a:pPr lvl="1" algn="just"/>
            <a:r>
              <a:rPr lang="en-US" sz="2000" dirty="0"/>
              <a:t>Concerned with syntax and semantics of the information transmitted.</a:t>
            </a:r>
          </a:p>
          <a:p>
            <a:pPr marL="457200" lvl="1" indent="0" algn="just">
              <a:buNone/>
            </a:pPr>
            <a:endParaRPr lang="en-US" dirty="0"/>
          </a:p>
        </p:txBody>
      </p:sp>
      <p:sp>
        <p:nvSpPr>
          <p:cNvPr id="4" name="Slide Number Placeholder 3">
            <a:extLst>
              <a:ext uri="{FF2B5EF4-FFF2-40B4-BE49-F238E27FC236}">
                <a16:creationId xmlns:a16="http://schemas.microsoft.com/office/drawing/2014/main" id="{9B2D71E7-78AB-E001-F75A-AD41940AE2C2}"/>
              </a:ext>
            </a:extLst>
          </p:cNvPr>
          <p:cNvSpPr>
            <a:spLocks noGrp="1"/>
          </p:cNvSpPr>
          <p:nvPr>
            <p:ph type="sldNum" sz="quarter" idx="12"/>
          </p:nvPr>
        </p:nvSpPr>
        <p:spPr/>
        <p:txBody>
          <a:bodyPr/>
          <a:lstStyle/>
          <a:p>
            <a:fld id="{F317719D-4397-416A-8DF5-E7F1C2D18F40}" type="slidenum">
              <a:rPr lang="en-US" smtClean="0"/>
              <a:t>66</a:t>
            </a:fld>
            <a:endParaRPr lang="en-US"/>
          </a:p>
        </p:txBody>
      </p:sp>
      <p:pic>
        <p:nvPicPr>
          <p:cNvPr id="7" name="Picture 6">
            <a:extLst>
              <a:ext uri="{FF2B5EF4-FFF2-40B4-BE49-F238E27FC236}">
                <a16:creationId xmlns:a16="http://schemas.microsoft.com/office/drawing/2014/main" id="{3B62B84E-3DAB-BA60-778E-32496B8AB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9233" y="4311650"/>
            <a:ext cx="4174861" cy="2347157"/>
          </a:xfrm>
          <a:prstGeom prst="rect">
            <a:avLst/>
          </a:prstGeom>
        </p:spPr>
      </p:pic>
      <p:pic>
        <p:nvPicPr>
          <p:cNvPr id="9" name="Picture 8">
            <a:extLst>
              <a:ext uri="{FF2B5EF4-FFF2-40B4-BE49-F238E27FC236}">
                <a16:creationId xmlns:a16="http://schemas.microsoft.com/office/drawing/2014/main" id="{E9AA94C1-06E4-101B-6305-4D3FE3575F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907" y="4311650"/>
            <a:ext cx="3861415" cy="2428385"/>
          </a:xfrm>
          <a:prstGeom prst="rect">
            <a:avLst/>
          </a:prstGeom>
        </p:spPr>
      </p:pic>
    </p:spTree>
    <p:extLst>
      <p:ext uri="{BB962C8B-B14F-4D97-AF65-F5344CB8AC3E}">
        <p14:creationId xmlns:p14="http://schemas.microsoft.com/office/powerpoint/2010/main" val="40536031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37E5-69B1-0A69-D0AD-44FA8F0CB5A0}"/>
              </a:ext>
            </a:extLst>
          </p:cNvPr>
          <p:cNvSpPr>
            <a:spLocks noGrp="1"/>
          </p:cNvSpPr>
          <p:nvPr>
            <p:ph type="title"/>
          </p:nvPr>
        </p:nvSpPr>
        <p:spPr/>
        <p:txBody>
          <a:bodyPr/>
          <a:lstStyle/>
          <a:p>
            <a:r>
              <a:rPr lang="en-US" b="1" dirty="0"/>
              <a:t>7. Application Layer</a:t>
            </a:r>
          </a:p>
        </p:txBody>
      </p:sp>
      <p:sp>
        <p:nvSpPr>
          <p:cNvPr id="3" name="Content Placeholder 2"/>
          <p:cNvSpPr>
            <a:spLocks noGrp="1"/>
          </p:cNvSpPr>
          <p:nvPr>
            <p:ph idx="1"/>
          </p:nvPr>
        </p:nvSpPr>
        <p:spPr>
          <a:xfrm>
            <a:off x="1154954" y="2603500"/>
            <a:ext cx="10463889" cy="3416300"/>
          </a:xfrm>
        </p:spPr>
        <p:txBody>
          <a:bodyPr>
            <a:normAutofit/>
          </a:bodyPr>
          <a:lstStyle/>
          <a:p>
            <a:pPr algn="just"/>
            <a:r>
              <a:rPr lang="en-US" sz="2000" dirty="0"/>
              <a:t>This layer provides services to applications and end-users. </a:t>
            </a:r>
          </a:p>
          <a:p>
            <a:pPr algn="just"/>
            <a:r>
              <a:rPr lang="en-US" sz="2000" dirty="0"/>
              <a:t>It contains variety of protocols that are needed for these application</a:t>
            </a:r>
            <a:br>
              <a:rPr lang="en-US" sz="2000" dirty="0"/>
            </a:br>
            <a:r>
              <a:rPr lang="en-US" sz="2000" dirty="0"/>
              <a:t>				</a:t>
            </a:r>
          </a:p>
        </p:txBody>
      </p:sp>
      <p:sp>
        <p:nvSpPr>
          <p:cNvPr id="4" name="Slide Number Placeholder 3">
            <a:extLst>
              <a:ext uri="{FF2B5EF4-FFF2-40B4-BE49-F238E27FC236}">
                <a16:creationId xmlns:a16="http://schemas.microsoft.com/office/drawing/2014/main" id="{9B2D71E7-78AB-E001-F75A-AD41940AE2C2}"/>
              </a:ext>
            </a:extLst>
          </p:cNvPr>
          <p:cNvSpPr>
            <a:spLocks noGrp="1"/>
          </p:cNvSpPr>
          <p:nvPr>
            <p:ph type="sldNum" sz="quarter" idx="12"/>
          </p:nvPr>
        </p:nvSpPr>
        <p:spPr/>
        <p:txBody>
          <a:bodyPr/>
          <a:lstStyle/>
          <a:p>
            <a:fld id="{F317719D-4397-416A-8DF5-E7F1C2D18F40}" type="slidenum">
              <a:rPr lang="en-US" smtClean="0"/>
              <a:t>67</a:t>
            </a:fld>
            <a:endParaRPr lang="en-US"/>
          </a:p>
        </p:txBody>
      </p:sp>
      <p:pic>
        <p:nvPicPr>
          <p:cNvPr id="6" name="Picture 5">
            <a:extLst>
              <a:ext uri="{FF2B5EF4-FFF2-40B4-BE49-F238E27FC236}">
                <a16:creationId xmlns:a16="http://schemas.microsoft.com/office/drawing/2014/main" id="{951232C4-F995-3E43-D99A-8F457B32A1A2}"/>
              </a:ext>
            </a:extLst>
          </p:cNvPr>
          <p:cNvPicPr>
            <a:picLocks noChangeAspect="1"/>
          </p:cNvPicPr>
          <p:nvPr/>
        </p:nvPicPr>
        <p:blipFill rotWithShape="1">
          <a:blip r:embed="rId2">
            <a:extLst>
              <a:ext uri="{28A0092B-C50C-407E-A947-70E740481C1C}">
                <a14:useLocalDpi xmlns:a14="http://schemas.microsoft.com/office/drawing/2010/main" val="0"/>
              </a:ext>
            </a:extLst>
          </a:blip>
          <a:srcRect b="36061"/>
          <a:stretch/>
        </p:blipFill>
        <p:spPr>
          <a:xfrm>
            <a:off x="2098698" y="3620307"/>
            <a:ext cx="6130902" cy="2830187"/>
          </a:xfrm>
          <a:prstGeom prst="rect">
            <a:avLst/>
          </a:prstGeom>
        </p:spPr>
      </p:pic>
    </p:spTree>
    <p:extLst>
      <p:ext uri="{BB962C8B-B14F-4D97-AF65-F5344CB8AC3E}">
        <p14:creationId xmlns:p14="http://schemas.microsoft.com/office/powerpoint/2010/main" val="38915866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37E5-69B1-0A69-D0AD-44FA8F0CB5A0}"/>
              </a:ext>
            </a:extLst>
          </p:cNvPr>
          <p:cNvSpPr>
            <a:spLocks noGrp="1"/>
          </p:cNvSpPr>
          <p:nvPr>
            <p:ph type="title"/>
          </p:nvPr>
        </p:nvSpPr>
        <p:spPr/>
        <p:txBody>
          <a:bodyPr/>
          <a:lstStyle/>
          <a:p>
            <a:r>
              <a:rPr lang="en-US" b="1" dirty="0"/>
              <a:t>TCP/IP Model</a:t>
            </a:r>
          </a:p>
        </p:txBody>
      </p:sp>
      <p:sp>
        <p:nvSpPr>
          <p:cNvPr id="3" name="Content Placeholder 2"/>
          <p:cNvSpPr>
            <a:spLocks noGrp="1"/>
          </p:cNvSpPr>
          <p:nvPr>
            <p:ph idx="1"/>
          </p:nvPr>
        </p:nvSpPr>
        <p:spPr>
          <a:xfrm>
            <a:off x="1154954" y="2603500"/>
            <a:ext cx="10463889" cy="3416300"/>
          </a:xfrm>
        </p:spPr>
        <p:txBody>
          <a:bodyPr>
            <a:normAutofit/>
          </a:bodyPr>
          <a:lstStyle/>
          <a:p>
            <a:r>
              <a:rPr lang="en-US" sz="2000" dirty="0"/>
              <a:t>This practical implementation model of computer network.		</a:t>
            </a:r>
          </a:p>
          <a:p>
            <a:pPr algn="l"/>
            <a:r>
              <a:rPr lang="en-US" sz="2000" b="0" i="0" dirty="0">
                <a:solidFill>
                  <a:schemeClr val="tx1"/>
                </a:solidFill>
                <a:effectLst/>
                <a:latin typeface="+mj-lt"/>
              </a:rPr>
              <a:t>The two main protocols in the IP suite serve specific functions. TCP defines how applications can create channels of communication across a network. It also manages how a message is assembled into smaller packets before they are then transmitted over the internet and reassembled in the right order at the destination address.</a:t>
            </a:r>
          </a:p>
          <a:p>
            <a:pPr algn="l"/>
            <a:r>
              <a:rPr lang="en-US" sz="2000" b="0" i="0" dirty="0">
                <a:solidFill>
                  <a:schemeClr val="tx1"/>
                </a:solidFill>
                <a:effectLst/>
                <a:latin typeface="+mj-lt"/>
              </a:rPr>
              <a:t>IP defines how to address and route each packet to make sure it reaches the right destination. Each gateway computer on the network </a:t>
            </a:r>
            <a:r>
              <a:rPr lang="en-US" sz="2000" b="0" i="0" u="sng" dirty="0">
                <a:solidFill>
                  <a:schemeClr val="tx1"/>
                </a:solidFill>
                <a:effectLst/>
                <a:latin typeface="+mj-lt"/>
                <a:hlinkClick r:id="rId2">
                  <a:extLst>
                    <a:ext uri="{A12FA001-AC4F-418D-AE19-62706E023703}">
                      <ahyp:hlinkClr xmlns:ahyp="http://schemas.microsoft.com/office/drawing/2018/hyperlinkcolor" val="tx"/>
                    </a:ext>
                  </a:extLst>
                </a:hlinkClick>
              </a:rPr>
              <a:t>checks this IP address</a:t>
            </a:r>
            <a:r>
              <a:rPr lang="en-US" sz="2000" b="0" i="0" dirty="0">
                <a:solidFill>
                  <a:schemeClr val="tx1"/>
                </a:solidFill>
                <a:effectLst/>
                <a:latin typeface="+mj-lt"/>
              </a:rPr>
              <a:t> to determine where to forward the message.</a:t>
            </a:r>
          </a:p>
          <a:p>
            <a:endParaRPr lang="en-US" sz="2000" dirty="0"/>
          </a:p>
        </p:txBody>
      </p:sp>
      <p:sp>
        <p:nvSpPr>
          <p:cNvPr id="4" name="Slide Number Placeholder 3">
            <a:extLst>
              <a:ext uri="{FF2B5EF4-FFF2-40B4-BE49-F238E27FC236}">
                <a16:creationId xmlns:a16="http://schemas.microsoft.com/office/drawing/2014/main" id="{9B2D71E7-78AB-E001-F75A-AD41940AE2C2}"/>
              </a:ext>
            </a:extLst>
          </p:cNvPr>
          <p:cNvSpPr>
            <a:spLocks noGrp="1"/>
          </p:cNvSpPr>
          <p:nvPr>
            <p:ph type="sldNum" sz="quarter" idx="12"/>
          </p:nvPr>
        </p:nvSpPr>
        <p:spPr/>
        <p:txBody>
          <a:bodyPr/>
          <a:lstStyle/>
          <a:p>
            <a:fld id="{F317719D-4397-416A-8DF5-E7F1C2D18F40}" type="slidenum">
              <a:rPr lang="en-US" smtClean="0"/>
              <a:t>68</a:t>
            </a:fld>
            <a:endParaRPr lang="en-US"/>
          </a:p>
        </p:txBody>
      </p:sp>
    </p:spTree>
    <p:extLst>
      <p:ext uri="{BB962C8B-B14F-4D97-AF65-F5344CB8AC3E}">
        <p14:creationId xmlns:p14="http://schemas.microsoft.com/office/powerpoint/2010/main" val="31834836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37E5-69B1-0A69-D0AD-44FA8F0CB5A0}"/>
              </a:ext>
            </a:extLst>
          </p:cNvPr>
          <p:cNvSpPr>
            <a:spLocks noGrp="1"/>
          </p:cNvSpPr>
          <p:nvPr>
            <p:ph type="title"/>
          </p:nvPr>
        </p:nvSpPr>
        <p:spPr/>
        <p:txBody>
          <a:bodyPr/>
          <a:lstStyle/>
          <a:p>
            <a:r>
              <a:rPr lang="en-US" b="1" dirty="0"/>
              <a:t>TCP/IP Model</a:t>
            </a:r>
          </a:p>
        </p:txBody>
      </p:sp>
      <p:sp>
        <p:nvSpPr>
          <p:cNvPr id="4" name="Slide Number Placeholder 3">
            <a:extLst>
              <a:ext uri="{FF2B5EF4-FFF2-40B4-BE49-F238E27FC236}">
                <a16:creationId xmlns:a16="http://schemas.microsoft.com/office/drawing/2014/main" id="{9B2D71E7-78AB-E001-F75A-AD41940AE2C2}"/>
              </a:ext>
            </a:extLst>
          </p:cNvPr>
          <p:cNvSpPr>
            <a:spLocks noGrp="1"/>
          </p:cNvSpPr>
          <p:nvPr>
            <p:ph type="sldNum" sz="quarter" idx="12"/>
          </p:nvPr>
        </p:nvSpPr>
        <p:spPr/>
        <p:txBody>
          <a:bodyPr/>
          <a:lstStyle/>
          <a:p>
            <a:fld id="{F317719D-4397-416A-8DF5-E7F1C2D18F40}" type="slidenum">
              <a:rPr lang="en-US" smtClean="0"/>
              <a:t>69</a:t>
            </a:fld>
            <a:endParaRPr lang="en-US"/>
          </a:p>
        </p:txBody>
      </p:sp>
      <p:pic>
        <p:nvPicPr>
          <p:cNvPr id="10" name="Content Placeholder 9">
            <a:extLst>
              <a:ext uri="{FF2B5EF4-FFF2-40B4-BE49-F238E27FC236}">
                <a16:creationId xmlns:a16="http://schemas.microsoft.com/office/drawing/2014/main" id="{FD137C40-0B58-4E55-7A80-EC51375B524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75601" y="2372273"/>
            <a:ext cx="4840798" cy="3907216"/>
          </a:xfrm>
        </p:spPr>
      </p:pic>
    </p:spTree>
    <p:extLst>
      <p:ext uri="{BB962C8B-B14F-4D97-AF65-F5344CB8AC3E}">
        <p14:creationId xmlns:p14="http://schemas.microsoft.com/office/powerpoint/2010/main" val="6714791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Communication Protocols</a:t>
            </a:r>
          </a:p>
        </p:txBody>
      </p:sp>
      <p:sp>
        <p:nvSpPr>
          <p:cNvPr id="3" name="Content Placeholder 2"/>
          <p:cNvSpPr>
            <a:spLocks noGrp="1"/>
          </p:cNvSpPr>
          <p:nvPr>
            <p:ph idx="1"/>
          </p:nvPr>
        </p:nvSpPr>
        <p:spPr/>
        <p:txBody>
          <a:bodyPr/>
          <a:lstStyle/>
          <a:p>
            <a:pPr algn="just"/>
            <a:r>
              <a:rPr lang="en-US" dirty="0"/>
              <a:t>Communication protocols are a set of rules and standards that govern the exchange of data and information between devices, systems, or networks. They are used to ensure that devices or systems can communicate with each other efficiently, accurately, and securely. In general, communication protocols define the format, timing, sequencing, and error-checking of messages exchanged between communicating entities.</a:t>
            </a:r>
          </a:p>
        </p:txBody>
      </p:sp>
      <p:sp>
        <p:nvSpPr>
          <p:cNvPr id="4" name="Slide Number Placeholder 3">
            <a:extLst>
              <a:ext uri="{FF2B5EF4-FFF2-40B4-BE49-F238E27FC236}">
                <a16:creationId xmlns:a16="http://schemas.microsoft.com/office/drawing/2014/main" id="{5D3EC7F8-A66F-551B-4EB9-0349DA98C662}"/>
              </a:ext>
            </a:extLst>
          </p:cNvPr>
          <p:cNvSpPr>
            <a:spLocks noGrp="1"/>
          </p:cNvSpPr>
          <p:nvPr>
            <p:ph type="sldNum" sz="quarter" idx="12"/>
          </p:nvPr>
        </p:nvSpPr>
        <p:spPr/>
        <p:txBody>
          <a:bodyPr/>
          <a:lstStyle/>
          <a:p>
            <a:fld id="{F317719D-4397-416A-8DF5-E7F1C2D18F40}" type="slidenum">
              <a:rPr lang="en-US" smtClean="0"/>
              <a:t>70</a:t>
            </a:fld>
            <a:endParaRPr lang="en-US"/>
          </a:p>
        </p:txBody>
      </p:sp>
    </p:spTree>
    <p:extLst>
      <p:ext uri="{BB962C8B-B14F-4D97-AF65-F5344CB8AC3E}">
        <p14:creationId xmlns:p14="http://schemas.microsoft.com/office/powerpoint/2010/main" val="22099413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Some common types of communication protocols include:</a:t>
            </a:r>
          </a:p>
        </p:txBody>
      </p:sp>
      <p:sp>
        <p:nvSpPr>
          <p:cNvPr id="3" name="Content Placeholder 2"/>
          <p:cNvSpPr>
            <a:spLocks noGrp="1"/>
          </p:cNvSpPr>
          <p:nvPr>
            <p:ph idx="1"/>
          </p:nvPr>
        </p:nvSpPr>
        <p:spPr/>
        <p:txBody>
          <a:bodyPr>
            <a:normAutofit/>
          </a:bodyPr>
          <a:lstStyle/>
          <a:p>
            <a:pPr algn="just"/>
            <a:r>
              <a:rPr lang="en-US" b="1" dirty="0"/>
              <a:t>Transmission Control Protocol/Internet Protocol (TCP/IP):</a:t>
            </a:r>
            <a:r>
              <a:rPr lang="en-US" dirty="0"/>
              <a:t> This is a widely used protocol for communication over the internet and is the basis of the internet's infrastructure. It provides reliable, connection-oriented communication between devices on different networks.</a:t>
            </a:r>
          </a:p>
          <a:p>
            <a:pPr algn="just"/>
            <a:r>
              <a:rPr lang="en-US" b="1" dirty="0"/>
              <a:t>Hypertext Transfer Protocol (HTTP): </a:t>
            </a:r>
            <a:r>
              <a:rPr lang="en-US" dirty="0"/>
              <a:t>This is a protocol used for communication between web servers and web clients. It defines how data is exchanged between web servers and clients and is used to transfer web pages and other web content.</a:t>
            </a:r>
          </a:p>
          <a:p>
            <a:pPr algn="just"/>
            <a:r>
              <a:rPr lang="en-US" b="1" dirty="0"/>
              <a:t>Simple Mail Transfer Protocol (SMTP): </a:t>
            </a:r>
            <a:r>
              <a:rPr lang="en-US" dirty="0"/>
              <a:t>This is a protocol used for sending and receiving email messages over the internet. It defines the format and transmission of email messages between email servers.</a:t>
            </a:r>
          </a:p>
        </p:txBody>
      </p:sp>
      <p:sp>
        <p:nvSpPr>
          <p:cNvPr id="4" name="Slide Number Placeholder 3">
            <a:extLst>
              <a:ext uri="{FF2B5EF4-FFF2-40B4-BE49-F238E27FC236}">
                <a16:creationId xmlns:a16="http://schemas.microsoft.com/office/drawing/2014/main" id="{CA030ECE-B36E-8BB3-6CBA-FE6D476500A3}"/>
              </a:ext>
            </a:extLst>
          </p:cNvPr>
          <p:cNvSpPr>
            <a:spLocks noGrp="1"/>
          </p:cNvSpPr>
          <p:nvPr>
            <p:ph type="sldNum" sz="quarter" idx="12"/>
          </p:nvPr>
        </p:nvSpPr>
        <p:spPr/>
        <p:txBody>
          <a:bodyPr/>
          <a:lstStyle/>
          <a:p>
            <a:fld id="{F317719D-4397-416A-8DF5-E7F1C2D18F40}" type="slidenum">
              <a:rPr lang="en-US" smtClean="0"/>
              <a:t>71</a:t>
            </a:fld>
            <a:endParaRPr lang="en-US"/>
          </a:p>
        </p:txBody>
      </p:sp>
    </p:spTree>
    <p:extLst>
      <p:ext uri="{BB962C8B-B14F-4D97-AF65-F5344CB8AC3E}">
        <p14:creationId xmlns:p14="http://schemas.microsoft.com/office/powerpoint/2010/main" val="18610482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Some common types of communication protocols include:</a:t>
            </a:r>
          </a:p>
        </p:txBody>
      </p:sp>
      <p:sp>
        <p:nvSpPr>
          <p:cNvPr id="3" name="Content Placeholder 2"/>
          <p:cNvSpPr>
            <a:spLocks noGrp="1"/>
          </p:cNvSpPr>
          <p:nvPr>
            <p:ph idx="1"/>
          </p:nvPr>
        </p:nvSpPr>
        <p:spPr/>
        <p:txBody>
          <a:bodyPr>
            <a:normAutofit/>
          </a:bodyPr>
          <a:lstStyle/>
          <a:p>
            <a:pPr algn="just"/>
            <a:r>
              <a:rPr lang="en-US" b="1" dirty="0"/>
              <a:t>File Transfer Protocol (FTP): </a:t>
            </a:r>
            <a:r>
              <a:rPr lang="en-US" dirty="0"/>
              <a:t>This is a protocol used for transferring files between computers on a network. It allows users to upload and download files from a remote server.</a:t>
            </a:r>
          </a:p>
          <a:p>
            <a:pPr algn="just"/>
            <a:r>
              <a:rPr lang="en-US" b="1" dirty="0"/>
              <a:t>User Datagram Protocol (UDP): </a:t>
            </a:r>
            <a:r>
              <a:rPr lang="en-US" dirty="0"/>
              <a:t>This is a simple, connectionless protocol that does not provide the reliability of TCP/IP. It is used for streaming media, gaming, and other applications that require real-time data transfer.</a:t>
            </a:r>
          </a:p>
          <a:p>
            <a:pPr algn="just"/>
            <a:r>
              <a:rPr lang="en-US" b="1" dirty="0"/>
              <a:t>Wireless Application Protocol (WAP): </a:t>
            </a:r>
            <a:r>
              <a:rPr lang="en-US" dirty="0"/>
              <a:t>This is a protocol used for accessing the internet on mobile devices. It defines how data is transferred between mobile devices and the internet.</a:t>
            </a:r>
          </a:p>
        </p:txBody>
      </p:sp>
      <p:sp>
        <p:nvSpPr>
          <p:cNvPr id="4" name="Slide Number Placeholder 3">
            <a:extLst>
              <a:ext uri="{FF2B5EF4-FFF2-40B4-BE49-F238E27FC236}">
                <a16:creationId xmlns:a16="http://schemas.microsoft.com/office/drawing/2014/main" id="{CB661A9A-60BF-630A-1787-3EFF15C4DFB4}"/>
              </a:ext>
            </a:extLst>
          </p:cNvPr>
          <p:cNvSpPr>
            <a:spLocks noGrp="1"/>
          </p:cNvSpPr>
          <p:nvPr>
            <p:ph type="sldNum" sz="quarter" idx="12"/>
          </p:nvPr>
        </p:nvSpPr>
        <p:spPr/>
        <p:txBody>
          <a:bodyPr/>
          <a:lstStyle/>
          <a:p>
            <a:fld id="{F317719D-4397-416A-8DF5-E7F1C2D18F40}" type="slidenum">
              <a:rPr lang="en-US" smtClean="0"/>
              <a:t>72</a:t>
            </a:fld>
            <a:endParaRPr lang="en-US"/>
          </a:p>
        </p:txBody>
      </p:sp>
    </p:spTree>
    <p:extLst>
      <p:ext uri="{BB962C8B-B14F-4D97-AF65-F5344CB8AC3E}">
        <p14:creationId xmlns:p14="http://schemas.microsoft.com/office/powerpoint/2010/main" val="22391253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Centralized vs Distributed network</a:t>
            </a:r>
          </a:p>
        </p:txBody>
      </p:sp>
      <p:sp>
        <p:nvSpPr>
          <p:cNvPr id="3" name="Content Placeholder 2"/>
          <p:cNvSpPr>
            <a:spLocks noGrp="1"/>
          </p:cNvSpPr>
          <p:nvPr>
            <p:ph idx="1"/>
          </p:nvPr>
        </p:nvSpPr>
        <p:spPr/>
        <p:txBody>
          <a:bodyPr>
            <a:normAutofit/>
          </a:bodyPr>
          <a:lstStyle/>
          <a:p>
            <a:pPr algn="just"/>
            <a:r>
              <a:rPr lang="en-US" dirty="0"/>
              <a:t>In computer networking, a centralized network and a decentralized network are two different ways of organizing and managing network resources, such as data, applications, and computing power.</a:t>
            </a:r>
          </a:p>
          <a:p>
            <a:pPr algn="just"/>
            <a:r>
              <a:rPr lang="en-US" dirty="0"/>
              <a:t>A centralized network, also known as a client-server network, has a centralized server that is responsible for managing and controlling network resources. In this type of network, clients or end-users access the network resources through a central server. The server controls access to the network resources and manages the sharing of data and applications. Examples of centralized networks include email servers, file servers, and web servers.</a:t>
            </a:r>
          </a:p>
          <a:p>
            <a:pPr algn="just"/>
            <a:endParaRPr lang="en-US" dirty="0"/>
          </a:p>
        </p:txBody>
      </p:sp>
      <p:sp>
        <p:nvSpPr>
          <p:cNvPr id="4" name="Slide Number Placeholder 3">
            <a:extLst>
              <a:ext uri="{FF2B5EF4-FFF2-40B4-BE49-F238E27FC236}">
                <a16:creationId xmlns:a16="http://schemas.microsoft.com/office/drawing/2014/main" id="{CBC8363A-AAFD-BF71-A394-EFF42980CA1F}"/>
              </a:ext>
            </a:extLst>
          </p:cNvPr>
          <p:cNvSpPr>
            <a:spLocks noGrp="1"/>
          </p:cNvSpPr>
          <p:nvPr>
            <p:ph type="sldNum" sz="quarter" idx="12"/>
          </p:nvPr>
        </p:nvSpPr>
        <p:spPr/>
        <p:txBody>
          <a:bodyPr/>
          <a:lstStyle/>
          <a:p>
            <a:fld id="{F317719D-4397-416A-8DF5-E7F1C2D18F40}" type="slidenum">
              <a:rPr lang="en-US" smtClean="0"/>
              <a:t>73</a:t>
            </a:fld>
            <a:endParaRPr lang="en-US"/>
          </a:p>
        </p:txBody>
      </p:sp>
    </p:spTree>
    <p:extLst>
      <p:ext uri="{BB962C8B-B14F-4D97-AF65-F5344CB8AC3E}">
        <p14:creationId xmlns:p14="http://schemas.microsoft.com/office/powerpoint/2010/main" val="24717380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Centralized vs Distributed network</a:t>
            </a:r>
          </a:p>
        </p:txBody>
      </p:sp>
      <p:sp>
        <p:nvSpPr>
          <p:cNvPr id="3" name="Content Placeholder 2"/>
          <p:cNvSpPr>
            <a:spLocks noGrp="1"/>
          </p:cNvSpPr>
          <p:nvPr>
            <p:ph idx="1"/>
          </p:nvPr>
        </p:nvSpPr>
        <p:spPr/>
        <p:txBody>
          <a:bodyPr>
            <a:normAutofit fontScale="92500" lnSpcReduction="10000"/>
          </a:bodyPr>
          <a:lstStyle/>
          <a:p>
            <a:pPr algn="just"/>
            <a:r>
              <a:rPr lang="en-US" dirty="0"/>
              <a:t>On the other hand, a decentralized network, also known as a peer-to-peer (P2P) network, distributes the control and management of network resources across all the connected devices or nodes. In a decentralized network, each node is responsible for storing and sharing its own resources with other nodes on the network. This type of network allows for more distributed decision making, better scalability, and greater resilience against system failures. Examples of decentralized networks include </a:t>
            </a:r>
            <a:r>
              <a:rPr lang="en-US" dirty="0" err="1"/>
              <a:t>BitTorrent</a:t>
            </a:r>
            <a:r>
              <a:rPr lang="en-US" dirty="0"/>
              <a:t>, </a:t>
            </a:r>
            <a:r>
              <a:rPr lang="en-US" dirty="0" err="1"/>
              <a:t>blockchain</a:t>
            </a:r>
            <a:r>
              <a:rPr lang="en-US" dirty="0"/>
              <a:t> networks, and some file sharing networks.</a:t>
            </a:r>
          </a:p>
          <a:p>
            <a:pPr algn="just"/>
            <a:r>
              <a:rPr lang="en-US" dirty="0"/>
              <a:t>Both centralized and decentralized networks have their advantages and disadvantages. Centralized networks can provide more efficient management and control of network resources, and can be easier to manage and secure. However, they may also be more vulnerable to attacks and system failures, and can be limited in terms of scalability and flexibility.</a:t>
            </a:r>
          </a:p>
        </p:txBody>
      </p:sp>
      <p:sp>
        <p:nvSpPr>
          <p:cNvPr id="4" name="Slide Number Placeholder 3">
            <a:extLst>
              <a:ext uri="{FF2B5EF4-FFF2-40B4-BE49-F238E27FC236}">
                <a16:creationId xmlns:a16="http://schemas.microsoft.com/office/drawing/2014/main" id="{344DD6F4-FB40-D785-B6A2-78B31483B53F}"/>
              </a:ext>
            </a:extLst>
          </p:cNvPr>
          <p:cNvSpPr>
            <a:spLocks noGrp="1"/>
          </p:cNvSpPr>
          <p:nvPr>
            <p:ph type="sldNum" sz="quarter" idx="12"/>
          </p:nvPr>
        </p:nvSpPr>
        <p:spPr/>
        <p:txBody>
          <a:bodyPr/>
          <a:lstStyle/>
          <a:p>
            <a:fld id="{F317719D-4397-416A-8DF5-E7F1C2D18F40}" type="slidenum">
              <a:rPr lang="en-US" smtClean="0"/>
              <a:t>74</a:t>
            </a:fld>
            <a:endParaRPr lang="en-US"/>
          </a:p>
        </p:txBody>
      </p:sp>
    </p:spTree>
    <p:extLst>
      <p:ext uri="{BB962C8B-B14F-4D97-AF65-F5344CB8AC3E}">
        <p14:creationId xmlns:p14="http://schemas.microsoft.com/office/powerpoint/2010/main" val="22165751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Networking Hardware</a:t>
            </a:r>
          </a:p>
        </p:txBody>
      </p:sp>
      <p:sp>
        <p:nvSpPr>
          <p:cNvPr id="3" name="Content Placeholder 2"/>
          <p:cNvSpPr>
            <a:spLocks noGrp="1"/>
          </p:cNvSpPr>
          <p:nvPr>
            <p:ph idx="1"/>
          </p:nvPr>
        </p:nvSpPr>
        <p:spPr/>
        <p:txBody>
          <a:bodyPr>
            <a:normAutofit/>
          </a:bodyPr>
          <a:lstStyle/>
          <a:p>
            <a:pPr marL="0" indent="0" algn="just">
              <a:buNone/>
            </a:pPr>
            <a:r>
              <a:rPr lang="en-US" dirty="0"/>
              <a:t>Networking hardware is the physical equipment used in computer networking to facilitate communication and data exchange between devices or computers. Some examples of networking hardware are:</a:t>
            </a:r>
          </a:p>
          <a:p>
            <a:pPr algn="just"/>
            <a:r>
              <a:rPr lang="en-US" b="1" dirty="0"/>
              <a:t>Network Interface Cards (NICs</a:t>
            </a:r>
            <a:r>
              <a:rPr lang="en-US" dirty="0"/>
              <a:t>): These are hardware components that enable computers to connect to a network. They are responsible for transmitting and receiving data between the computer and the network.</a:t>
            </a:r>
          </a:p>
          <a:p>
            <a:pPr algn="just"/>
            <a:r>
              <a:rPr lang="en-US" b="1" dirty="0"/>
              <a:t>Switches: </a:t>
            </a:r>
            <a:r>
              <a:rPr lang="en-US" dirty="0"/>
              <a:t>A switch is a device that connects multiple devices or computers in a network, allowing them to communicate with each other. It can route data between different devices in the network and can be used to segment a network to improve performance and security.</a:t>
            </a:r>
          </a:p>
          <a:p>
            <a:pPr algn="just"/>
            <a:endParaRPr lang="en-US" dirty="0"/>
          </a:p>
        </p:txBody>
      </p:sp>
      <p:sp>
        <p:nvSpPr>
          <p:cNvPr id="4" name="Slide Number Placeholder 3">
            <a:extLst>
              <a:ext uri="{FF2B5EF4-FFF2-40B4-BE49-F238E27FC236}">
                <a16:creationId xmlns:a16="http://schemas.microsoft.com/office/drawing/2014/main" id="{D2AC5A7D-5E0C-FDF3-1E80-12E9EAF22D88}"/>
              </a:ext>
            </a:extLst>
          </p:cNvPr>
          <p:cNvSpPr>
            <a:spLocks noGrp="1"/>
          </p:cNvSpPr>
          <p:nvPr>
            <p:ph type="sldNum" sz="quarter" idx="12"/>
          </p:nvPr>
        </p:nvSpPr>
        <p:spPr/>
        <p:txBody>
          <a:bodyPr/>
          <a:lstStyle/>
          <a:p>
            <a:fld id="{F317719D-4397-416A-8DF5-E7F1C2D18F40}" type="slidenum">
              <a:rPr lang="en-US" smtClean="0"/>
              <a:t>75</a:t>
            </a:fld>
            <a:endParaRPr lang="en-US"/>
          </a:p>
        </p:txBody>
      </p:sp>
    </p:spTree>
    <p:extLst>
      <p:ext uri="{BB962C8B-B14F-4D97-AF65-F5344CB8AC3E}">
        <p14:creationId xmlns:p14="http://schemas.microsoft.com/office/powerpoint/2010/main" val="3720893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Networking Hardware</a:t>
            </a:r>
          </a:p>
        </p:txBody>
      </p:sp>
      <p:sp>
        <p:nvSpPr>
          <p:cNvPr id="3" name="Content Placeholder 2"/>
          <p:cNvSpPr>
            <a:spLocks noGrp="1"/>
          </p:cNvSpPr>
          <p:nvPr>
            <p:ph idx="1"/>
          </p:nvPr>
        </p:nvSpPr>
        <p:spPr>
          <a:xfrm>
            <a:off x="1154954" y="2603499"/>
            <a:ext cx="10532549" cy="4018017"/>
          </a:xfrm>
        </p:spPr>
        <p:txBody>
          <a:bodyPr>
            <a:normAutofit/>
          </a:bodyPr>
          <a:lstStyle/>
          <a:p>
            <a:pPr algn="just"/>
            <a:r>
              <a:rPr lang="en-US" b="1" dirty="0"/>
              <a:t>Modem</a:t>
            </a:r>
            <a:r>
              <a:rPr lang="en-US" dirty="0"/>
              <a:t>: A modem is a device that connects a computer or network to the internet or other networks. It converts digital signals from a computer to analog signals that can be transmitted over telephone or cable lines.</a:t>
            </a:r>
          </a:p>
          <a:p>
            <a:pPr algn="just"/>
            <a:r>
              <a:rPr lang="en-US" b="1" dirty="0"/>
              <a:t>Routers: </a:t>
            </a:r>
            <a:r>
              <a:rPr lang="en-US" dirty="0"/>
              <a:t>A router is a device that connects multiple networks together, allowing devices in one network to communicate with devices in another network. It can route data between different networks, and can also provide network security by filtering and blocking unwanted traffic.</a:t>
            </a:r>
          </a:p>
          <a:p>
            <a:pPr algn="just"/>
            <a:r>
              <a:rPr lang="en-US" b="1" dirty="0"/>
              <a:t>Repeaters and Range Extenders: </a:t>
            </a:r>
            <a:r>
              <a:rPr lang="en-US" dirty="0"/>
              <a:t>These devices can be used to boost the signal of a wireless network, extending the range of the network and improving connectivity in areas with weak signals.</a:t>
            </a:r>
          </a:p>
        </p:txBody>
      </p:sp>
      <p:sp>
        <p:nvSpPr>
          <p:cNvPr id="4" name="Slide Number Placeholder 3">
            <a:extLst>
              <a:ext uri="{FF2B5EF4-FFF2-40B4-BE49-F238E27FC236}">
                <a16:creationId xmlns:a16="http://schemas.microsoft.com/office/drawing/2014/main" id="{B8081B98-D3C9-9F13-2E72-5F3657F6C12C}"/>
              </a:ext>
            </a:extLst>
          </p:cNvPr>
          <p:cNvSpPr>
            <a:spLocks noGrp="1"/>
          </p:cNvSpPr>
          <p:nvPr>
            <p:ph type="sldNum" sz="quarter" idx="12"/>
          </p:nvPr>
        </p:nvSpPr>
        <p:spPr/>
        <p:txBody>
          <a:bodyPr/>
          <a:lstStyle/>
          <a:p>
            <a:fld id="{F317719D-4397-416A-8DF5-E7F1C2D18F40}" type="slidenum">
              <a:rPr lang="en-US" smtClean="0"/>
              <a:t>76</a:t>
            </a:fld>
            <a:endParaRPr lang="en-US"/>
          </a:p>
        </p:txBody>
      </p:sp>
    </p:spTree>
    <p:extLst>
      <p:ext uri="{BB962C8B-B14F-4D97-AF65-F5344CB8AC3E}">
        <p14:creationId xmlns:p14="http://schemas.microsoft.com/office/powerpoint/2010/main" val="19519489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Wireless Networking</a:t>
            </a:r>
          </a:p>
        </p:txBody>
      </p:sp>
      <p:sp>
        <p:nvSpPr>
          <p:cNvPr id="3" name="Content Placeholder 2"/>
          <p:cNvSpPr>
            <a:spLocks noGrp="1"/>
          </p:cNvSpPr>
          <p:nvPr>
            <p:ph idx="1"/>
          </p:nvPr>
        </p:nvSpPr>
        <p:spPr/>
        <p:txBody>
          <a:bodyPr/>
          <a:lstStyle/>
          <a:p>
            <a:pPr algn="just"/>
            <a:r>
              <a:rPr lang="en-US" dirty="0"/>
              <a:t>Wireless networking is a method of connecting devices or computers without using physical cables or wires. It is a type of computer networking that uses radio waves or infrared signals to transmit data between devices. Some common wireless networking technologies include Wi-Fi, Bluetooth, and NFC (Near Field Communication).</a:t>
            </a:r>
          </a:p>
          <a:p>
            <a:pPr algn="just"/>
            <a:r>
              <a:rPr lang="en-US" dirty="0"/>
              <a:t>Wireless networking is popular in many different settings, including homes, offices, public spaces, and transportation systems. </a:t>
            </a:r>
          </a:p>
        </p:txBody>
      </p:sp>
      <p:sp>
        <p:nvSpPr>
          <p:cNvPr id="4" name="Slide Number Placeholder 3">
            <a:extLst>
              <a:ext uri="{FF2B5EF4-FFF2-40B4-BE49-F238E27FC236}">
                <a16:creationId xmlns:a16="http://schemas.microsoft.com/office/drawing/2014/main" id="{421CEA83-E858-8626-23AE-9693992C07E1}"/>
              </a:ext>
            </a:extLst>
          </p:cNvPr>
          <p:cNvSpPr>
            <a:spLocks noGrp="1"/>
          </p:cNvSpPr>
          <p:nvPr>
            <p:ph type="sldNum" sz="quarter" idx="12"/>
          </p:nvPr>
        </p:nvSpPr>
        <p:spPr/>
        <p:txBody>
          <a:bodyPr/>
          <a:lstStyle/>
          <a:p>
            <a:fld id="{F317719D-4397-416A-8DF5-E7F1C2D18F40}" type="slidenum">
              <a:rPr lang="en-US" smtClean="0"/>
              <a:t>77</a:t>
            </a:fld>
            <a:endParaRPr lang="en-US"/>
          </a:p>
        </p:txBody>
      </p:sp>
    </p:spTree>
    <p:extLst>
      <p:ext uri="{BB962C8B-B14F-4D97-AF65-F5344CB8AC3E}">
        <p14:creationId xmlns:p14="http://schemas.microsoft.com/office/powerpoint/2010/main" val="17829577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a:t>
            </a:r>
          </a:p>
        </p:txBody>
      </p:sp>
      <p:sp>
        <p:nvSpPr>
          <p:cNvPr id="3" name="Content Placeholder 2"/>
          <p:cNvSpPr>
            <a:spLocks noGrp="1"/>
          </p:cNvSpPr>
          <p:nvPr>
            <p:ph idx="1"/>
          </p:nvPr>
        </p:nvSpPr>
        <p:spPr>
          <a:xfrm>
            <a:off x="642201" y="2351142"/>
            <a:ext cx="10907598" cy="4895686"/>
          </a:xfrm>
        </p:spPr>
        <p:txBody>
          <a:bodyPr>
            <a:normAutofit/>
          </a:bodyPr>
          <a:lstStyle/>
          <a:p>
            <a:pPr marL="0" indent="0" algn="just">
              <a:buNone/>
            </a:pPr>
            <a:r>
              <a:rPr lang="en-US" dirty="0"/>
              <a:t>Some advantages of wireless networking include:</a:t>
            </a:r>
          </a:p>
          <a:p>
            <a:pPr algn="just"/>
            <a:r>
              <a:rPr lang="en-US" dirty="0"/>
              <a:t>Mobility: Wireless networking allows devices to connect and communicate with each other without being physically connected. This makes it easy to move devices around and connect to the network from different locations.</a:t>
            </a:r>
          </a:p>
          <a:p>
            <a:pPr algn="just"/>
            <a:r>
              <a:rPr lang="en-US" dirty="0"/>
              <a:t>Convenience: Wireless networking eliminates the need for messy cables and wires, making it easier to set up and use.</a:t>
            </a:r>
          </a:p>
          <a:p>
            <a:pPr algn="just"/>
            <a:r>
              <a:rPr lang="en-US" dirty="0"/>
              <a:t>Scalability: Wireless networks can be easily expanded and upgraded by adding new devices or access points, allowing them to grow as the network needs expand.</a:t>
            </a:r>
          </a:p>
          <a:p>
            <a:pPr algn="just"/>
            <a:r>
              <a:rPr lang="en-US" dirty="0"/>
              <a:t>Cost-effective: Wireless networking can be more cost-effective than wired networking, especially in situations where a wired network is difficult or expensive to install.</a:t>
            </a:r>
          </a:p>
        </p:txBody>
      </p:sp>
      <p:sp>
        <p:nvSpPr>
          <p:cNvPr id="4" name="Slide Number Placeholder 3">
            <a:extLst>
              <a:ext uri="{FF2B5EF4-FFF2-40B4-BE49-F238E27FC236}">
                <a16:creationId xmlns:a16="http://schemas.microsoft.com/office/drawing/2014/main" id="{D08E490B-5716-FC7C-3938-2EA9F7481A65}"/>
              </a:ext>
            </a:extLst>
          </p:cNvPr>
          <p:cNvSpPr>
            <a:spLocks noGrp="1"/>
          </p:cNvSpPr>
          <p:nvPr>
            <p:ph type="sldNum" sz="quarter" idx="12"/>
          </p:nvPr>
        </p:nvSpPr>
        <p:spPr/>
        <p:txBody>
          <a:bodyPr/>
          <a:lstStyle/>
          <a:p>
            <a:fld id="{F317719D-4397-416A-8DF5-E7F1C2D18F40}" type="slidenum">
              <a:rPr lang="en-US" smtClean="0"/>
              <a:t>78</a:t>
            </a:fld>
            <a:endParaRPr lang="en-US"/>
          </a:p>
        </p:txBody>
      </p:sp>
    </p:spTree>
    <p:extLst>
      <p:ext uri="{BB962C8B-B14F-4D97-AF65-F5344CB8AC3E}">
        <p14:creationId xmlns:p14="http://schemas.microsoft.com/office/powerpoint/2010/main" val="23951202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a:t>
            </a:r>
          </a:p>
        </p:txBody>
      </p:sp>
      <p:sp>
        <p:nvSpPr>
          <p:cNvPr id="3" name="Content Placeholder 2"/>
          <p:cNvSpPr>
            <a:spLocks noGrp="1"/>
          </p:cNvSpPr>
          <p:nvPr>
            <p:ph idx="1"/>
          </p:nvPr>
        </p:nvSpPr>
        <p:spPr>
          <a:xfrm>
            <a:off x="522889" y="2277569"/>
            <a:ext cx="10775623" cy="4895686"/>
          </a:xfrm>
        </p:spPr>
        <p:txBody>
          <a:bodyPr>
            <a:normAutofit/>
          </a:bodyPr>
          <a:lstStyle/>
          <a:p>
            <a:pPr marL="0" indent="0" algn="just">
              <a:buNone/>
            </a:pPr>
            <a:r>
              <a:rPr lang="en-US" dirty="0"/>
              <a:t>However, wireless networking also has some disadvantages, such as:</a:t>
            </a:r>
          </a:p>
          <a:p>
            <a:pPr algn="just"/>
            <a:r>
              <a:rPr lang="en-US" dirty="0"/>
              <a:t>Security: Wireless networks can be more vulnerable to security threats, such as hacking or eavesdropping, than wired networks. Proper security measures such as encryption and secure authentication are necessary to keep wireless networks secure.</a:t>
            </a:r>
          </a:p>
          <a:p>
            <a:pPr algn="just"/>
            <a:r>
              <a:rPr lang="en-US" dirty="0"/>
              <a:t>Interference: Wireless networks can be affected by interference from other wireless devices or physical obstacles such as walls or buildings. This can lead to reduced performance or signal loss.</a:t>
            </a:r>
          </a:p>
          <a:p>
            <a:pPr algn="just"/>
            <a:r>
              <a:rPr lang="en-US" dirty="0"/>
              <a:t>Performance: Wireless networks may have lower performance or speed compared to wired networks, especially in situations where many devices are connected to the network or the network is located in an area with a lot of interference.</a:t>
            </a:r>
          </a:p>
          <a:p>
            <a:pPr marL="0" indent="0" algn="just">
              <a:buNone/>
            </a:pPr>
            <a:r>
              <a:rPr lang="en-US" dirty="0"/>
              <a:t>Overall, wireless networking can be a convenient and flexible way to connect devices and computers in a variety of settings, but it's important to be aware of the potential security and performance issues associated with wireless networks.</a:t>
            </a:r>
          </a:p>
        </p:txBody>
      </p:sp>
      <p:sp>
        <p:nvSpPr>
          <p:cNvPr id="4" name="Slide Number Placeholder 3">
            <a:extLst>
              <a:ext uri="{FF2B5EF4-FFF2-40B4-BE49-F238E27FC236}">
                <a16:creationId xmlns:a16="http://schemas.microsoft.com/office/drawing/2014/main" id="{026F6CF9-2E35-C212-F00A-064B2408B729}"/>
              </a:ext>
            </a:extLst>
          </p:cNvPr>
          <p:cNvSpPr>
            <a:spLocks noGrp="1"/>
          </p:cNvSpPr>
          <p:nvPr>
            <p:ph type="sldNum" sz="quarter" idx="12"/>
          </p:nvPr>
        </p:nvSpPr>
        <p:spPr/>
        <p:txBody>
          <a:bodyPr/>
          <a:lstStyle/>
          <a:p>
            <a:fld id="{F317719D-4397-416A-8DF5-E7F1C2D18F40}" type="slidenum">
              <a:rPr lang="en-US" smtClean="0"/>
              <a:t>79</a:t>
            </a:fld>
            <a:endParaRPr lang="en-US"/>
          </a:p>
        </p:txBody>
      </p:sp>
    </p:spTree>
    <p:extLst>
      <p:ext uri="{BB962C8B-B14F-4D97-AF65-F5344CB8AC3E}">
        <p14:creationId xmlns:p14="http://schemas.microsoft.com/office/powerpoint/2010/main" val="25699925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a:t>
            </a:r>
          </a:p>
        </p:txBody>
      </p:sp>
      <p:sp>
        <p:nvSpPr>
          <p:cNvPr id="3" name="Content Placeholder 2"/>
          <p:cNvSpPr>
            <a:spLocks noGrp="1"/>
          </p:cNvSpPr>
          <p:nvPr>
            <p:ph idx="1"/>
          </p:nvPr>
        </p:nvSpPr>
        <p:spPr/>
        <p:txBody>
          <a:bodyPr/>
          <a:lstStyle/>
          <a:p>
            <a:pPr algn="just"/>
            <a:r>
              <a:rPr lang="en-US" dirty="0"/>
              <a:t>What is communication protocols? Explain any 5 communication protocols?</a:t>
            </a:r>
          </a:p>
          <a:p>
            <a:pPr algn="just"/>
            <a:r>
              <a:rPr lang="en-US" dirty="0"/>
              <a:t>What is centralized and decentralized network? What kind of hardware we used in networking?</a:t>
            </a:r>
          </a:p>
        </p:txBody>
      </p:sp>
      <p:sp>
        <p:nvSpPr>
          <p:cNvPr id="4" name="Slide Number Placeholder 3">
            <a:extLst>
              <a:ext uri="{FF2B5EF4-FFF2-40B4-BE49-F238E27FC236}">
                <a16:creationId xmlns:a16="http://schemas.microsoft.com/office/drawing/2014/main" id="{29808152-D6C7-6542-E1D4-8B4F79E5AED3}"/>
              </a:ext>
            </a:extLst>
          </p:cNvPr>
          <p:cNvSpPr>
            <a:spLocks noGrp="1"/>
          </p:cNvSpPr>
          <p:nvPr>
            <p:ph type="sldNum" sz="quarter" idx="12"/>
          </p:nvPr>
        </p:nvSpPr>
        <p:spPr/>
        <p:txBody>
          <a:bodyPr/>
          <a:lstStyle/>
          <a:p>
            <a:fld id="{F317719D-4397-416A-8DF5-E7F1C2D18F40}" type="slidenum">
              <a:rPr lang="en-US" smtClean="0"/>
              <a:t>80</a:t>
            </a:fld>
            <a:endParaRPr lang="en-US"/>
          </a:p>
        </p:txBody>
      </p:sp>
    </p:spTree>
    <p:extLst>
      <p:ext uri="{BB962C8B-B14F-4D97-AF65-F5344CB8AC3E}">
        <p14:creationId xmlns:p14="http://schemas.microsoft.com/office/powerpoint/2010/main" val="7530764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710</TotalTime>
  <Words>4505</Words>
  <Application>Microsoft Office PowerPoint</Application>
  <PresentationFormat>Widescreen</PresentationFormat>
  <Paragraphs>365</Paragraphs>
  <Slides>80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80</vt:i4>
      </vt:variant>
    </vt:vector>
  </HeadingPairs>
  <TitlesOfParts>
    <vt:vector size="86" baseType="lpstr">
      <vt:lpstr>Aptos Narrow</vt:lpstr>
      <vt:lpstr>Arial</vt:lpstr>
      <vt:lpstr>Calibri</vt:lpstr>
      <vt:lpstr>Century Gothic</vt:lpstr>
      <vt:lpstr>Wingdings 3</vt:lpstr>
      <vt:lpstr>Ion Boardroom</vt:lpstr>
      <vt:lpstr> Data Communication and Computer Network</vt:lpstr>
      <vt:lpstr>Syllabus</vt:lpstr>
      <vt:lpstr>Introduction: Data Communication</vt:lpstr>
      <vt:lpstr>Block diagram of Communication system </vt:lpstr>
      <vt:lpstr>Introduction: Computer Network</vt:lpstr>
      <vt:lpstr>Importance of Computer Network</vt:lpstr>
      <vt:lpstr>Mode of Communication/Transmission media</vt:lpstr>
      <vt:lpstr>Types of Data Transmission Media </vt:lpstr>
      <vt:lpstr>Types of Transmission media</vt:lpstr>
      <vt:lpstr>Twisted pair cable</vt:lpstr>
      <vt:lpstr>Twisted Pair cable </vt:lpstr>
      <vt:lpstr>Twisted Pair cable </vt:lpstr>
      <vt:lpstr>Coaxial cable</vt:lpstr>
      <vt:lpstr>Coaxial cable</vt:lpstr>
      <vt:lpstr>Fiber Optic Cable</vt:lpstr>
      <vt:lpstr>Fiber Optic Cable</vt:lpstr>
      <vt:lpstr>Unguided Media</vt:lpstr>
      <vt:lpstr>Types of Unguided media</vt:lpstr>
      <vt:lpstr>Radio waves communication</vt:lpstr>
      <vt:lpstr>Electromagnetic Spectrum</vt:lpstr>
      <vt:lpstr>Microwave station</vt:lpstr>
      <vt:lpstr>Microwave station</vt:lpstr>
      <vt:lpstr>Satellite Communication</vt:lpstr>
      <vt:lpstr>Satellite</vt:lpstr>
      <vt:lpstr>Questions:</vt:lpstr>
      <vt:lpstr>Types of Computer Network</vt:lpstr>
      <vt:lpstr>Personal Area Network (PAN)</vt:lpstr>
      <vt:lpstr>Local Area Network (LAN)</vt:lpstr>
      <vt:lpstr>Metropolitan Area Network (MAN)</vt:lpstr>
      <vt:lpstr>Wide Area Network (WAN)</vt:lpstr>
      <vt:lpstr>Differentiate between types of networks:</vt:lpstr>
      <vt:lpstr>Question 2:</vt:lpstr>
      <vt:lpstr>Network Topology</vt:lpstr>
      <vt:lpstr>Topology can be physical or logical</vt:lpstr>
      <vt:lpstr>Types of Physical Network Topologies</vt:lpstr>
      <vt:lpstr>Bus Topology</vt:lpstr>
      <vt:lpstr>Bus Topology</vt:lpstr>
      <vt:lpstr>Advantages of Bus Topology</vt:lpstr>
      <vt:lpstr>Disadvantages of Bus Topology</vt:lpstr>
      <vt:lpstr>Star Topology</vt:lpstr>
      <vt:lpstr>Star Topology</vt:lpstr>
      <vt:lpstr>Advantages of Star Topology</vt:lpstr>
      <vt:lpstr>Disadvantages of Star Topology</vt:lpstr>
      <vt:lpstr>Ring Topology</vt:lpstr>
      <vt:lpstr>Ring Topology</vt:lpstr>
      <vt:lpstr>Advantages</vt:lpstr>
      <vt:lpstr>Disadvantages</vt:lpstr>
      <vt:lpstr>Mesh Topology</vt:lpstr>
      <vt:lpstr>Mesh Topology</vt:lpstr>
      <vt:lpstr>Advantages</vt:lpstr>
      <vt:lpstr>Disadvantages</vt:lpstr>
      <vt:lpstr>Tree Topology</vt:lpstr>
      <vt:lpstr>Tree Topology</vt:lpstr>
      <vt:lpstr>Advantages</vt:lpstr>
      <vt:lpstr>Disadvantages</vt:lpstr>
      <vt:lpstr>Hybrid Topology</vt:lpstr>
      <vt:lpstr>Tree Topology</vt:lpstr>
      <vt:lpstr>Question 3:</vt:lpstr>
      <vt:lpstr>OSI (Open Systems Interconnection)</vt:lpstr>
      <vt:lpstr>OSI (Open Systems Interconnection)</vt:lpstr>
      <vt:lpstr>1. Physical Layer</vt:lpstr>
      <vt:lpstr>2. Data Link Layer</vt:lpstr>
      <vt:lpstr>3. Network Layer</vt:lpstr>
      <vt:lpstr>4. Transport Layer</vt:lpstr>
      <vt:lpstr>5. Session Layer</vt:lpstr>
      <vt:lpstr>6. Presentation Layer</vt:lpstr>
      <vt:lpstr>7. Application Layer</vt:lpstr>
      <vt:lpstr>TCP/IP Model</vt:lpstr>
      <vt:lpstr>TCP/IP Model</vt:lpstr>
      <vt:lpstr>Communication Protocols</vt:lpstr>
      <vt:lpstr>Some common types of communication protocols include:</vt:lpstr>
      <vt:lpstr>Some common types of communication protocols include:</vt:lpstr>
      <vt:lpstr>Centralized vs Distributed network</vt:lpstr>
      <vt:lpstr>Centralized vs Distributed network</vt:lpstr>
      <vt:lpstr>Networking Hardware</vt:lpstr>
      <vt:lpstr>Networking Hardware</vt:lpstr>
      <vt:lpstr>Wireless Networking</vt:lpstr>
      <vt:lpstr>Advantages:</vt:lpstr>
      <vt:lpstr>Disadvantages:</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Data Communication and Computer Network</dc:title>
  <dc:creator>Hp</dc:creator>
  <cp:lastModifiedBy>Yachu</cp:lastModifiedBy>
  <cp:revision>81</cp:revision>
  <dcterms:created xsi:type="dcterms:W3CDTF">2023-02-08T02:13:48Z</dcterms:created>
  <dcterms:modified xsi:type="dcterms:W3CDTF">2024-03-31T15:13:15Z</dcterms:modified>
</cp:coreProperties>
</file>