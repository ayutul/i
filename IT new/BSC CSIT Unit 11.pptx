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7.jpg" ContentType="image/png"/>
  <Override PartName="/ppt/media/image20.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1"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1" r:id="rId28"/>
    <p:sldId id="283" r:id="rId29"/>
    <p:sldId id="284" r:id="rId30"/>
    <p:sldId id="285" r:id="rId31"/>
    <p:sldId id="286" r:id="rId32"/>
    <p:sldId id="287" r:id="rId33"/>
    <p:sldId id="288" r:id="rId34"/>
    <p:sldId id="289" r:id="rId35"/>
    <p:sldId id="290" r:id="rId36"/>
    <p:sldId id="291" r:id="rId37"/>
    <p:sldId id="292" r:id="rId38"/>
    <p:sldId id="294" r:id="rId39"/>
    <p:sldId id="295" r:id="rId40"/>
    <p:sldId id="293" r:id="rId41"/>
    <p:sldId id="296" r:id="rId42"/>
    <p:sldId id="297" r:id="rId43"/>
    <p:sldId id="298" r:id="rId44"/>
    <p:sldId id="299" r:id="rId45"/>
    <p:sldId id="300" r:id="rId46"/>
    <p:sldId id="301"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2F3844-45D2-4609-B615-64FB396976DE}">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2"/>
            <p14:sldId id="281"/>
            <p14:sldId id="283"/>
            <p14:sldId id="284"/>
            <p14:sldId id="285"/>
            <p14:sldId id="286"/>
            <p14:sldId id="287"/>
            <p14:sldId id="288"/>
            <p14:sldId id="289"/>
            <p14:sldId id="290"/>
            <p14:sldId id="291"/>
            <p14:sldId id="292"/>
            <p14:sldId id="294"/>
            <p14:sldId id="295"/>
            <p14:sldId id="293"/>
            <p14:sldId id="296"/>
            <p14:sldId id="297"/>
            <p14:sldId id="298"/>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28" autoAdjust="0"/>
    <p:restoredTop sz="92430" autoAdjust="0"/>
  </p:normalViewPr>
  <p:slideViewPr>
    <p:cSldViewPr snapToGrid="0">
      <p:cViewPr>
        <p:scale>
          <a:sx n="66" d="100"/>
          <a:sy n="66" d="100"/>
        </p:scale>
        <p:origin x="1166" y="25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C0F600-449F-471C-8F95-F334AE0F3E82}" type="datetimeFigureOut">
              <a:rPr lang="en-US" smtClean="0"/>
              <a:t>3/13/2024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840812-6904-4C4B-91D9-C2C88BE306BB}" type="slidenum">
              <a:rPr lang="en-US" smtClean="0"/>
              <a:t>‹#›</a:t>
            </a:fld>
            <a:endParaRPr lang="en-US"/>
          </a:p>
        </p:txBody>
      </p:sp>
    </p:spTree>
    <p:extLst>
      <p:ext uri="{BB962C8B-B14F-4D97-AF65-F5344CB8AC3E}">
        <p14:creationId xmlns:p14="http://schemas.microsoft.com/office/powerpoint/2010/main" val="3117852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E840812-6904-4C4B-91D9-C2C88BE306BB}" type="slidenum">
              <a:rPr lang="en-US" smtClean="0"/>
              <a:t>12</a:t>
            </a:fld>
            <a:endParaRPr lang="en-US"/>
          </a:p>
        </p:txBody>
      </p:sp>
    </p:spTree>
    <p:extLst>
      <p:ext uri="{BB962C8B-B14F-4D97-AF65-F5344CB8AC3E}">
        <p14:creationId xmlns:p14="http://schemas.microsoft.com/office/powerpoint/2010/main" val="1851713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870437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706275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196613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766239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F19D81-8C41-4209-9F74-98E870F76BA7}" type="datetimeFigureOut">
              <a:rPr lang="en-CA" smtClean="0"/>
              <a:t>2024-03-13</a:t>
            </a:fld>
            <a:endParaRPr lang="en-CA"/>
          </a:p>
        </p:txBody>
      </p:sp>
      <p:sp>
        <p:nvSpPr>
          <p:cNvPr id="8" name="Footer Placeholder 7"/>
          <p:cNvSpPr>
            <a:spLocks noGrp="1"/>
          </p:cNvSpPr>
          <p:nvPr>
            <p:ph type="ftr" sz="quarter" idx="11"/>
          </p:nvPr>
        </p:nvSpPr>
        <p:spPr/>
        <p:txBody>
          <a:bodyPr/>
          <a:lstStyle/>
          <a:p>
            <a:endParaRPr lang="en-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713126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F19D81-8C41-4209-9F74-98E870F76BA7}" type="datetimeFigureOut">
              <a:rPr lang="en-CA" smtClean="0"/>
              <a:t>2024-03-13</a:t>
            </a:fld>
            <a:endParaRPr lang="en-CA"/>
          </a:p>
        </p:txBody>
      </p:sp>
      <p:sp>
        <p:nvSpPr>
          <p:cNvPr id="4" name="Footer Placeholder 3"/>
          <p:cNvSpPr>
            <a:spLocks noGrp="1"/>
          </p:cNvSpPr>
          <p:nvPr>
            <p:ph type="ftr" sz="quarter" idx="11"/>
          </p:nvPr>
        </p:nvSpPr>
        <p:spPr/>
        <p:txBody>
          <a:bodyPr/>
          <a:lstStyle/>
          <a:p>
            <a:endParaRPr lang="en-C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125287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F19D81-8C41-4209-9F74-98E870F76BA7}" type="datetimeFigureOut">
              <a:rPr lang="en-CA" smtClean="0"/>
              <a:t>2024-03-13</a:t>
            </a:fld>
            <a:endParaRPr lang="en-CA"/>
          </a:p>
        </p:txBody>
      </p:sp>
      <p:sp>
        <p:nvSpPr>
          <p:cNvPr id="3" name="Footer Placeholder 2"/>
          <p:cNvSpPr>
            <a:spLocks noGrp="1"/>
          </p:cNvSpPr>
          <p:nvPr>
            <p:ph type="ftr" sz="quarter" idx="11"/>
          </p:nvPr>
        </p:nvSpPr>
        <p:spPr/>
        <p:txBody>
          <a:bodyPr/>
          <a:lstStyle/>
          <a:p>
            <a:endParaRPr lang="en-C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1894370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567552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440510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226107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4C4BE72-0E58-4B4F-ACC0-8A7403B6F8D9}" type="slidenum">
              <a:rPr lang="en-CA" smtClean="0"/>
              <a:t>‹#›</a:t>
            </a:fld>
            <a:endParaRPr lang="en-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73487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955522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C4BE72-0E58-4B4F-ACC0-8A7403B6F8D9}" type="slidenum">
              <a:rPr lang="en-CA" smtClean="0"/>
              <a:t>‹#›</a:t>
            </a:fld>
            <a:endParaRPr lang="en-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7317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C5F19D81-8C41-4209-9F74-98E870F76BA7}" type="datetimeFigureOut">
              <a:rPr lang="en-CA" smtClean="0"/>
              <a:t>2024-03-13</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2144814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1085041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F19D81-8C41-4209-9F74-98E870F76BA7}" type="datetimeFigureOut">
              <a:rPr lang="en-CA" smtClean="0"/>
              <a:t>2024-03-13</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4C4BE72-0E58-4B4F-ACC0-8A7403B6F8D9}" type="slidenum">
              <a:rPr lang="en-CA" smtClean="0"/>
              <a:t>‹#›</a:t>
            </a:fld>
            <a:endParaRPr lang="en-CA"/>
          </a:p>
        </p:txBody>
      </p:sp>
    </p:spTree>
    <p:extLst>
      <p:ext uri="{BB962C8B-B14F-4D97-AF65-F5344CB8AC3E}">
        <p14:creationId xmlns:p14="http://schemas.microsoft.com/office/powerpoint/2010/main" val="336161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5F19D81-8C41-4209-9F74-98E870F76BA7}" type="datetimeFigureOut">
              <a:rPr lang="en-CA" smtClean="0"/>
              <a:t>2024-03-13</a:t>
            </a:fld>
            <a:endParaRPr lang="en-C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4C4BE72-0E58-4B4F-ACC0-8A7403B6F8D9}" type="slidenum">
              <a:rPr lang="en-CA" smtClean="0"/>
              <a:t>‹#›</a:t>
            </a:fld>
            <a:endParaRPr lang="en-CA"/>
          </a:p>
        </p:txBody>
      </p:sp>
    </p:spTree>
    <p:extLst>
      <p:ext uri="{BB962C8B-B14F-4D97-AF65-F5344CB8AC3E}">
        <p14:creationId xmlns:p14="http://schemas.microsoft.com/office/powerpoint/2010/main" val="2641450141"/>
      </p:ext>
    </p:extLst>
  </p:cSld>
  <p:clrMap bg1="lt1" tx1="dk1" bg2="lt2" tx2="dk2" accent1="accent1" accent2="accent2" accent3="accent3" accent4="accent4" accent5="accent5" accent6="accent6" hlink="hlink" folHlink="folHlink"/>
  <p:sldLayoutIdLst>
    <p:sldLayoutId id="2147483892"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 id="2147483904" r:id="rId13"/>
    <p:sldLayoutId id="2147483905" r:id="rId14"/>
    <p:sldLayoutId id="2147483906" r:id="rId15"/>
    <p:sldLayoutId id="214748390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web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web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web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web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web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CCD0455-0334-F2C3-FBF3-25D6DF192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 y="-1"/>
            <a:ext cx="12273280" cy="6905321"/>
          </a:xfrm>
          <a:prstGeom prst="rect">
            <a:avLst/>
          </a:prstGeom>
        </p:spPr>
      </p:pic>
      <p:sp>
        <p:nvSpPr>
          <p:cNvPr id="2" name="Title 1">
            <a:extLst>
              <a:ext uri="{FF2B5EF4-FFF2-40B4-BE49-F238E27FC236}">
                <a16:creationId xmlns:a16="http://schemas.microsoft.com/office/drawing/2014/main" id="{C7CC3910-BA49-8E65-6A15-7E307E75CDD5}"/>
              </a:ext>
            </a:extLst>
          </p:cNvPr>
          <p:cNvSpPr>
            <a:spLocks noGrp="1"/>
          </p:cNvSpPr>
          <p:nvPr>
            <p:ph type="ctrTitle"/>
          </p:nvPr>
        </p:nvSpPr>
        <p:spPr>
          <a:xfrm>
            <a:off x="760413" y="365760"/>
            <a:ext cx="5670867" cy="1109621"/>
          </a:xfrm>
          <a:effectLst>
            <a:outerShdw blurRad="50800" dist="38100" dir="2700000" algn="tl" rotWithShape="0">
              <a:prstClr val="black">
                <a:alpha val="40000"/>
              </a:prstClr>
            </a:outerShdw>
          </a:effectLst>
        </p:spPr>
        <p:txBody>
          <a:bodyPr/>
          <a:lstStyle/>
          <a:p>
            <a:r>
              <a:rPr lang="en-US" b="1" dirty="0">
                <a:solidFill>
                  <a:schemeClr val="accent3">
                    <a:lumMod val="20000"/>
                    <a:lumOff val="80000"/>
                  </a:schemeClr>
                </a:solidFill>
                <a:latin typeface="Bahnschrift Light SemiCondensed" panose="020B0502040204020203" pitchFamily="34" charset="0"/>
              </a:rPr>
              <a:t>Computer Security</a:t>
            </a:r>
          </a:p>
        </p:txBody>
      </p:sp>
    </p:spTree>
    <p:extLst>
      <p:ext uri="{BB962C8B-B14F-4D97-AF65-F5344CB8AC3E}">
        <p14:creationId xmlns:p14="http://schemas.microsoft.com/office/powerpoint/2010/main" val="274382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5D25-AB4A-75C2-30A0-F1B6CE7BB471}"/>
              </a:ext>
            </a:extLst>
          </p:cNvPr>
          <p:cNvSpPr>
            <a:spLocks noGrp="1"/>
          </p:cNvSpPr>
          <p:nvPr>
            <p:ph type="title"/>
          </p:nvPr>
        </p:nvSpPr>
        <p:spPr/>
        <p:txBody>
          <a:bodyPr/>
          <a:lstStyle/>
          <a:p>
            <a:pPr algn="ctr"/>
            <a:r>
              <a:rPr lang="en-US" b="1" dirty="0"/>
              <a:t>Syllabus</a:t>
            </a:r>
          </a:p>
        </p:txBody>
      </p:sp>
      <p:sp>
        <p:nvSpPr>
          <p:cNvPr id="3" name="Content Placeholder 2">
            <a:extLst>
              <a:ext uri="{FF2B5EF4-FFF2-40B4-BE49-F238E27FC236}">
                <a16:creationId xmlns:a16="http://schemas.microsoft.com/office/drawing/2014/main" id="{103CCFBC-10A7-5126-BF28-471C924447E1}"/>
              </a:ext>
            </a:extLst>
          </p:cNvPr>
          <p:cNvSpPr>
            <a:spLocks noGrp="1"/>
          </p:cNvSpPr>
          <p:nvPr>
            <p:ph idx="1"/>
          </p:nvPr>
        </p:nvSpPr>
        <p:spPr>
          <a:xfrm>
            <a:off x="1451579" y="2015732"/>
            <a:ext cx="9291215" cy="4222508"/>
          </a:xfrm>
        </p:spPr>
        <p:txBody>
          <a:bodyPr>
            <a:normAutofit/>
          </a:bodyPr>
          <a:lstStyle/>
          <a:p>
            <a:r>
              <a:rPr lang="en-US" dirty="0"/>
              <a:t>Introduction</a:t>
            </a:r>
          </a:p>
          <a:p>
            <a:r>
              <a:rPr lang="en-US" dirty="0"/>
              <a:t>Security threat and Security attack</a:t>
            </a:r>
          </a:p>
          <a:p>
            <a:r>
              <a:rPr lang="en-US" dirty="0"/>
              <a:t>Malicious Software</a:t>
            </a:r>
          </a:p>
          <a:p>
            <a:r>
              <a:rPr lang="en-US" dirty="0"/>
              <a:t>Security Services</a:t>
            </a:r>
          </a:p>
          <a:p>
            <a:r>
              <a:rPr lang="en-US" dirty="0"/>
              <a:t>Security Mechanisms</a:t>
            </a:r>
          </a:p>
          <a:p>
            <a:pPr lvl="1"/>
            <a:r>
              <a:rPr lang="en-US" dirty="0"/>
              <a:t>Cryptography</a:t>
            </a:r>
          </a:p>
          <a:p>
            <a:pPr lvl="1"/>
            <a:r>
              <a:rPr lang="en-US" dirty="0"/>
              <a:t>Digital Signature</a:t>
            </a:r>
          </a:p>
          <a:p>
            <a:pPr lvl="1"/>
            <a:r>
              <a:rPr lang="en-US" dirty="0"/>
              <a:t>Firewall, User Identification and Authentication</a:t>
            </a:r>
          </a:p>
          <a:p>
            <a:pPr lvl="1"/>
            <a:r>
              <a:rPr lang="en-US" dirty="0"/>
              <a:t>Intrusion Detection System</a:t>
            </a:r>
          </a:p>
          <a:p>
            <a:r>
              <a:rPr lang="en-US" dirty="0"/>
              <a:t>Security Awareness</a:t>
            </a:r>
          </a:p>
          <a:p>
            <a:pPr lvl="1"/>
            <a:endParaRPr lang="en-US" dirty="0"/>
          </a:p>
        </p:txBody>
      </p:sp>
    </p:spTree>
    <p:extLst>
      <p:ext uri="{BB962C8B-B14F-4D97-AF65-F5344CB8AC3E}">
        <p14:creationId xmlns:p14="http://schemas.microsoft.com/office/powerpoint/2010/main" val="32425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E7057-4374-4957-F5F7-ED10CD80A47B}"/>
              </a:ext>
            </a:extLst>
          </p:cNvPr>
          <p:cNvSpPr>
            <a:spLocks noGrp="1"/>
          </p:cNvSpPr>
          <p:nvPr>
            <p:ph type="title"/>
          </p:nvPr>
        </p:nvSpPr>
        <p:spPr/>
        <p:txBody>
          <a:bodyPr/>
          <a:lstStyle/>
          <a:p>
            <a:pPr algn="ctr"/>
            <a:r>
              <a:rPr lang="en-US" b="1" dirty="0"/>
              <a:t>Introduction</a:t>
            </a:r>
          </a:p>
        </p:txBody>
      </p:sp>
      <p:sp>
        <p:nvSpPr>
          <p:cNvPr id="3" name="Content Placeholder 2">
            <a:extLst>
              <a:ext uri="{FF2B5EF4-FFF2-40B4-BE49-F238E27FC236}">
                <a16:creationId xmlns:a16="http://schemas.microsoft.com/office/drawing/2014/main" id="{D9DE3223-EADA-8612-19F9-21BC5AE26356}"/>
              </a:ext>
            </a:extLst>
          </p:cNvPr>
          <p:cNvSpPr>
            <a:spLocks noGrp="1"/>
          </p:cNvSpPr>
          <p:nvPr>
            <p:ph idx="1"/>
          </p:nvPr>
        </p:nvSpPr>
        <p:spPr/>
        <p:txBody>
          <a:bodyPr/>
          <a:lstStyle/>
          <a:p>
            <a:r>
              <a:rPr lang="en-US" dirty="0"/>
              <a:t>Computer Security</a:t>
            </a:r>
          </a:p>
          <a:p>
            <a:pPr lvl="1"/>
            <a:r>
              <a:rPr lang="en-US" dirty="0"/>
              <a:t>It is all the means and mechanisms used for protecting computer hardware software and data from possible damage and security attacks</a:t>
            </a:r>
          </a:p>
          <a:p>
            <a:pPr lvl="1"/>
            <a:r>
              <a:rPr lang="en-US" dirty="0"/>
              <a:t>It includes security of both computer and internet.</a:t>
            </a:r>
          </a:p>
          <a:p>
            <a:pPr lvl="1"/>
            <a:r>
              <a:rPr lang="en-US" dirty="0"/>
              <a:t>It focuses on </a:t>
            </a:r>
          </a:p>
          <a:p>
            <a:pPr lvl="2"/>
            <a:r>
              <a:rPr lang="en-US" b="1" dirty="0"/>
              <a:t>Security attacks: </a:t>
            </a:r>
            <a:r>
              <a:rPr lang="en-US" dirty="0"/>
              <a:t>Breach of security</a:t>
            </a:r>
          </a:p>
          <a:p>
            <a:pPr lvl="2"/>
            <a:r>
              <a:rPr lang="en-US" b="1" dirty="0"/>
              <a:t>Security mechanisms: </a:t>
            </a:r>
            <a:r>
              <a:rPr lang="en-US" dirty="0"/>
              <a:t>algorithm, protocols or devices that are designed to detect, prevent or recover from a security attack</a:t>
            </a:r>
          </a:p>
          <a:p>
            <a:pPr lvl="2"/>
            <a:r>
              <a:rPr lang="en-US" b="1" dirty="0"/>
              <a:t>Security services: </a:t>
            </a:r>
            <a:r>
              <a:rPr lang="en-US" dirty="0"/>
              <a:t>provided by system for specific kind of protection to the system resources.</a:t>
            </a:r>
          </a:p>
        </p:txBody>
      </p:sp>
    </p:spTree>
    <p:extLst>
      <p:ext uri="{BB962C8B-B14F-4D97-AF65-F5344CB8AC3E}">
        <p14:creationId xmlns:p14="http://schemas.microsoft.com/office/powerpoint/2010/main" val="2985339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F270C8-E994-CECD-7093-726C555B44FC}"/>
              </a:ext>
            </a:extLst>
          </p:cNvPr>
          <p:cNvSpPr>
            <a:spLocks noGrp="1"/>
          </p:cNvSpPr>
          <p:nvPr>
            <p:ph type="title"/>
          </p:nvPr>
        </p:nvSpPr>
        <p:spPr/>
        <p:txBody>
          <a:bodyPr/>
          <a:lstStyle/>
          <a:p>
            <a:pPr algn="ctr"/>
            <a:r>
              <a:rPr lang="en-US" b="1" dirty="0"/>
              <a:t>Security Threat</a:t>
            </a:r>
          </a:p>
        </p:txBody>
      </p:sp>
      <p:sp>
        <p:nvSpPr>
          <p:cNvPr id="3" name="Content Placeholder 2">
            <a:extLst>
              <a:ext uri="{FF2B5EF4-FFF2-40B4-BE49-F238E27FC236}">
                <a16:creationId xmlns:a16="http://schemas.microsoft.com/office/drawing/2014/main" id="{83D33062-B608-62A8-F20E-AB2C67B80987}"/>
              </a:ext>
            </a:extLst>
          </p:cNvPr>
          <p:cNvSpPr>
            <a:spLocks noGrp="1"/>
          </p:cNvSpPr>
          <p:nvPr>
            <p:ph idx="1"/>
          </p:nvPr>
        </p:nvSpPr>
        <p:spPr/>
        <p:txBody>
          <a:bodyPr/>
          <a:lstStyle/>
          <a:p>
            <a:r>
              <a:rPr lang="en-US" dirty="0"/>
              <a:t>Security threat is a potential violation of </a:t>
            </a:r>
            <a:r>
              <a:rPr lang="en-US"/>
              <a:t>security or </a:t>
            </a:r>
            <a:r>
              <a:rPr lang="en-US" dirty="0"/>
              <a:t>condition which can cause damage to the system or data.</a:t>
            </a:r>
          </a:p>
          <a:p>
            <a:r>
              <a:rPr lang="en-US" dirty="0"/>
              <a:t>It is a possible danger that might exploit vulnerability</a:t>
            </a:r>
          </a:p>
          <a:p>
            <a:r>
              <a:rPr lang="en-US" dirty="0"/>
              <a:t>Actions that can cause security attacks.</a:t>
            </a:r>
          </a:p>
          <a:p>
            <a:r>
              <a:rPr lang="en-US" dirty="0" err="1"/>
              <a:t>Eg.</a:t>
            </a:r>
            <a:r>
              <a:rPr lang="en-US" dirty="0"/>
              <a:t> Malicious program, natural disaster or thief</a:t>
            </a:r>
          </a:p>
        </p:txBody>
      </p:sp>
    </p:spTree>
    <p:extLst>
      <p:ext uri="{BB962C8B-B14F-4D97-AF65-F5344CB8AC3E}">
        <p14:creationId xmlns:p14="http://schemas.microsoft.com/office/powerpoint/2010/main" val="802462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EBF4C-A71C-D463-5796-643DDEE4EE4F}"/>
              </a:ext>
            </a:extLst>
          </p:cNvPr>
          <p:cNvSpPr>
            <a:spLocks noGrp="1"/>
          </p:cNvSpPr>
          <p:nvPr>
            <p:ph type="title"/>
          </p:nvPr>
        </p:nvSpPr>
        <p:spPr/>
        <p:txBody>
          <a:bodyPr/>
          <a:lstStyle/>
          <a:p>
            <a:pPr algn="ctr"/>
            <a:r>
              <a:rPr lang="en-US" b="1" dirty="0"/>
              <a:t>Security Attack	</a:t>
            </a:r>
          </a:p>
        </p:txBody>
      </p:sp>
      <p:sp>
        <p:nvSpPr>
          <p:cNvPr id="3" name="Content Placeholder 2">
            <a:extLst>
              <a:ext uri="{FF2B5EF4-FFF2-40B4-BE49-F238E27FC236}">
                <a16:creationId xmlns:a16="http://schemas.microsoft.com/office/drawing/2014/main" id="{7E95680D-6A9B-7C92-00CD-1ECC93D88FB2}"/>
              </a:ext>
            </a:extLst>
          </p:cNvPr>
          <p:cNvSpPr>
            <a:spLocks noGrp="1"/>
          </p:cNvSpPr>
          <p:nvPr>
            <p:ph idx="1"/>
          </p:nvPr>
        </p:nvSpPr>
        <p:spPr/>
        <p:txBody>
          <a:bodyPr/>
          <a:lstStyle/>
          <a:p>
            <a:r>
              <a:rPr lang="en-US" dirty="0"/>
              <a:t>It is situation lead by intentional/deliberate action to cause damage to system or data.</a:t>
            </a:r>
          </a:p>
          <a:p>
            <a:r>
              <a:rPr lang="en-US" dirty="0"/>
              <a:t>Attacks on computer hardware could be burglary of vandalism of hardware</a:t>
            </a:r>
          </a:p>
          <a:p>
            <a:r>
              <a:rPr lang="en-US" dirty="0"/>
              <a:t>Attacks on computer software and data may be due to malicious software or due to hacking.</a:t>
            </a:r>
          </a:p>
          <a:p>
            <a:r>
              <a:rPr lang="en-US" dirty="0"/>
              <a:t>Attacks on users could be identity theft and user’s privacy.</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2607832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D529E-1F96-7BA3-0B51-D277B1BAA26A}"/>
              </a:ext>
            </a:extLst>
          </p:cNvPr>
          <p:cNvSpPr>
            <a:spLocks noGrp="1"/>
          </p:cNvSpPr>
          <p:nvPr>
            <p:ph type="title"/>
          </p:nvPr>
        </p:nvSpPr>
        <p:spPr/>
        <p:txBody>
          <a:bodyPr/>
          <a:lstStyle/>
          <a:p>
            <a:r>
              <a:rPr lang="en-US" b="1" dirty="0"/>
              <a:t>Types of Security Attack on the basis of nature</a:t>
            </a:r>
          </a:p>
        </p:txBody>
      </p:sp>
      <p:sp>
        <p:nvSpPr>
          <p:cNvPr id="3" name="Content Placeholder 2">
            <a:extLst>
              <a:ext uri="{FF2B5EF4-FFF2-40B4-BE49-F238E27FC236}">
                <a16:creationId xmlns:a16="http://schemas.microsoft.com/office/drawing/2014/main" id="{B9AE8DFA-9234-A278-95DC-F42CAE6E6C78}"/>
              </a:ext>
            </a:extLst>
          </p:cNvPr>
          <p:cNvSpPr>
            <a:spLocks noGrp="1"/>
          </p:cNvSpPr>
          <p:nvPr>
            <p:ph idx="1"/>
          </p:nvPr>
        </p:nvSpPr>
        <p:spPr/>
        <p:txBody>
          <a:bodyPr/>
          <a:lstStyle/>
          <a:p>
            <a:r>
              <a:rPr lang="en-US" b="1" dirty="0"/>
              <a:t>Active attack</a:t>
            </a:r>
          </a:p>
          <a:p>
            <a:pPr lvl="1"/>
            <a:r>
              <a:rPr lang="en-US" dirty="0"/>
              <a:t>Active attack tries to alter the system resources or affect its operations.</a:t>
            </a:r>
          </a:p>
          <a:p>
            <a:pPr lvl="1"/>
            <a:r>
              <a:rPr lang="en-US" dirty="0"/>
              <a:t>Data Alteration</a:t>
            </a:r>
          </a:p>
          <a:p>
            <a:pPr lvl="1"/>
            <a:r>
              <a:rPr lang="en-US" dirty="0"/>
              <a:t>Active attack may be a masquerade(an entity pretends to be someone else)</a:t>
            </a:r>
          </a:p>
          <a:p>
            <a:pPr lvl="1"/>
            <a:r>
              <a:rPr lang="en-US" dirty="0"/>
              <a:t>Denial of service</a:t>
            </a:r>
          </a:p>
          <a:p>
            <a:pPr lvl="1"/>
            <a:r>
              <a:rPr lang="en-US" dirty="0"/>
              <a:t>Replay( Capture events and replay them)</a:t>
            </a:r>
          </a:p>
          <a:p>
            <a:pPr lvl="1"/>
            <a:endParaRPr lang="en-US" dirty="0"/>
          </a:p>
        </p:txBody>
      </p:sp>
    </p:spTree>
    <p:extLst>
      <p:ext uri="{BB962C8B-B14F-4D97-AF65-F5344CB8AC3E}">
        <p14:creationId xmlns:p14="http://schemas.microsoft.com/office/powerpoint/2010/main" val="1864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FF30B-129F-CE3F-A113-7B832471727A}"/>
              </a:ext>
            </a:extLst>
          </p:cNvPr>
          <p:cNvSpPr>
            <a:spLocks noGrp="1"/>
          </p:cNvSpPr>
          <p:nvPr>
            <p:ph type="title"/>
          </p:nvPr>
        </p:nvSpPr>
        <p:spPr/>
        <p:txBody>
          <a:bodyPr/>
          <a:lstStyle/>
          <a:p>
            <a:r>
              <a:rPr lang="en-US" b="1" dirty="0"/>
              <a:t>Passive Attack</a:t>
            </a:r>
          </a:p>
        </p:txBody>
      </p:sp>
      <p:sp>
        <p:nvSpPr>
          <p:cNvPr id="3" name="Content Placeholder 2">
            <a:extLst>
              <a:ext uri="{FF2B5EF4-FFF2-40B4-BE49-F238E27FC236}">
                <a16:creationId xmlns:a16="http://schemas.microsoft.com/office/drawing/2014/main" id="{AFF92FE6-6D47-CAAD-9C8E-24EFB5126BB4}"/>
              </a:ext>
            </a:extLst>
          </p:cNvPr>
          <p:cNvSpPr>
            <a:spLocks noGrp="1"/>
          </p:cNvSpPr>
          <p:nvPr>
            <p:ph idx="1"/>
          </p:nvPr>
        </p:nvSpPr>
        <p:spPr>
          <a:xfrm>
            <a:off x="2589212" y="1463040"/>
            <a:ext cx="8915400" cy="3777622"/>
          </a:xfrm>
        </p:spPr>
        <p:txBody>
          <a:bodyPr/>
          <a:lstStyle/>
          <a:p>
            <a:r>
              <a:rPr lang="en-US" dirty="0"/>
              <a:t>Interception</a:t>
            </a:r>
          </a:p>
          <a:p>
            <a:pPr lvl="1"/>
            <a:r>
              <a:rPr lang="en-US" dirty="0"/>
              <a:t>Release of message contents</a:t>
            </a:r>
          </a:p>
          <a:p>
            <a:pPr lvl="1"/>
            <a:r>
              <a:rPr lang="en-US" dirty="0"/>
              <a:t>Traffic analysis</a:t>
            </a:r>
          </a:p>
          <a:p>
            <a:pPr lvl="1"/>
            <a:r>
              <a:rPr lang="en-US" dirty="0"/>
              <a:t>Hard to detect but comparatively easy to prevent</a:t>
            </a:r>
          </a:p>
        </p:txBody>
      </p:sp>
      <p:pic>
        <p:nvPicPr>
          <p:cNvPr id="5" name="Picture 4">
            <a:extLst>
              <a:ext uri="{FF2B5EF4-FFF2-40B4-BE49-F238E27FC236}">
                <a16:creationId xmlns:a16="http://schemas.microsoft.com/office/drawing/2014/main" id="{3F3FD72A-112B-AB7D-A288-68384D3FA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559" y="3740481"/>
            <a:ext cx="5566881" cy="2807321"/>
          </a:xfrm>
          <a:prstGeom prst="rect">
            <a:avLst/>
          </a:prstGeom>
        </p:spPr>
      </p:pic>
    </p:spTree>
    <p:extLst>
      <p:ext uri="{BB962C8B-B14F-4D97-AF65-F5344CB8AC3E}">
        <p14:creationId xmlns:p14="http://schemas.microsoft.com/office/powerpoint/2010/main" val="2084220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9FE623-9D14-16C5-B1AA-0B1907607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5202" y="508000"/>
            <a:ext cx="8832916" cy="5261610"/>
          </a:xfrm>
        </p:spPr>
      </p:pic>
    </p:spTree>
    <p:extLst>
      <p:ext uri="{BB962C8B-B14F-4D97-AF65-F5344CB8AC3E}">
        <p14:creationId xmlns:p14="http://schemas.microsoft.com/office/powerpoint/2010/main" val="18900382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92CD9-4798-3EDF-3E5C-A8FE86806844}"/>
              </a:ext>
            </a:extLst>
          </p:cNvPr>
          <p:cNvSpPr>
            <a:spLocks noGrp="1"/>
          </p:cNvSpPr>
          <p:nvPr>
            <p:ph type="title"/>
          </p:nvPr>
        </p:nvSpPr>
        <p:spPr/>
        <p:txBody>
          <a:bodyPr/>
          <a:lstStyle/>
          <a:p>
            <a:pPr algn="ctr"/>
            <a:r>
              <a:rPr lang="en-US" b="1" dirty="0"/>
              <a:t>Malicious Software</a:t>
            </a:r>
          </a:p>
        </p:txBody>
      </p:sp>
      <p:sp>
        <p:nvSpPr>
          <p:cNvPr id="3" name="Content Placeholder 2">
            <a:extLst>
              <a:ext uri="{FF2B5EF4-FFF2-40B4-BE49-F238E27FC236}">
                <a16:creationId xmlns:a16="http://schemas.microsoft.com/office/drawing/2014/main" id="{D529174D-E28A-BAA2-C5C2-FE74F552C21D}"/>
              </a:ext>
            </a:extLst>
          </p:cNvPr>
          <p:cNvSpPr>
            <a:spLocks noGrp="1"/>
          </p:cNvSpPr>
          <p:nvPr>
            <p:ph idx="1"/>
          </p:nvPr>
        </p:nvSpPr>
        <p:spPr/>
        <p:txBody>
          <a:bodyPr/>
          <a:lstStyle/>
          <a:p>
            <a:r>
              <a:rPr lang="en-US" dirty="0"/>
              <a:t>Software/program that are intentionally created to effect normal functioning of system and data.</a:t>
            </a:r>
          </a:p>
          <a:p>
            <a:r>
              <a:rPr lang="en-US" dirty="0"/>
              <a:t>Types of malicious software</a:t>
            </a:r>
          </a:p>
          <a:p>
            <a:pPr lvl="1"/>
            <a:r>
              <a:rPr lang="en-US" dirty="0"/>
              <a:t>Virus</a:t>
            </a:r>
          </a:p>
          <a:p>
            <a:pPr lvl="1"/>
            <a:r>
              <a:rPr lang="en-US" dirty="0"/>
              <a:t>Worm</a:t>
            </a:r>
          </a:p>
          <a:p>
            <a:pPr lvl="1"/>
            <a:r>
              <a:rPr lang="en-US" dirty="0"/>
              <a:t>Trojan Horse</a:t>
            </a:r>
          </a:p>
          <a:p>
            <a:pPr lvl="1"/>
            <a:r>
              <a:rPr lang="en-US" dirty="0"/>
              <a:t>Ransomware</a:t>
            </a:r>
          </a:p>
          <a:p>
            <a:pPr lvl="1"/>
            <a:r>
              <a:rPr lang="en-US" dirty="0"/>
              <a:t>Spyware</a:t>
            </a:r>
          </a:p>
          <a:p>
            <a:pPr lvl="1"/>
            <a:r>
              <a:rPr lang="en-US" dirty="0"/>
              <a:t>Adware</a:t>
            </a:r>
          </a:p>
          <a:p>
            <a:pPr lvl="1"/>
            <a:r>
              <a:rPr lang="en-US" dirty="0"/>
              <a:t>Keyloggers</a:t>
            </a:r>
          </a:p>
        </p:txBody>
      </p:sp>
    </p:spTree>
    <p:extLst>
      <p:ext uri="{BB962C8B-B14F-4D97-AF65-F5344CB8AC3E}">
        <p14:creationId xmlns:p14="http://schemas.microsoft.com/office/powerpoint/2010/main" val="35535914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B3ADC-9224-2325-342F-7F8BD6595958}"/>
              </a:ext>
            </a:extLst>
          </p:cNvPr>
          <p:cNvSpPr>
            <a:spLocks noGrp="1"/>
          </p:cNvSpPr>
          <p:nvPr>
            <p:ph type="title"/>
          </p:nvPr>
        </p:nvSpPr>
        <p:spPr/>
        <p:txBody>
          <a:bodyPr/>
          <a:lstStyle/>
          <a:p>
            <a:pPr algn="ctr"/>
            <a:r>
              <a:rPr lang="en-US" b="1" dirty="0"/>
              <a:t>Virus</a:t>
            </a:r>
          </a:p>
        </p:txBody>
      </p:sp>
      <p:sp>
        <p:nvSpPr>
          <p:cNvPr id="3" name="Content Placeholder 2">
            <a:extLst>
              <a:ext uri="{FF2B5EF4-FFF2-40B4-BE49-F238E27FC236}">
                <a16:creationId xmlns:a16="http://schemas.microsoft.com/office/drawing/2014/main" id="{271B0160-0714-B7AF-CF93-6B054B7C4B85}"/>
              </a:ext>
            </a:extLst>
          </p:cNvPr>
          <p:cNvSpPr>
            <a:spLocks noGrp="1"/>
          </p:cNvSpPr>
          <p:nvPr>
            <p:ph idx="1"/>
          </p:nvPr>
        </p:nvSpPr>
        <p:spPr/>
        <p:txBody>
          <a:bodyPr>
            <a:normAutofit fontScale="92500" lnSpcReduction="10000"/>
          </a:bodyPr>
          <a:lstStyle/>
          <a:p>
            <a:r>
              <a:rPr lang="en-US" dirty="0"/>
              <a:t>Virus is computer program created to damage the software application and tamper the data or files on the computer.</a:t>
            </a:r>
          </a:p>
          <a:p>
            <a:r>
              <a:rPr lang="en-US" b="1" dirty="0"/>
              <a:t>Properties of virus</a:t>
            </a:r>
          </a:p>
          <a:p>
            <a:pPr lvl="1">
              <a:buFont typeface="Wingdings" panose="05000000000000000000" pitchFamily="2" charset="2"/>
              <a:buChar char="|"/>
            </a:pPr>
            <a:r>
              <a:rPr lang="en-US" dirty="0"/>
              <a:t>It can attach itself to other (host)healthy programs</a:t>
            </a:r>
          </a:p>
          <a:p>
            <a:pPr lvl="1">
              <a:buFont typeface="Wingdings" panose="05000000000000000000" pitchFamily="2" charset="2"/>
              <a:buChar char="|"/>
            </a:pPr>
            <a:r>
              <a:rPr lang="en-US" dirty="0"/>
              <a:t>It can replicate itself and thus can spread across a network</a:t>
            </a:r>
          </a:p>
          <a:p>
            <a:pPr marL="457200" lvl="1" indent="0">
              <a:buNone/>
            </a:pPr>
            <a:endParaRPr lang="en-US" dirty="0"/>
          </a:p>
          <a:p>
            <a:pPr marL="0" lvl="1" indent="457200">
              <a:buFont typeface="Wingdings" panose="05000000000000000000" pitchFamily="2" charset="2"/>
              <a:buChar char="q"/>
            </a:pPr>
            <a:r>
              <a:rPr lang="en-US" dirty="0"/>
              <a:t>Virus are most easily spread by attachments in email messages and also spread through download o the Internet.</a:t>
            </a:r>
          </a:p>
          <a:p>
            <a:pPr marL="0" lvl="1" indent="457200">
              <a:buFont typeface="Wingdings" panose="05000000000000000000" pitchFamily="2" charset="2"/>
              <a:buChar char="q"/>
            </a:pPr>
            <a:r>
              <a:rPr lang="en-US" dirty="0"/>
              <a:t>Once targeted application get infected, it changes the values of application and insert its own new code leading to malfunction of application</a:t>
            </a:r>
          </a:p>
          <a:p>
            <a:pPr marL="0" lvl="1" indent="457200">
              <a:buFont typeface="Wingdings" panose="05000000000000000000" pitchFamily="2" charset="2"/>
              <a:buChar char="q"/>
            </a:pPr>
            <a:r>
              <a:rPr lang="en-US" dirty="0"/>
              <a:t>And so does manipulate the data files and delete in some cases too</a:t>
            </a:r>
          </a:p>
          <a:p>
            <a:pPr marL="0" lvl="1" indent="457200">
              <a:buFont typeface="Wingdings" panose="05000000000000000000" pitchFamily="2" charset="2"/>
              <a:buChar char="q"/>
            </a:pPr>
            <a:r>
              <a:rPr lang="en-US" dirty="0" err="1"/>
              <a:t>Eg.</a:t>
            </a:r>
            <a:r>
              <a:rPr lang="en-US" dirty="0"/>
              <a:t> Melissa Virus and I Love you Virus</a:t>
            </a:r>
          </a:p>
          <a:p>
            <a:pPr marL="457200" lvl="1" indent="0">
              <a:buNone/>
            </a:pPr>
            <a:endParaRPr lang="en-US" dirty="0"/>
          </a:p>
        </p:txBody>
      </p:sp>
      <p:pic>
        <p:nvPicPr>
          <p:cNvPr id="5" name="Picture 4">
            <a:extLst>
              <a:ext uri="{FF2B5EF4-FFF2-40B4-BE49-F238E27FC236}">
                <a16:creationId xmlns:a16="http://schemas.microsoft.com/office/drawing/2014/main" id="{161B3C12-B287-24C4-219B-C80F8A17C58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77948" y="217806"/>
            <a:ext cx="2947899" cy="1801494"/>
          </a:xfrm>
          <a:prstGeom prst="rect">
            <a:avLst/>
          </a:prstGeom>
        </p:spPr>
      </p:pic>
    </p:spTree>
    <p:extLst>
      <p:ext uri="{BB962C8B-B14F-4D97-AF65-F5344CB8AC3E}">
        <p14:creationId xmlns:p14="http://schemas.microsoft.com/office/powerpoint/2010/main" val="30139771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0442-D663-A309-C135-EBA88ECF5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AA182B-9E18-5D68-F711-F99A4005FFAB}"/>
              </a:ext>
            </a:extLst>
          </p:cNvPr>
          <p:cNvSpPr>
            <a:spLocks noGrp="1"/>
          </p:cNvSpPr>
          <p:nvPr>
            <p:ph type="title"/>
          </p:nvPr>
        </p:nvSpPr>
        <p:spPr/>
        <p:txBody>
          <a:bodyPr/>
          <a:lstStyle/>
          <a:p>
            <a:pPr algn="ctr"/>
            <a:r>
              <a:rPr lang="en-US" b="1" dirty="0"/>
              <a:t>Worm</a:t>
            </a:r>
          </a:p>
        </p:txBody>
      </p:sp>
      <p:sp>
        <p:nvSpPr>
          <p:cNvPr id="3" name="Content Placeholder 2">
            <a:extLst>
              <a:ext uri="{FF2B5EF4-FFF2-40B4-BE49-F238E27FC236}">
                <a16:creationId xmlns:a16="http://schemas.microsoft.com/office/drawing/2014/main" id="{6D8B5869-E2E3-684A-B8AB-C9CC37D4B6FD}"/>
              </a:ext>
            </a:extLst>
          </p:cNvPr>
          <p:cNvSpPr>
            <a:spLocks noGrp="1"/>
          </p:cNvSpPr>
          <p:nvPr>
            <p:ph idx="1"/>
          </p:nvPr>
        </p:nvSpPr>
        <p:spPr/>
        <p:txBody>
          <a:bodyPr/>
          <a:lstStyle/>
          <a:p>
            <a:pPr marL="457200" lvl="1" indent="0">
              <a:buNone/>
            </a:pPr>
            <a:r>
              <a:rPr lang="en-US" dirty="0"/>
              <a:t>Worm is self replicating program that is spread in network through loopholes. It does no effect the data or any application but it makes duplicates to the extent that the storage of computer becomes full which makes computer slow in operation or unfunctional.</a:t>
            </a:r>
          </a:p>
          <a:p>
            <a:pPr marL="457200" lvl="1" indent="0">
              <a:buNone/>
            </a:pPr>
            <a:r>
              <a:rPr lang="en-US" dirty="0"/>
              <a:t>Ex. Code Red, </a:t>
            </a:r>
            <a:r>
              <a:rPr lang="en-US" dirty="0" err="1"/>
              <a:t>Nimda</a:t>
            </a:r>
            <a:endParaRPr lang="en-US" dirty="0"/>
          </a:p>
        </p:txBody>
      </p:sp>
      <p:pic>
        <p:nvPicPr>
          <p:cNvPr id="5" name="Picture 4">
            <a:extLst>
              <a:ext uri="{FF2B5EF4-FFF2-40B4-BE49-F238E27FC236}">
                <a16:creationId xmlns:a16="http://schemas.microsoft.com/office/drawing/2014/main" id="{8C399F74-5C76-7953-35C5-2C3F6292F30B}"/>
              </a:ext>
            </a:extLst>
          </p:cNvPr>
          <p:cNvPicPr>
            <a:picLocks noChangeAspect="1"/>
          </p:cNvPicPr>
          <p:nvPr/>
        </p:nvPicPr>
        <p:blipFill rotWithShape="1">
          <a:blip r:embed="rId2">
            <a:extLst>
              <a:ext uri="{28A0092B-C50C-407E-A947-70E740481C1C}">
                <a14:useLocalDpi xmlns:a14="http://schemas.microsoft.com/office/drawing/2010/main" val="0"/>
              </a:ext>
            </a:extLst>
          </a:blip>
          <a:srcRect l="39333" t="18442" r="7667" b="11158"/>
          <a:stretch/>
        </p:blipFill>
        <p:spPr>
          <a:xfrm>
            <a:off x="6878416" y="3088640"/>
            <a:ext cx="5090063" cy="3543942"/>
          </a:xfrm>
          <a:prstGeom prst="rect">
            <a:avLst/>
          </a:prstGeom>
        </p:spPr>
      </p:pic>
    </p:spTree>
    <p:extLst>
      <p:ext uri="{BB962C8B-B14F-4D97-AF65-F5344CB8AC3E}">
        <p14:creationId xmlns:p14="http://schemas.microsoft.com/office/powerpoint/2010/main" val="1135647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0F2FD-8F06-34A0-3DCD-F1826CEF426B}"/>
              </a:ext>
            </a:extLst>
          </p:cNvPr>
          <p:cNvSpPr>
            <a:spLocks noGrp="1"/>
          </p:cNvSpPr>
          <p:nvPr>
            <p:ph type="title"/>
          </p:nvPr>
        </p:nvSpPr>
        <p:spPr/>
        <p:txBody>
          <a:bodyPr/>
          <a:lstStyle/>
          <a:p>
            <a:pPr algn="ctr"/>
            <a:r>
              <a:rPr lang="en-US" b="1" dirty="0"/>
              <a:t>Trojan Horse</a:t>
            </a:r>
          </a:p>
        </p:txBody>
      </p:sp>
      <p:sp>
        <p:nvSpPr>
          <p:cNvPr id="3" name="Content Placeholder 2">
            <a:extLst>
              <a:ext uri="{FF2B5EF4-FFF2-40B4-BE49-F238E27FC236}">
                <a16:creationId xmlns:a16="http://schemas.microsoft.com/office/drawing/2014/main" id="{1E9C0C49-2B6C-39DB-DEAB-38146EB5B178}"/>
              </a:ext>
            </a:extLst>
          </p:cNvPr>
          <p:cNvSpPr>
            <a:spLocks noGrp="1"/>
          </p:cNvSpPr>
          <p:nvPr>
            <p:ph idx="1"/>
          </p:nvPr>
        </p:nvSpPr>
        <p:spPr/>
        <p:txBody>
          <a:bodyPr/>
          <a:lstStyle/>
          <a:p>
            <a:r>
              <a:rPr lang="en-US" dirty="0"/>
              <a:t>It is malicious program that disguise itself as an legitimate application and gets activated only when it is executed.</a:t>
            </a:r>
            <a:br>
              <a:rPr lang="en-US" dirty="0"/>
            </a:br>
            <a:endParaRPr lang="en-US" dirty="0"/>
          </a:p>
          <a:p>
            <a:r>
              <a:rPr lang="en-US" dirty="0"/>
              <a:t>It cannot replicate itself like virus and worms.</a:t>
            </a:r>
          </a:p>
          <a:p>
            <a:pPr marL="0" indent="0">
              <a:buNone/>
            </a:pPr>
            <a:endParaRPr lang="en-US" dirty="0"/>
          </a:p>
        </p:txBody>
      </p:sp>
      <p:pic>
        <p:nvPicPr>
          <p:cNvPr id="5" name="Picture 4">
            <a:extLst>
              <a:ext uri="{FF2B5EF4-FFF2-40B4-BE49-F238E27FC236}">
                <a16:creationId xmlns:a16="http://schemas.microsoft.com/office/drawing/2014/main" id="{09B3AC80-2DB2-279A-BE1E-A29BAA3BFD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1777" y="3429000"/>
            <a:ext cx="2772991" cy="3297238"/>
          </a:xfrm>
          <a:prstGeom prst="rect">
            <a:avLst/>
          </a:prstGeom>
        </p:spPr>
      </p:pic>
    </p:spTree>
    <p:extLst>
      <p:ext uri="{BB962C8B-B14F-4D97-AF65-F5344CB8AC3E}">
        <p14:creationId xmlns:p14="http://schemas.microsoft.com/office/powerpoint/2010/main" val="4194364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CD2A-B22F-6AD7-2234-35393DB7D1D5}"/>
              </a:ext>
            </a:extLst>
          </p:cNvPr>
          <p:cNvSpPr>
            <a:spLocks noGrp="1"/>
          </p:cNvSpPr>
          <p:nvPr>
            <p:ph type="title"/>
          </p:nvPr>
        </p:nvSpPr>
        <p:spPr/>
        <p:txBody>
          <a:bodyPr/>
          <a:lstStyle/>
          <a:p>
            <a:pPr algn="ctr"/>
            <a:r>
              <a:rPr lang="en-US" b="1" dirty="0"/>
              <a:t>Ransomware</a:t>
            </a:r>
          </a:p>
        </p:txBody>
      </p:sp>
      <p:pic>
        <p:nvPicPr>
          <p:cNvPr id="7" name="Picture 6">
            <a:extLst>
              <a:ext uri="{FF2B5EF4-FFF2-40B4-BE49-F238E27FC236}">
                <a16:creationId xmlns:a16="http://schemas.microsoft.com/office/drawing/2014/main" id="{766886F9-C780-021B-9F0D-7195ED9012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517" y="1447435"/>
            <a:ext cx="7248564" cy="5138222"/>
          </a:xfrm>
          <a:prstGeom prst="rect">
            <a:avLst/>
          </a:prstGeom>
        </p:spPr>
      </p:pic>
    </p:spTree>
    <p:extLst>
      <p:ext uri="{BB962C8B-B14F-4D97-AF65-F5344CB8AC3E}">
        <p14:creationId xmlns:p14="http://schemas.microsoft.com/office/powerpoint/2010/main" val="876947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73DFE-9B07-0873-7DD4-B7EC2CCCC4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7ED4D-74A5-6F47-DD95-BE8A65C4B706}"/>
              </a:ext>
            </a:extLst>
          </p:cNvPr>
          <p:cNvSpPr>
            <a:spLocks noGrp="1"/>
          </p:cNvSpPr>
          <p:nvPr>
            <p:ph type="title"/>
          </p:nvPr>
        </p:nvSpPr>
        <p:spPr/>
        <p:txBody>
          <a:bodyPr/>
          <a:lstStyle/>
          <a:p>
            <a:pPr algn="ctr"/>
            <a:r>
              <a:rPr lang="en-US" b="1" dirty="0"/>
              <a:t>Ransomware</a:t>
            </a:r>
          </a:p>
        </p:txBody>
      </p:sp>
      <p:sp>
        <p:nvSpPr>
          <p:cNvPr id="4" name="Content Placeholder 3">
            <a:extLst>
              <a:ext uri="{FF2B5EF4-FFF2-40B4-BE49-F238E27FC236}">
                <a16:creationId xmlns:a16="http://schemas.microsoft.com/office/drawing/2014/main" id="{FA8A9CFB-1048-F81D-97FB-62ED6187FBFA}"/>
              </a:ext>
            </a:extLst>
          </p:cNvPr>
          <p:cNvSpPr>
            <a:spLocks noGrp="1"/>
          </p:cNvSpPr>
          <p:nvPr>
            <p:ph idx="1"/>
          </p:nvPr>
        </p:nvSpPr>
        <p:spPr/>
        <p:txBody>
          <a:bodyPr/>
          <a:lstStyle/>
          <a:p>
            <a:r>
              <a:rPr lang="en-US" dirty="0"/>
              <a:t>Ransomware is a type of malware that locks and encrypts a victim’s data, files, devices or systems, rendering them inaccessible and unusable until the attacker receives a ransom payment.</a:t>
            </a:r>
          </a:p>
          <a:p>
            <a:r>
              <a:rPr lang="en-US" dirty="0"/>
              <a:t>It changes the extension of all the files of the victim’s computer and adds new file with the information of being data hijacked.</a:t>
            </a:r>
          </a:p>
          <a:p>
            <a:r>
              <a:rPr lang="en-US" dirty="0"/>
              <a:t>There is still not guarantee that our data will be recovered even if we pay those ransom in mention account</a:t>
            </a:r>
          </a:p>
        </p:txBody>
      </p:sp>
      <p:pic>
        <p:nvPicPr>
          <p:cNvPr id="9" name="Picture 8">
            <a:extLst>
              <a:ext uri="{FF2B5EF4-FFF2-40B4-BE49-F238E27FC236}">
                <a16:creationId xmlns:a16="http://schemas.microsoft.com/office/drawing/2014/main" id="{AA10BFED-23DB-4FAD-E001-4CF9010D82D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25460" y="4568480"/>
            <a:ext cx="3700780" cy="1952970"/>
          </a:xfrm>
          <a:prstGeom prst="rect">
            <a:avLst/>
          </a:prstGeom>
        </p:spPr>
      </p:pic>
    </p:spTree>
    <p:extLst>
      <p:ext uri="{BB962C8B-B14F-4D97-AF65-F5344CB8AC3E}">
        <p14:creationId xmlns:p14="http://schemas.microsoft.com/office/powerpoint/2010/main" val="3285545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35E5F-7264-26C7-BD3C-848A7790B184}"/>
              </a:ext>
            </a:extLst>
          </p:cNvPr>
          <p:cNvSpPr>
            <a:spLocks noGrp="1"/>
          </p:cNvSpPr>
          <p:nvPr>
            <p:ph type="title"/>
          </p:nvPr>
        </p:nvSpPr>
        <p:spPr/>
        <p:txBody>
          <a:bodyPr/>
          <a:lstStyle/>
          <a:p>
            <a:pPr algn="ctr"/>
            <a:r>
              <a:rPr lang="en-US" b="1" dirty="0"/>
              <a:t>Spyware</a:t>
            </a:r>
          </a:p>
        </p:txBody>
      </p:sp>
      <p:sp>
        <p:nvSpPr>
          <p:cNvPr id="3" name="Content Placeholder 2">
            <a:extLst>
              <a:ext uri="{FF2B5EF4-FFF2-40B4-BE49-F238E27FC236}">
                <a16:creationId xmlns:a16="http://schemas.microsoft.com/office/drawing/2014/main" id="{2341B843-CEDA-EDBC-54F1-836DB9F75057}"/>
              </a:ext>
            </a:extLst>
          </p:cNvPr>
          <p:cNvSpPr>
            <a:spLocks noGrp="1"/>
          </p:cNvSpPr>
          <p:nvPr>
            <p:ph idx="1"/>
          </p:nvPr>
        </p:nvSpPr>
        <p:spPr/>
        <p:txBody>
          <a:bodyPr/>
          <a:lstStyle/>
          <a:p>
            <a:r>
              <a:rPr lang="en-US" dirty="0"/>
              <a:t>Spyware is malicious software that enters the users computer and gather information from user and send it to third party without user’s consent.</a:t>
            </a:r>
          </a:p>
          <a:p>
            <a:endParaRPr lang="en-US" dirty="0"/>
          </a:p>
        </p:txBody>
      </p:sp>
      <p:pic>
        <p:nvPicPr>
          <p:cNvPr id="5" name="Picture 4">
            <a:extLst>
              <a:ext uri="{FF2B5EF4-FFF2-40B4-BE49-F238E27FC236}">
                <a16:creationId xmlns:a16="http://schemas.microsoft.com/office/drawing/2014/main" id="{59591FB0-0E8E-DBD7-41F6-317AE3554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2592" y="3251200"/>
            <a:ext cx="8168640" cy="3063240"/>
          </a:xfrm>
          <a:prstGeom prst="rect">
            <a:avLst/>
          </a:prstGeom>
        </p:spPr>
      </p:pic>
    </p:spTree>
    <p:extLst>
      <p:ext uri="{BB962C8B-B14F-4D97-AF65-F5344CB8AC3E}">
        <p14:creationId xmlns:p14="http://schemas.microsoft.com/office/powerpoint/2010/main" val="2007408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ADEEC-5200-486A-E492-F531C7197671}"/>
              </a:ext>
            </a:extLst>
          </p:cNvPr>
          <p:cNvSpPr>
            <a:spLocks noGrp="1"/>
          </p:cNvSpPr>
          <p:nvPr>
            <p:ph type="title"/>
          </p:nvPr>
        </p:nvSpPr>
        <p:spPr/>
        <p:txBody>
          <a:bodyPr/>
          <a:lstStyle/>
          <a:p>
            <a:pPr algn="ctr"/>
            <a:r>
              <a:rPr lang="en-US" b="1" dirty="0"/>
              <a:t>Adware</a:t>
            </a:r>
          </a:p>
        </p:txBody>
      </p:sp>
      <p:pic>
        <p:nvPicPr>
          <p:cNvPr id="5" name="Content Placeholder 4">
            <a:extLst>
              <a:ext uri="{FF2B5EF4-FFF2-40B4-BE49-F238E27FC236}">
                <a16:creationId xmlns:a16="http://schemas.microsoft.com/office/drawing/2014/main" id="{BE6E3583-B47F-7679-EF0E-377604CC23CF}"/>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024313" y="2133600"/>
            <a:ext cx="6045200" cy="3778250"/>
          </a:xfrm>
        </p:spPr>
      </p:pic>
    </p:spTree>
    <p:extLst>
      <p:ext uri="{BB962C8B-B14F-4D97-AF65-F5344CB8AC3E}">
        <p14:creationId xmlns:p14="http://schemas.microsoft.com/office/powerpoint/2010/main" val="2030698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1823-8B87-8D7E-F214-BC0C86435A8E}"/>
              </a:ext>
            </a:extLst>
          </p:cNvPr>
          <p:cNvSpPr>
            <a:spLocks noGrp="1"/>
          </p:cNvSpPr>
          <p:nvPr>
            <p:ph type="title"/>
          </p:nvPr>
        </p:nvSpPr>
        <p:spPr/>
        <p:txBody>
          <a:bodyPr/>
          <a:lstStyle/>
          <a:p>
            <a:pPr algn="ctr"/>
            <a:r>
              <a:rPr lang="en-US" b="1" dirty="0"/>
              <a:t>Keylogger</a:t>
            </a:r>
          </a:p>
        </p:txBody>
      </p:sp>
      <p:sp>
        <p:nvSpPr>
          <p:cNvPr id="3" name="Content Placeholder 2">
            <a:extLst>
              <a:ext uri="{FF2B5EF4-FFF2-40B4-BE49-F238E27FC236}">
                <a16:creationId xmlns:a16="http://schemas.microsoft.com/office/drawing/2014/main" id="{FC5ED610-7DC0-19E7-4517-1E9CA6A1A9BC}"/>
              </a:ext>
            </a:extLst>
          </p:cNvPr>
          <p:cNvSpPr>
            <a:spLocks noGrp="1"/>
          </p:cNvSpPr>
          <p:nvPr>
            <p:ph idx="1"/>
          </p:nvPr>
        </p:nvSpPr>
        <p:spPr/>
        <p:txBody>
          <a:bodyPr/>
          <a:lstStyle/>
          <a:p>
            <a:r>
              <a:rPr lang="en-US" dirty="0"/>
              <a:t>Keylogger is application that records or track the keystrokes/Keypress activities. While there are legitimate use of this application but it can very dangerous on hands of bad intentioned user.</a:t>
            </a:r>
          </a:p>
        </p:txBody>
      </p:sp>
      <p:pic>
        <p:nvPicPr>
          <p:cNvPr id="7" name="Picture 6">
            <a:extLst>
              <a:ext uri="{FF2B5EF4-FFF2-40B4-BE49-F238E27FC236}">
                <a16:creationId xmlns:a16="http://schemas.microsoft.com/office/drawing/2014/main" id="{973DD77E-F5FE-DC2A-B104-24D4389F1E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0500" y="3124736"/>
            <a:ext cx="3690620" cy="3453863"/>
          </a:xfrm>
          <a:prstGeom prst="rect">
            <a:avLst/>
          </a:prstGeom>
        </p:spPr>
      </p:pic>
      <p:pic>
        <p:nvPicPr>
          <p:cNvPr id="9" name="Picture 8">
            <a:extLst>
              <a:ext uri="{FF2B5EF4-FFF2-40B4-BE49-F238E27FC236}">
                <a16:creationId xmlns:a16="http://schemas.microsoft.com/office/drawing/2014/main" id="{DC58C9C5-1C25-B321-4CC8-1F694C6C6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7338" y="3124736"/>
            <a:ext cx="4752975" cy="2571750"/>
          </a:xfrm>
          <a:prstGeom prst="rect">
            <a:avLst/>
          </a:prstGeom>
        </p:spPr>
      </p:pic>
    </p:spTree>
    <p:extLst>
      <p:ext uri="{BB962C8B-B14F-4D97-AF65-F5344CB8AC3E}">
        <p14:creationId xmlns:p14="http://schemas.microsoft.com/office/powerpoint/2010/main" val="39033479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18750-5382-9AF1-1B00-62340F439F61}"/>
              </a:ext>
            </a:extLst>
          </p:cNvPr>
          <p:cNvSpPr>
            <a:spLocks noGrp="1"/>
          </p:cNvSpPr>
          <p:nvPr>
            <p:ph type="title"/>
          </p:nvPr>
        </p:nvSpPr>
        <p:spPr/>
        <p:txBody>
          <a:bodyPr/>
          <a:lstStyle/>
          <a:p>
            <a:pPr algn="ctr"/>
            <a:r>
              <a:rPr lang="en-US" b="1" dirty="0"/>
              <a:t>Security Services</a:t>
            </a:r>
          </a:p>
        </p:txBody>
      </p:sp>
      <p:sp>
        <p:nvSpPr>
          <p:cNvPr id="3" name="Content Placeholder 2">
            <a:extLst>
              <a:ext uri="{FF2B5EF4-FFF2-40B4-BE49-F238E27FC236}">
                <a16:creationId xmlns:a16="http://schemas.microsoft.com/office/drawing/2014/main" id="{126C93F8-3EDE-50D3-9400-EA3F77169EDD}"/>
              </a:ext>
            </a:extLst>
          </p:cNvPr>
          <p:cNvSpPr>
            <a:spLocks noGrp="1"/>
          </p:cNvSpPr>
          <p:nvPr>
            <p:ph idx="1"/>
          </p:nvPr>
        </p:nvSpPr>
        <p:spPr/>
        <p:txBody>
          <a:bodyPr/>
          <a:lstStyle/>
          <a:p>
            <a:r>
              <a:rPr lang="en-US" dirty="0"/>
              <a:t>Security services provide specific kind </a:t>
            </a:r>
            <a:r>
              <a:rPr lang="en-US"/>
              <a:t>of protection </a:t>
            </a:r>
            <a:r>
              <a:rPr lang="en-US" dirty="0"/>
              <a:t>to system resources.</a:t>
            </a:r>
          </a:p>
          <a:p>
            <a:r>
              <a:rPr lang="en-US" dirty="0"/>
              <a:t>Security services ensures</a:t>
            </a:r>
          </a:p>
          <a:p>
            <a:pPr lvl="1"/>
            <a:r>
              <a:rPr lang="en-US" dirty="0"/>
              <a:t>Confidentiality</a:t>
            </a:r>
          </a:p>
          <a:p>
            <a:pPr lvl="1"/>
            <a:r>
              <a:rPr lang="en-US" dirty="0"/>
              <a:t>Integrity</a:t>
            </a:r>
          </a:p>
          <a:p>
            <a:pPr lvl="1"/>
            <a:r>
              <a:rPr lang="en-US" dirty="0"/>
              <a:t>Authentication</a:t>
            </a:r>
          </a:p>
          <a:p>
            <a:pPr lvl="1"/>
            <a:r>
              <a:rPr lang="en-US" dirty="0"/>
              <a:t>Non Repudiation</a:t>
            </a:r>
          </a:p>
          <a:p>
            <a:pPr lvl="1"/>
            <a:r>
              <a:rPr lang="en-US" dirty="0"/>
              <a:t>Access Control</a:t>
            </a:r>
          </a:p>
          <a:p>
            <a:pPr lvl="1"/>
            <a:r>
              <a:rPr lang="en-US" dirty="0"/>
              <a:t>Availability of resources</a:t>
            </a:r>
          </a:p>
        </p:txBody>
      </p:sp>
    </p:spTree>
    <p:extLst>
      <p:ext uri="{BB962C8B-B14F-4D97-AF65-F5344CB8AC3E}">
        <p14:creationId xmlns:p14="http://schemas.microsoft.com/office/powerpoint/2010/main" val="1337858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Confidentiality</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lstStyle/>
          <a:p>
            <a:r>
              <a:rPr lang="en-US" dirty="0"/>
              <a:t>This aspect ensures availability of information to only authorized users. In other words, it is the protection of data from unauthorized disclosure.</a:t>
            </a:r>
          </a:p>
          <a:p>
            <a:r>
              <a:rPr lang="en-US" dirty="0"/>
              <a:t>It ensures privacy of data stored on a server or while transmission on network from being intercepted or stolen by unauthorized users.</a:t>
            </a:r>
          </a:p>
          <a:p>
            <a:r>
              <a:rPr lang="en-US" dirty="0"/>
              <a:t>Data encryption is used for ensuring confidentiality.</a:t>
            </a:r>
          </a:p>
          <a:p>
            <a:r>
              <a:rPr lang="en-US" dirty="0"/>
              <a:t>Data encryption stores or transmits data in a form that unauthorized users cannot understand. </a:t>
            </a:r>
          </a:p>
        </p:txBody>
      </p:sp>
    </p:spTree>
    <p:extLst>
      <p:ext uri="{BB962C8B-B14F-4D97-AF65-F5344CB8AC3E}">
        <p14:creationId xmlns:p14="http://schemas.microsoft.com/office/powerpoint/2010/main" val="774312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Integrity</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lstStyle/>
          <a:p>
            <a:r>
              <a:rPr lang="en-US" dirty="0"/>
              <a:t>It assures that the received data is exactly as sent by the sender.</a:t>
            </a:r>
            <a:br>
              <a:rPr lang="en-US" dirty="0"/>
            </a:br>
            <a:endParaRPr lang="en-US" dirty="0"/>
          </a:p>
          <a:p>
            <a:r>
              <a:rPr lang="en-US" dirty="0"/>
              <a:t>It ensures data has not been tampered before reaching the intended recipient.</a:t>
            </a:r>
          </a:p>
          <a:p>
            <a:endParaRPr lang="en-US" dirty="0"/>
          </a:p>
          <a:p>
            <a:r>
              <a:rPr lang="en-US" dirty="0"/>
              <a:t>It also ensures the accuracy of data during storing and retrieving information</a:t>
            </a:r>
          </a:p>
        </p:txBody>
      </p:sp>
    </p:spTree>
    <p:extLst>
      <p:ext uri="{BB962C8B-B14F-4D97-AF65-F5344CB8AC3E}">
        <p14:creationId xmlns:p14="http://schemas.microsoft.com/office/powerpoint/2010/main" val="3566661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Authentication</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lstStyle/>
          <a:p>
            <a:r>
              <a:rPr lang="en-US" dirty="0"/>
              <a:t>Authentication is the process of ensuring and confirming the identity of the user before revealing any information to the user.</a:t>
            </a:r>
          </a:p>
          <a:p>
            <a:r>
              <a:rPr lang="en-US" dirty="0"/>
              <a:t>It also assures that the source of the received data is as claimed.</a:t>
            </a:r>
          </a:p>
          <a:p>
            <a:r>
              <a:rPr lang="en-US" dirty="0"/>
              <a:t>Authentication is facilitated by the use of username and and password, smart cards, biometric methods like retina scanning and fingerprints.</a:t>
            </a:r>
          </a:p>
        </p:txBody>
      </p:sp>
    </p:spTree>
    <p:extLst>
      <p:ext uri="{BB962C8B-B14F-4D97-AF65-F5344CB8AC3E}">
        <p14:creationId xmlns:p14="http://schemas.microsoft.com/office/powerpoint/2010/main" val="386147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Non Repudiation</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lstStyle/>
          <a:p>
            <a:r>
              <a:rPr lang="en-US" dirty="0"/>
              <a:t>It prevents either sender or receiver from denying a transmitted message.</a:t>
            </a:r>
          </a:p>
          <a:p>
            <a:r>
              <a:rPr lang="en-US" dirty="0"/>
              <a:t>For a message that is transmitted, proofs are available that the message was sent by the alleged sender and the message was received by the intended recipient.</a:t>
            </a:r>
          </a:p>
          <a:p>
            <a:r>
              <a:rPr lang="en-US" dirty="0"/>
              <a:t>For example, if a sender places an order for certain product to be purchased in a particular quantity, the receiver knows that it came from a specified sender. Non repudiation deals with signatures.</a:t>
            </a:r>
          </a:p>
        </p:txBody>
      </p:sp>
    </p:spTree>
    <p:extLst>
      <p:ext uri="{BB962C8B-B14F-4D97-AF65-F5344CB8AC3E}">
        <p14:creationId xmlns:p14="http://schemas.microsoft.com/office/powerpoint/2010/main" val="4264419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Availability</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lstStyle/>
          <a:p>
            <a:r>
              <a:rPr lang="en-US" dirty="0"/>
              <a:t>It assures that the data and resources requested by authorized users are available to then when requested.</a:t>
            </a:r>
          </a:p>
        </p:txBody>
      </p:sp>
    </p:spTree>
    <p:extLst>
      <p:ext uri="{BB962C8B-B14F-4D97-AF65-F5344CB8AC3E}">
        <p14:creationId xmlns:p14="http://schemas.microsoft.com/office/powerpoint/2010/main" val="22547235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Security Mechanisms</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p:txBody>
          <a:bodyPr>
            <a:normAutofit fontScale="85000" lnSpcReduction="20000"/>
          </a:bodyPr>
          <a:lstStyle/>
          <a:p>
            <a:r>
              <a:rPr lang="en-US" dirty="0"/>
              <a:t>Security mechanisms are set of tools that deals with prevention, detection and recovery from a security attack.</a:t>
            </a:r>
          </a:p>
          <a:p>
            <a:r>
              <a:rPr lang="en-US" dirty="0"/>
              <a:t>Prevention: involves mechanisms to prevent the computer from being damaged</a:t>
            </a:r>
          </a:p>
          <a:p>
            <a:r>
              <a:rPr lang="en-US" dirty="0"/>
              <a:t>Detection: requires mechanisms that allow detection of when, how and by whom and attacked occurred.</a:t>
            </a:r>
          </a:p>
          <a:p>
            <a:r>
              <a:rPr lang="en-US" dirty="0"/>
              <a:t>Recovery: involves mechanism to stop the attack, assess the damage done and then repair the damage</a:t>
            </a:r>
          </a:p>
          <a:p>
            <a:r>
              <a:rPr lang="en-US" dirty="0"/>
              <a:t>Security mechanisms technologies:</a:t>
            </a:r>
          </a:p>
          <a:p>
            <a:pPr lvl="1"/>
            <a:r>
              <a:rPr lang="en-US" dirty="0"/>
              <a:t>Cryptography</a:t>
            </a:r>
          </a:p>
          <a:p>
            <a:pPr lvl="1"/>
            <a:r>
              <a:rPr lang="en-US" dirty="0"/>
              <a:t>Digital signature</a:t>
            </a:r>
          </a:p>
          <a:p>
            <a:pPr lvl="1"/>
            <a:r>
              <a:rPr lang="en-US" dirty="0"/>
              <a:t>Firewall</a:t>
            </a:r>
          </a:p>
          <a:p>
            <a:pPr lvl="1"/>
            <a:r>
              <a:rPr lang="en-US" dirty="0"/>
              <a:t>User Identification and authentication</a:t>
            </a:r>
          </a:p>
          <a:p>
            <a:pPr lvl="1"/>
            <a:r>
              <a:rPr lang="en-US" dirty="0"/>
              <a:t>Other security measures</a:t>
            </a:r>
          </a:p>
        </p:txBody>
      </p:sp>
    </p:spTree>
    <p:extLst>
      <p:ext uri="{BB962C8B-B14F-4D97-AF65-F5344CB8AC3E}">
        <p14:creationId xmlns:p14="http://schemas.microsoft.com/office/powerpoint/2010/main" val="4064803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a:t>
            </a:r>
          </a:p>
        </p:txBody>
      </p:sp>
      <p:sp>
        <p:nvSpPr>
          <p:cNvPr id="3" name="Content Placeholder 2">
            <a:extLst>
              <a:ext uri="{FF2B5EF4-FFF2-40B4-BE49-F238E27FC236}">
                <a16:creationId xmlns:a16="http://schemas.microsoft.com/office/drawing/2014/main" id="{C75C1AEE-A74C-D73D-184D-418ED8FE0BDB}"/>
              </a:ext>
            </a:extLst>
          </p:cNvPr>
          <p:cNvSpPr>
            <a:spLocks noGrp="1"/>
          </p:cNvSpPr>
          <p:nvPr>
            <p:ph idx="1"/>
          </p:nvPr>
        </p:nvSpPr>
        <p:spPr>
          <a:xfrm>
            <a:off x="2589212" y="1432560"/>
            <a:ext cx="8915400" cy="3777622"/>
          </a:xfrm>
        </p:spPr>
        <p:txBody>
          <a:bodyPr>
            <a:normAutofit fontScale="92500" lnSpcReduction="10000"/>
          </a:bodyPr>
          <a:lstStyle/>
          <a:p>
            <a:r>
              <a:rPr lang="en-US" b="1" dirty="0"/>
              <a:t>Cryptography Terminology:</a:t>
            </a:r>
          </a:p>
          <a:p>
            <a:r>
              <a:rPr lang="en-US" b="1" dirty="0"/>
              <a:t>Encryption:</a:t>
            </a:r>
            <a:r>
              <a:rPr lang="en-US" dirty="0"/>
              <a:t> Process of transforming plain text into cipher text using encryption algorithm and key is call encryption.</a:t>
            </a:r>
          </a:p>
          <a:p>
            <a:r>
              <a:rPr lang="en-US" b="1" dirty="0"/>
              <a:t>Decryption:</a:t>
            </a:r>
            <a:r>
              <a:rPr lang="en-US" dirty="0"/>
              <a:t> Process of transforming cipher text using decryption algorithm and key is called decryption.</a:t>
            </a:r>
          </a:p>
          <a:p>
            <a:r>
              <a:rPr lang="en-US" b="1" dirty="0"/>
              <a:t>Cipher and Code </a:t>
            </a:r>
            <a:r>
              <a:rPr lang="en-US" dirty="0"/>
              <a:t>- Cipher is a bit-by-bit or character-by-character transformation without regard to the meaning of the message. Code replaces one word with another word or symbol. Codes are not used any more. </a:t>
            </a:r>
          </a:p>
          <a:p>
            <a:r>
              <a:rPr lang="en-US" b="1" dirty="0"/>
              <a:t>Cipher text </a:t>
            </a:r>
            <a:r>
              <a:rPr lang="en-US" dirty="0"/>
              <a:t>- It is the coded message or the encrypted data. </a:t>
            </a:r>
          </a:p>
          <a:p>
            <a:r>
              <a:rPr lang="en-US" b="1" dirty="0"/>
              <a:t>Key</a:t>
            </a:r>
            <a:r>
              <a:rPr lang="en-US" dirty="0"/>
              <a:t> is a secret parameter (string of bits) for a specific message exchange context. The encrypted data cannot be accessed without the appropriate key. The size of key is also important. The larger the key, the harder it is to crack a block of encrypted data</a:t>
            </a:r>
          </a:p>
          <a:p>
            <a:pPr marL="0" indent="0">
              <a:buNone/>
            </a:pPr>
            <a:endParaRPr lang="en-US" dirty="0"/>
          </a:p>
        </p:txBody>
      </p:sp>
    </p:spTree>
    <p:extLst>
      <p:ext uri="{BB962C8B-B14F-4D97-AF65-F5344CB8AC3E}">
        <p14:creationId xmlns:p14="http://schemas.microsoft.com/office/powerpoint/2010/main" val="187257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 Schemes</a:t>
            </a:r>
          </a:p>
        </p:txBody>
      </p:sp>
      <p:pic>
        <p:nvPicPr>
          <p:cNvPr id="5" name="Picture 4">
            <a:extLst>
              <a:ext uri="{FF2B5EF4-FFF2-40B4-BE49-F238E27FC236}">
                <a16:creationId xmlns:a16="http://schemas.microsoft.com/office/drawing/2014/main" id="{9822443A-C165-101E-6A2A-1CFE9C0F85F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25650" y="1513110"/>
            <a:ext cx="9253282" cy="5162010"/>
          </a:xfrm>
          <a:prstGeom prst="rect">
            <a:avLst/>
          </a:prstGeom>
        </p:spPr>
      </p:pic>
    </p:spTree>
    <p:extLst>
      <p:ext uri="{BB962C8B-B14F-4D97-AF65-F5344CB8AC3E}">
        <p14:creationId xmlns:p14="http://schemas.microsoft.com/office/powerpoint/2010/main" val="1417839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 Schemes</a:t>
            </a:r>
          </a:p>
        </p:txBody>
      </p:sp>
      <p:pic>
        <p:nvPicPr>
          <p:cNvPr id="6" name="Picture 5">
            <a:extLst>
              <a:ext uri="{FF2B5EF4-FFF2-40B4-BE49-F238E27FC236}">
                <a16:creationId xmlns:a16="http://schemas.microsoft.com/office/drawing/2014/main" id="{69EE4367-B496-D44B-394A-9E81E74797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3365" y="2042161"/>
            <a:ext cx="8831247" cy="3526366"/>
          </a:xfrm>
          <a:prstGeom prst="rect">
            <a:avLst/>
          </a:prstGeom>
        </p:spPr>
      </p:pic>
    </p:spTree>
    <p:extLst>
      <p:ext uri="{BB962C8B-B14F-4D97-AF65-F5344CB8AC3E}">
        <p14:creationId xmlns:p14="http://schemas.microsoft.com/office/powerpoint/2010/main" val="3503791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 Schemes</a:t>
            </a:r>
          </a:p>
        </p:txBody>
      </p:sp>
      <p:sp>
        <p:nvSpPr>
          <p:cNvPr id="3" name="Content Placeholder 2">
            <a:extLst>
              <a:ext uri="{FF2B5EF4-FFF2-40B4-BE49-F238E27FC236}">
                <a16:creationId xmlns:a16="http://schemas.microsoft.com/office/drawing/2014/main" id="{FD3A29E0-6945-73EA-3CE0-8D499AC54938}"/>
              </a:ext>
            </a:extLst>
          </p:cNvPr>
          <p:cNvSpPr>
            <a:spLocks noGrp="1"/>
          </p:cNvSpPr>
          <p:nvPr>
            <p:ph idx="1"/>
          </p:nvPr>
        </p:nvSpPr>
        <p:spPr/>
        <p:txBody>
          <a:bodyPr/>
          <a:lstStyle/>
          <a:p>
            <a:r>
              <a:rPr lang="en-US" b="1" dirty="0"/>
              <a:t>Hash function :</a:t>
            </a:r>
          </a:p>
          <a:p>
            <a:pPr lvl="1"/>
            <a:r>
              <a:rPr lang="en-US" dirty="0"/>
              <a:t>Hash functions are one-way encryption algorithms and doesn’t use key. This scheme computes a fixed-length hash value based upon the plaintext. Once a hash function is used, it is difficult to recover the contents or length of the plaintext. Uses a mathematical transformation to irreversibly encrypt information.</a:t>
            </a:r>
          </a:p>
        </p:txBody>
      </p:sp>
      <p:pic>
        <p:nvPicPr>
          <p:cNvPr id="5" name="Picture 4">
            <a:extLst>
              <a:ext uri="{FF2B5EF4-FFF2-40B4-BE49-F238E27FC236}">
                <a16:creationId xmlns:a16="http://schemas.microsoft.com/office/drawing/2014/main" id="{322FE160-36E1-3B10-6D4D-FC53CD9E1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5640" y="3774440"/>
            <a:ext cx="5369560" cy="2684780"/>
          </a:xfrm>
          <a:prstGeom prst="rect">
            <a:avLst/>
          </a:prstGeom>
        </p:spPr>
      </p:pic>
    </p:spTree>
    <p:extLst>
      <p:ext uri="{BB962C8B-B14F-4D97-AF65-F5344CB8AC3E}">
        <p14:creationId xmlns:p14="http://schemas.microsoft.com/office/powerpoint/2010/main" val="2751997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 Schemes</a:t>
            </a:r>
          </a:p>
        </p:txBody>
      </p:sp>
      <p:pic>
        <p:nvPicPr>
          <p:cNvPr id="8" name="Picture 7">
            <a:extLst>
              <a:ext uri="{FF2B5EF4-FFF2-40B4-BE49-F238E27FC236}">
                <a16:creationId xmlns:a16="http://schemas.microsoft.com/office/drawing/2014/main" id="{79EB0BCE-E0F1-3149-03F0-6F87F23ADF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1250" y="1518920"/>
            <a:ext cx="9563100" cy="4533900"/>
          </a:xfrm>
          <a:prstGeom prst="rect">
            <a:avLst/>
          </a:prstGeom>
        </p:spPr>
      </p:pic>
    </p:spTree>
    <p:extLst>
      <p:ext uri="{BB962C8B-B14F-4D97-AF65-F5344CB8AC3E}">
        <p14:creationId xmlns:p14="http://schemas.microsoft.com/office/powerpoint/2010/main" val="2035137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Cryptography Schemes</a:t>
            </a:r>
          </a:p>
        </p:txBody>
      </p:sp>
      <p:sp>
        <p:nvSpPr>
          <p:cNvPr id="3" name="Content Placeholder 2">
            <a:extLst>
              <a:ext uri="{FF2B5EF4-FFF2-40B4-BE49-F238E27FC236}">
                <a16:creationId xmlns:a16="http://schemas.microsoft.com/office/drawing/2014/main" id="{06FE7C07-DBBE-0E0D-3B95-4DA9B985DCE6}"/>
              </a:ext>
            </a:extLst>
          </p:cNvPr>
          <p:cNvSpPr>
            <a:spLocks noGrp="1"/>
          </p:cNvSpPr>
          <p:nvPr>
            <p:ph idx="1"/>
          </p:nvPr>
        </p:nvSpPr>
        <p:spPr/>
        <p:txBody>
          <a:bodyPr/>
          <a:lstStyle/>
          <a:p>
            <a:r>
              <a:rPr lang="en-US" dirty="0"/>
              <a:t>Cryptography is used in applications like, security of ATM cards, computer passwords, and electronic commerce. Cryptography is used to protect data from theft or alteration, and also for user authentication</a:t>
            </a:r>
          </a:p>
        </p:txBody>
      </p:sp>
    </p:spTree>
    <p:extLst>
      <p:ext uri="{BB962C8B-B14F-4D97-AF65-F5344CB8AC3E}">
        <p14:creationId xmlns:p14="http://schemas.microsoft.com/office/powerpoint/2010/main" val="3826608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Digital Signature</a:t>
            </a:r>
          </a:p>
        </p:txBody>
      </p:sp>
      <p:sp>
        <p:nvSpPr>
          <p:cNvPr id="3" name="Content Placeholder 2">
            <a:extLst>
              <a:ext uri="{FF2B5EF4-FFF2-40B4-BE49-F238E27FC236}">
                <a16:creationId xmlns:a16="http://schemas.microsoft.com/office/drawing/2014/main" id="{06FE7C07-DBBE-0E0D-3B95-4DA9B985DCE6}"/>
              </a:ext>
            </a:extLst>
          </p:cNvPr>
          <p:cNvSpPr>
            <a:spLocks noGrp="1"/>
          </p:cNvSpPr>
          <p:nvPr>
            <p:ph idx="1"/>
          </p:nvPr>
        </p:nvSpPr>
        <p:spPr/>
        <p:txBody>
          <a:bodyPr>
            <a:normAutofit fontScale="85000" lnSpcReduction="20000"/>
          </a:bodyPr>
          <a:lstStyle/>
          <a:p>
            <a:r>
              <a:rPr lang="en-US" dirty="0"/>
              <a:t>A signature on a legal, financial or any other document authenticates the document. A photocopy of that document does not count. </a:t>
            </a:r>
          </a:p>
          <a:p>
            <a:r>
              <a:rPr lang="en-US" dirty="0"/>
              <a:t>A digital signature is used to sign a computerized document must hold conditions below</a:t>
            </a:r>
          </a:p>
          <a:p>
            <a:pPr lvl="1">
              <a:buFont typeface="+mj-lt"/>
              <a:buAutoNum type="arabicParenR"/>
            </a:pPr>
            <a:r>
              <a:rPr lang="en-US" dirty="0"/>
              <a:t>The receiver is able to verify the sender (as claimed),</a:t>
            </a:r>
          </a:p>
          <a:p>
            <a:pPr lvl="1">
              <a:buFont typeface="+mj-lt"/>
              <a:buAutoNum type="arabicParenR"/>
            </a:pPr>
            <a:r>
              <a:rPr lang="en-US" dirty="0"/>
              <a:t>The sender cannot later repudiate the contents of the message</a:t>
            </a:r>
          </a:p>
          <a:p>
            <a:pPr lvl="1">
              <a:buFont typeface="+mj-lt"/>
              <a:buAutoNum type="arabicParenR"/>
            </a:pPr>
            <a:r>
              <a:rPr lang="en-US" dirty="0"/>
              <a:t>Data Integrity: Data was not altered during transmission</a:t>
            </a:r>
          </a:p>
          <a:p>
            <a:r>
              <a:rPr lang="en-US" dirty="0"/>
              <a:t>Digital signature is mathematical code for demonstrating the authenticity of digital messages or documents that lets you sign a document electronically and validates the signer.</a:t>
            </a:r>
          </a:p>
          <a:p>
            <a:r>
              <a:rPr lang="en-US" dirty="0"/>
              <a:t>Digital signatures are easy for a user to produce, but difficult for anyone else to forge. Digital signatures can be permanently tied to the content of the message being signed and then cannot be moved from one document to another, as such an attempt will be detectable. </a:t>
            </a:r>
          </a:p>
          <a:p>
            <a:r>
              <a:rPr lang="en-US" dirty="0"/>
              <a:t>Digital signature scheme is a type of asymmetric cryptography. </a:t>
            </a:r>
          </a:p>
        </p:txBody>
      </p:sp>
    </p:spTree>
    <p:extLst>
      <p:ext uri="{BB962C8B-B14F-4D97-AF65-F5344CB8AC3E}">
        <p14:creationId xmlns:p14="http://schemas.microsoft.com/office/powerpoint/2010/main" val="14385394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Digital Signature</a:t>
            </a:r>
          </a:p>
        </p:txBody>
      </p:sp>
      <p:pic>
        <p:nvPicPr>
          <p:cNvPr id="15" name="Picture 14">
            <a:extLst>
              <a:ext uri="{FF2B5EF4-FFF2-40B4-BE49-F238E27FC236}">
                <a16:creationId xmlns:a16="http://schemas.microsoft.com/office/drawing/2014/main" id="{597FD8D6-E000-018E-3D5F-26296D6D2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2448" y="1872067"/>
            <a:ext cx="7754352" cy="4361823"/>
          </a:xfrm>
          <a:prstGeom prst="rect">
            <a:avLst/>
          </a:prstGeom>
        </p:spPr>
      </p:pic>
    </p:spTree>
    <p:extLst>
      <p:ext uri="{BB962C8B-B14F-4D97-AF65-F5344CB8AC3E}">
        <p14:creationId xmlns:p14="http://schemas.microsoft.com/office/powerpoint/2010/main" val="21017171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Digital Signature</a:t>
            </a:r>
          </a:p>
        </p:txBody>
      </p:sp>
      <p:pic>
        <p:nvPicPr>
          <p:cNvPr id="9" name="Picture 8">
            <a:extLst>
              <a:ext uri="{FF2B5EF4-FFF2-40B4-BE49-F238E27FC236}">
                <a16:creationId xmlns:a16="http://schemas.microsoft.com/office/drawing/2014/main" id="{4F37C1B8-2C03-30B1-2258-05A69F05A4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1438" y="1526050"/>
            <a:ext cx="8954659" cy="4773880"/>
          </a:xfrm>
          <a:prstGeom prst="rect">
            <a:avLst/>
          </a:prstGeom>
        </p:spPr>
      </p:pic>
    </p:spTree>
    <p:extLst>
      <p:ext uri="{BB962C8B-B14F-4D97-AF65-F5344CB8AC3E}">
        <p14:creationId xmlns:p14="http://schemas.microsoft.com/office/powerpoint/2010/main" val="2623219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Firewall</a:t>
            </a:r>
          </a:p>
        </p:txBody>
      </p:sp>
      <p:sp>
        <p:nvSpPr>
          <p:cNvPr id="3" name="Content Placeholder 2">
            <a:extLst>
              <a:ext uri="{FF2B5EF4-FFF2-40B4-BE49-F238E27FC236}">
                <a16:creationId xmlns:a16="http://schemas.microsoft.com/office/drawing/2014/main" id="{131645F4-976A-3C2D-75C5-598E3CC84295}"/>
              </a:ext>
            </a:extLst>
          </p:cNvPr>
          <p:cNvSpPr>
            <a:spLocks noGrp="1"/>
          </p:cNvSpPr>
          <p:nvPr>
            <p:ph idx="1"/>
          </p:nvPr>
        </p:nvSpPr>
        <p:spPr/>
        <p:txBody>
          <a:bodyPr/>
          <a:lstStyle/>
          <a:p>
            <a:r>
              <a:rPr lang="en-US" dirty="0"/>
              <a:t>A firewall is a security mechanism to protect a local network from the threats it may face while interacting with other networks (Internet). </a:t>
            </a:r>
          </a:p>
          <a:p>
            <a:r>
              <a:rPr lang="en-US" dirty="0"/>
              <a:t>All communication takes place through the firewall, which examines all incoming data before allowing it to enter the local network.</a:t>
            </a:r>
          </a:p>
          <a:p>
            <a:r>
              <a:rPr lang="en-US" dirty="0"/>
              <a:t>A firewall can be a hardware component, a software component, or a combination of both. </a:t>
            </a:r>
          </a:p>
          <a:p>
            <a:endParaRPr lang="en-US" dirty="0"/>
          </a:p>
        </p:txBody>
      </p:sp>
    </p:spTree>
    <p:extLst>
      <p:ext uri="{BB962C8B-B14F-4D97-AF65-F5344CB8AC3E}">
        <p14:creationId xmlns:p14="http://schemas.microsoft.com/office/powerpoint/2010/main" val="18223590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Working of Firewall</a:t>
            </a:r>
          </a:p>
        </p:txBody>
      </p:sp>
      <p:sp>
        <p:nvSpPr>
          <p:cNvPr id="3" name="Content Placeholder 2">
            <a:extLst>
              <a:ext uri="{FF2B5EF4-FFF2-40B4-BE49-F238E27FC236}">
                <a16:creationId xmlns:a16="http://schemas.microsoft.com/office/drawing/2014/main" id="{131645F4-976A-3C2D-75C5-598E3CC84295}"/>
              </a:ext>
            </a:extLst>
          </p:cNvPr>
          <p:cNvSpPr>
            <a:spLocks noGrp="1"/>
          </p:cNvSpPr>
          <p:nvPr>
            <p:ph idx="1"/>
          </p:nvPr>
        </p:nvSpPr>
        <p:spPr>
          <a:xfrm>
            <a:off x="2589212" y="2133600"/>
            <a:ext cx="8915400" cy="4100290"/>
          </a:xfrm>
        </p:spPr>
        <p:txBody>
          <a:bodyPr>
            <a:normAutofit/>
          </a:bodyPr>
          <a:lstStyle/>
          <a:p>
            <a:r>
              <a:rPr lang="en-US" dirty="0"/>
              <a:t>The working of firewall is based on a filtering mechanism. The filtering mechanism keeps track of source address of data, destination address of data and contents of data. </a:t>
            </a:r>
          </a:p>
          <a:p>
            <a:r>
              <a:rPr lang="en-US" dirty="0"/>
              <a:t>It makes sure that the downloading of information from the Internet to a local network happens based only on a request by an authorized user. </a:t>
            </a:r>
          </a:p>
          <a:p>
            <a:pPr marL="0" indent="0" algn="ctr">
              <a:buNone/>
            </a:pPr>
            <a:r>
              <a:rPr lang="en-US" b="1" dirty="0"/>
              <a:t>Functions of Firewall</a:t>
            </a:r>
          </a:p>
          <a:p>
            <a:r>
              <a:rPr lang="en-US" dirty="0"/>
              <a:t>Firewalls provide security by examining the incoming data packets and allowing them to enter the local network only if the conditions are met. </a:t>
            </a:r>
          </a:p>
          <a:p>
            <a:r>
              <a:rPr lang="en-US" dirty="0"/>
              <a:t> Firewalls can be used for hiding the structure and contents of a local network from external users. Network Address Translation (NAT) conceals the internal network addresses and replaces all the IP addresses of the local network with one or more public IP addresses</a:t>
            </a:r>
          </a:p>
        </p:txBody>
      </p:sp>
    </p:spTree>
    <p:extLst>
      <p:ext uri="{BB962C8B-B14F-4D97-AF65-F5344CB8AC3E}">
        <p14:creationId xmlns:p14="http://schemas.microsoft.com/office/powerpoint/2010/main" val="26982163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6CD2D-B3C2-99E9-7E16-C1B704CA73C4}"/>
              </a:ext>
            </a:extLst>
          </p:cNvPr>
          <p:cNvSpPr>
            <a:spLocks noGrp="1"/>
          </p:cNvSpPr>
          <p:nvPr>
            <p:ph type="title"/>
          </p:nvPr>
        </p:nvSpPr>
        <p:spPr/>
        <p:txBody>
          <a:bodyPr/>
          <a:lstStyle/>
          <a:p>
            <a:pPr algn="ctr"/>
            <a:r>
              <a:rPr lang="en-US" b="1" dirty="0"/>
              <a:t>Types of Firewall</a:t>
            </a:r>
          </a:p>
        </p:txBody>
      </p:sp>
      <p:sp>
        <p:nvSpPr>
          <p:cNvPr id="3" name="Content Placeholder 2">
            <a:extLst>
              <a:ext uri="{FF2B5EF4-FFF2-40B4-BE49-F238E27FC236}">
                <a16:creationId xmlns:a16="http://schemas.microsoft.com/office/drawing/2014/main" id="{131645F4-976A-3C2D-75C5-598E3CC84295}"/>
              </a:ext>
            </a:extLst>
          </p:cNvPr>
          <p:cNvSpPr>
            <a:spLocks noGrp="1"/>
          </p:cNvSpPr>
          <p:nvPr>
            <p:ph idx="1"/>
          </p:nvPr>
        </p:nvSpPr>
        <p:spPr>
          <a:xfrm>
            <a:off x="2589212" y="2133600"/>
            <a:ext cx="8915400" cy="4100290"/>
          </a:xfrm>
        </p:spPr>
        <p:txBody>
          <a:bodyPr>
            <a:normAutofit/>
          </a:bodyPr>
          <a:lstStyle/>
          <a:p>
            <a:r>
              <a:rPr lang="en-US" dirty="0"/>
              <a:t>Packet filter firewall</a:t>
            </a:r>
          </a:p>
          <a:p>
            <a:r>
              <a:rPr lang="en-US" dirty="0"/>
              <a:t>Circuit filter firewall</a:t>
            </a:r>
          </a:p>
          <a:p>
            <a:r>
              <a:rPr lang="en-US" dirty="0"/>
              <a:t>Proxy server of Application level gateway</a:t>
            </a:r>
          </a:p>
        </p:txBody>
      </p:sp>
    </p:spTree>
    <p:extLst>
      <p:ext uri="{BB962C8B-B14F-4D97-AF65-F5344CB8AC3E}">
        <p14:creationId xmlns:p14="http://schemas.microsoft.com/office/powerpoint/2010/main" val="36834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Packet filter firewall</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p:txBody>
          <a:bodyPr/>
          <a:lstStyle/>
          <a:p>
            <a:r>
              <a:rPr lang="en-US" dirty="0"/>
              <a:t>Applies set of rules on each incoming packet and forwards the packet if rules are obeyed otherwise discard.</a:t>
            </a:r>
            <a:br>
              <a:rPr lang="en-US" dirty="0"/>
            </a:br>
            <a:endParaRPr lang="en-US" dirty="0"/>
          </a:p>
          <a:p>
            <a:r>
              <a:rPr lang="en-US" dirty="0"/>
              <a:t>Rules are based on </a:t>
            </a:r>
          </a:p>
          <a:p>
            <a:pPr lvl="1"/>
            <a:r>
              <a:rPr lang="en-US" dirty="0"/>
              <a:t>Source IP address</a:t>
            </a:r>
          </a:p>
          <a:p>
            <a:pPr lvl="1"/>
            <a:r>
              <a:rPr lang="en-US" dirty="0"/>
              <a:t>Destination IP address</a:t>
            </a:r>
          </a:p>
          <a:p>
            <a:pPr lvl="1"/>
            <a:r>
              <a:rPr lang="en-US" dirty="0"/>
              <a:t>Protocols and Ports</a:t>
            </a:r>
          </a:p>
          <a:p>
            <a:r>
              <a:rPr lang="en-US" dirty="0"/>
              <a:t>Also maintains a filtering table</a:t>
            </a:r>
          </a:p>
          <a:p>
            <a:r>
              <a:rPr lang="en-US" dirty="0"/>
              <a:t>Simple but less secure</a:t>
            </a:r>
          </a:p>
        </p:txBody>
      </p:sp>
    </p:spTree>
    <p:extLst>
      <p:ext uri="{BB962C8B-B14F-4D97-AF65-F5344CB8AC3E}">
        <p14:creationId xmlns:p14="http://schemas.microsoft.com/office/powerpoint/2010/main" val="40440695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Application Level Gateway</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p:txBody>
          <a:bodyPr/>
          <a:lstStyle/>
          <a:p>
            <a:r>
              <a:rPr lang="en-US" dirty="0"/>
              <a:t>Is also called Proxy Sever</a:t>
            </a:r>
          </a:p>
          <a:p>
            <a:r>
              <a:rPr lang="en-US" dirty="0"/>
              <a:t>Proxy server is present between the host and clients.</a:t>
            </a:r>
          </a:p>
          <a:p>
            <a:r>
              <a:rPr lang="en-US" dirty="0"/>
              <a:t>Client uses its IP address to request the services from host though proxy server</a:t>
            </a:r>
          </a:p>
          <a:p>
            <a:r>
              <a:rPr lang="en-US" dirty="0"/>
              <a:t>Proxy server uses its own IP details while requesting host which makes the actual clients identity anonymous. </a:t>
            </a:r>
          </a:p>
          <a:p>
            <a:r>
              <a:rPr lang="en-US" dirty="0"/>
              <a:t>More secure than Packet Filtering</a:t>
            </a:r>
          </a:p>
          <a:p>
            <a:r>
              <a:rPr lang="en-US" dirty="0"/>
              <a:t>Contacts user by TCP/IP protocols(TELNET, FTP, SMTP, HTTP, </a:t>
            </a:r>
            <a:r>
              <a:rPr lang="en-US" dirty="0" err="1"/>
              <a:t>etc</a:t>
            </a:r>
            <a:r>
              <a:rPr lang="en-US" dirty="0"/>
              <a:t>)</a:t>
            </a:r>
          </a:p>
          <a:p>
            <a:endParaRPr lang="en-US" dirty="0"/>
          </a:p>
        </p:txBody>
      </p:sp>
    </p:spTree>
    <p:extLst>
      <p:ext uri="{BB962C8B-B14F-4D97-AF65-F5344CB8AC3E}">
        <p14:creationId xmlns:p14="http://schemas.microsoft.com/office/powerpoint/2010/main" val="1425034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Application Level Gateway</a:t>
            </a:r>
          </a:p>
        </p:txBody>
      </p:sp>
      <p:pic>
        <p:nvPicPr>
          <p:cNvPr id="5" name="Picture 4">
            <a:extLst>
              <a:ext uri="{FF2B5EF4-FFF2-40B4-BE49-F238E27FC236}">
                <a16:creationId xmlns:a16="http://schemas.microsoft.com/office/drawing/2014/main" id="{754C9E4A-87AB-AD3D-5066-76140FAA2276}"/>
              </a:ext>
            </a:extLst>
          </p:cNvPr>
          <p:cNvPicPr>
            <a:picLocks noChangeAspect="1"/>
          </p:cNvPicPr>
          <p:nvPr/>
        </p:nvPicPr>
        <p:blipFill rotWithShape="1">
          <a:blip r:embed="rId2">
            <a:extLst>
              <a:ext uri="{28A0092B-C50C-407E-A947-70E740481C1C}">
                <a14:useLocalDpi xmlns:a14="http://schemas.microsoft.com/office/drawing/2010/main" val="0"/>
              </a:ext>
            </a:extLst>
          </a:blip>
          <a:srcRect t="15116" r="15407" b="31105"/>
          <a:stretch/>
        </p:blipFill>
        <p:spPr>
          <a:xfrm>
            <a:off x="2946400" y="2324100"/>
            <a:ext cx="8909634" cy="2832100"/>
          </a:xfrm>
          <a:prstGeom prst="rect">
            <a:avLst/>
          </a:prstGeom>
        </p:spPr>
      </p:pic>
    </p:spTree>
    <p:extLst>
      <p:ext uri="{BB962C8B-B14F-4D97-AF65-F5344CB8AC3E}">
        <p14:creationId xmlns:p14="http://schemas.microsoft.com/office/powerpoint/2010/main" val="247947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Circuit Filter Farewell</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92925" y="1540189"/>
            <a:ext cx="8915400" cy="3777622"/>
          </a:xfrm>
        </p:spPr>
        <p:txBody>
          <a:bodyPr/>
          <a:lstStyle/>
          <a:p>
            <a:r>
              <a:rPr lang="en-US" dirty="0"/>
              <a:t>It uses two TCP connections</a:t>
            </a:r>
          </a:p>
          <a:p>
            <a:pPr lvl="1"/>
            <a:r>
              <a:rPr lang="en-US" dirty="0"/>
              <a:t>Internal host and Gateway</a:t>
            </a:r>
          </a:p>
          <a:p>
            <a:pPr lvl="1"/>
            <a:r>
              <a:rPr lang="en-US" dirty="0"/>
              <a:t>External host and Gateway</a:t>
            </a:r>
          </a:p>
          <a:p>
            <a:r>
              <a:rPr lang="en-US" dirty="0"/>
              <a:t>Fastest</a:t>
            </a:r>
          </a:p>
        </p:txBody>
      </p:sp>
      <p:pic>
        <p:nvPicPr>
          <p:cNvPr id="5" name="Picture 4">
            <a:extLst>
              <a:ext uri="{FF2B5EF4-FFF2-40B4-BE49-F238E27FC236}">
                <a16:creationId xmlns:a16="http://schemas.microsoft.com/office/drawing/2014/main" id="{B6B37B12-2AD0-DE5B-D249-3F608EEA5F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1945" y="3081115"/>
            <a:ext cx="6530048" cy="3497485"/>
          </a:xfrm>
          <a:prstGeom prst="rect">
            <a:avLst/>
          </a:prstGeom>
        </p:spPr>
      </p:pic>
    </p:spTree>
    <p:extLst>
      <p:ext uri="{BB962C8B-B14F-4D97-AF65-F5344CB8AC3E}">
        <p14:creationId xmlns:p14="http://schemas.microsoft.com/office/powerpoint/2010/main" val="30366236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User Identification and Authentication</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2" y="1905000"/>
            <a:ext cx="8915400" cy="3777622"/>
          </a:xfrm>
        </p:spPr>
        <p:txBody>
          <a:bodyPr>
            <a:normAutofit/>
          </a:bodyPr>
          <a:lstStyle/>
          <a:p>
            <a:r>
              <a:rPr lang="en-US" dirty="0"/>
              <a:t>Identification is the process whereby a system recognizes a valid user’s identity. </a:t>
            </a:r>
          </a:p>
          <a:p>
            <a:r>
              <a:rPr lang="en-US" dirty="0"/>
              <a:t>Authentication is the process of verifying the claimed identity of a user . </a:t>
            </a:r>
          </a:p>
          <a:p>
            <a:r>
              <a:rPr lang="en-US" dirty="0"/>
              <a:t>For example, a system uses user password for identification. The user enters his password for identification. Authentication is the system which verifies that the password is correct, and thus the user is a valid user.</a:t>
            </a:r>
          </a:p>
          <a:p>
            <a:r>
              <a:rPr lang="en-US" dirty="0"/>
              <a:t>Before granting access to a system, the user’s identity needs to be authenticated. If users are not properly authenticated then the system is potentially vulnerable to access by unauthorized users. If strong identification and authentication mechanisms are used, then the risk that unauthorized users will gain access to a system is significantly decreased. </a:t>
            </a:r>
          </a:p>
        </p:txBody>
      </p:sp>
    </p:spTree>
    <p:extLst>
      <p:ext uri="{BB962C8B-B14F-4D97-AF65-F5344CB8AC3E}">
        <p14:creationId xmlns:p14="http://schemas.microsoft.com/office/powerpoint/2010/main" val="1780697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User Identification and Authentication</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2" y="1905000"/>
            <a:ext cx="8915400" cy="3777622"/>
          </a:xfrm>
        </p:spPr>
        <p:txBody>
          <a:bodyPr>
            <a:normAutofit/>
          </a:bodyPr>
          <a:lstStyle/>
          <a:p>
            <a:r>
              <a:rPr lang="en-US" dirty="0"/>
              <a:t>Authentication mechanisms are: </a:t>
            </a:r>
          </a:p>
          <a:p>
            <a:pPr lvl="1">
              <a:buFont typeface="+mj-lt"/>
              <a:buAutoNum type="alphaLcParenR"/>
            </a:pPr>
            <a:r>
              <a:rPr lang="en-US" dirty="0"/>
              <a:t>	User name and password </a:t>
            </a:r>
          </a:p>
          <a:p>
            <a:pPr lvl="1">
              <a:buFont typeface="+mj-lt"/>
              <a:buAutoNum type="alphaLcParenR"/>
            </a:pPr>
            <a:r>
              <a:rPr lang="en-US" dirty="0"/>
              <a:t>	Smart Card </a:t>
            </a:r>
          </a:p>
          <a:p>
            <a:pPr lvl="1">
              <a:buFont typeface="+mj-lt"/>
              <a:buAutoNum type="alphaLcParenR"/>
            </a:pPr>
            <a:r>
              <a:rPr lang="en-US" dirty="0"/>
              <a:t>	Biometrics—Fingerprints, Iris/retina scan </a:t>
            </a:r>
          </a:p>
          <a:p>
            <a:r>
              <a:rPr lang="en-US" dirty="0"/>
              <a:t>Once the user is authenticated, the access controls for the user are also defined. Access controls is what the user can access once he is authenticated.</a:t>
            </a:r>
          </a:p>
        </p:txBody>
      </p:sp>
    </p:spTree>
    <p:extLst>
      <p:ext uri="{BB962C8B-B14F-4D97-AF65-F5344CB8AC3E}">
        <p14:creationId xmlns:p14="http://schemas.microsoft.com/office/powerpoint/2010/main" val="41383483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Intrusion Detection System</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2" y="1905000"/>
            <a:ext cx="8915400" cy="3777622"/>
          </a:xfrm>
        </p:spPr>
        <p:txBody>
          <a:bodyPr>
            <a:normAutofit/>
          </a:bodyPr>
          <a:lstStyle/>
          <a:p>
            <a:r>
              <a:rPr lang="en-US" dirty="0"/>
              <a:t>They complement firewalls to detect if internal assets are being hacked or exploited. </a:t>
            </a:r>
          </a:p>
          <a:p>
            <a:r>
              <a:rPr lang="en-US" b="1" dirty="0"/>
              <a:t>Inside Intruder &amp; Outside Intruder</a:t>
            </a:r>
          </a:p>
          <a:p>
            <a:r>
              <a:rPr lang="en-US" dirty="0"/>
              <a:t>A Network-based Intrusion Detection monitors real time network traffic for malicious activity and sends alarms for network traffic that meets certain attack patterns or signatures. </a:t>
            </a:r>
          </a:p>
          <a:p>
            <a:r>
              <a:rPr lang="en-US" dirty="0"/>
              <a:t>A Host-based Intrusion Detection monitors computer or server files for anomalies and sends alarms for network traffic that meets a predetermined attack signature.</a:t>
            </a:r>
          </a:p>
          <a:p>
            <a:r>
              <a:rPr lang="en-US" b="1" dirty="0"/>
              <a:t>Signature based IDS and Anomaly based IDS</a:t>
            </a:r>
          </a:p>
        </p:txBody>
      </p:sp>
    </p:spTree>
    <p:extLst>
      <p:ext uri="{BB962C8B-B14F-4D97-AF65-F5344CB8AC3E}">
        <p14:creationId xmlns:p14="http://schemas.microsoft.com/office/powerpoint/2010/main" val="29719697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Security Awareness </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2" y="1905000"/>
            <a:ext cx="8915400" cy="3777622"/>
          </a:xfrm>
        </p:spPr>
        <p:txBody>
          <a:bodyPr>
            <a:normAutofit/>
          </a:bodyPr>
          <a:lstStyle/>
          <a:p>
            <a:r>
              <a:rPr lang="en-US" dirty="0"/>
              <a:t>The aim of the security awareness is to enhance the security of the organization’s resources by improving the awareness of the need to secure the system resources. </a:t>
            </a:r>
          </a:p>
          <a:p>
            <a:r>
              <a:rPr lang="en-US" dirty="0"/>
              <a:t>Staff members play a critical role in protecting the integrity, confidentiality, and availability of IT systems and networks. It is necessary for an organization to train their staff for security awareness and accepted computer practices. </a:t>
            </a:r>
          </a:p>
          <a:p>
            <a:r>
              <a:rPr lang="en-US" dirty="0"/>
              <a:t>Security of resources can be ensured when the people using it are aware of the need to secure their resources. Security awareness of staff includes the knowledge of practices that must be adhered to, for ensuring the security and the possible consequences of not using those security practices.</a:t>
            </a:r>
            <a:endParaRPr lang="en-US" b="1" dirty="0"/>
          </a:p>
        </p:txBody>
      </p:sp>
    </p:spTree>
    <p:extLst>
      <p:ext uri="{BB962C8B-B14F-4D97-AF65-F5344CB8AC3E}">
        <p14:creationId xmlns:p14="http://schemas.microsoft.com/office/powerpoint/2010/main" val="41606992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Security Policy</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2" y="1905000"/>
            <a:ext cx="8915400" cy="3777622"/>
          </a:xfrm>
        </p:spPr>
        <p:txBody>
          <a:bodyPr>
            <a:normAutofit/>
          </a:bodyPr>
          <a:lstStyle/>
          <a:p>
            <a:r>
              <a:rPr lang="en-US" dirty="0"/>
              <a:t>A security policy is a formal statement that embodies the organization’s overall security expectations, goals, and objectives with regard to the organization’s technology, system and information.</a:t>
            </a:r>
          </a:p>
          <a:p>
            <a:r>
              <a:rPr lang="en-US" dirty="0"/>
              <a:t>The security policy states what is, and what is not allowed. </a:t>
            </a:r>
          </a:p>
          <a:p>
            <a:r>
              <a:rPr lang="en-US" dirty="0"/>
              <a:t>A security policy must be comprehensive, up-to-date, complete, delivered effectively, and available to all staff. </a:t>
            </a:r>
          </a:p>
          <a:p>
            <a:r>
              <a:rPr lang="en-US" dirty="0"/>
              <a:t>A security policy must also be enforceable. To accomplish this, the security policy can mention that strict action will be taken against employees who violate it, like disclosing a password.</a:t>
            </a:r>
            <a:endParaRPr lang="en-US" b="1" dirty="0"/>
          </a:p>
        </p:txBody>
      </p:sp>
    </p:spTree>
    <p:extLst>
      <p:ext uri="{BB962C8B-B14F-4D97-AF65-F5344CB8AC3E}">
        <p14:creationId xmlns:p14="http://schemas.microsoft.com/office/powerpoint/2010/main" val="167471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6C71E-3DC9-689E-4B78-52CA2383CF34}"/>
              </a:ext>
            </a:extLst>
          </p:cNvPr>
          <p:cNvSpPr>
            <a:spLocks noGrp="1"/>
          </p:cNvSpPr>
          <p:nvPr>
            <p:ph type="title"/>
          </p:nvPr>
        </p:nvSpPr>
        <p:spPr/>
        <p:txBody>
          <a:bodyPr/>
          <a:lstStyle/>
          <a:p>
            <a:pPr algn="ctr"/>
            <a:r>
              <a:rPr lang="en-US" b="1" dirty="0"/>
              <a:t>Formulating Security Policy</a:t>
            </a:r>
          </a:p>
        </p:txBody>
      </p:sp>
      <p:sp>
        <p:nvSpPr>
          <p:cNvPr id="3" name="Content Placeholder 2">
            <a:extLst>
              <a:ext uri="{FF2B5EF4-FFF2-40B4-BE49-F238E27FC236}">
                <a16:creationId xmlns:a16="http://schemas.microsoft.com/office/drawing/2014/main" id="{04761654-79E0-102B-360A-661DFA20BD87}"/>
              </a:ext>
            </a:extLst>
          </p:cNvPr>
          <p:cNvSpPr>
            <a:spLocks noGrp="1"/>
          </p:cNvSpPr>
          <p:nvPr>
            <p:ph idx="1"/>
          </p:nvPr>
        </p:nvSpPr>
        <p:spPr>
          <a:xfrm>
            <a:off x="2589211" y="1904999"/>
            <a:ext cx="9344287" cy="4692571"/>
          </a:xfrm>
        </p:spPr>
        <p:txBody>
          <a:bodyPr>
            <a:normAutofit/>
          </a:bodyPr>
          <a:lstStyle/>
          <a:p>
            <a:r>
              <a:rPr lang="en-US" dirty="0"/>
              <a:t>The steps followed while formulating the security policy are:</a:t>
            </a:r>
          </a:p>
          <a:p>
            <a:pPr lvl="1">
              <a:buFont typeface="+mj-lt"/>
              <a:buAutoNum type="alphaLcParenR"/>
            </a:pPr>
            <a:r>
              <a:rPr lang="en-US" dirty="0"/>
              <a:t> Analyzing Current Security Policies </a:t>
            </a:r>
          </a:p>
          <a:p>
            <a:pPr lvl="1">
              <a:buFont typeface="+mj-lt"/>
              <a:buAutoNum type="alphaLcParenR"/>
            </a:pPr>
            <a:r>
              <a:rPr lang="en-US" dirty="0"/>
              <a:t>Identifying IT Assets that Need to be Secure </a:t>
            </a:r>
          </a:p>
          <a:p>
            <a:pPr lvl="1">
              <a:buFont typeface="+mj-lt"/>
              <a:buAutoNum type="alphaLcParenR"/>
            </a:pPr>
            <a:r>
              <a:rPr lang="en-US" dirty="0"/>
              <a:t>Identifying Security Threats and Likely Security Attacks </a:t>
            </a:r>
          </a:p>
          <a:p>
            <a:pPr lvl="1">
              <a:buFont typeface="+mj-lt"/>
              <a:buAutoNum type="alphaLcParenR"/>
            </a:pPr>
            <a:r>
              <a:rPr lang="en-US" dirty="0"/>
              <a:t>Defining the Proactive and Reactive Security Strategies</a:t>
            </a:r>
          </a:p>
          <a:p>
            <a:pPr marL="457200" lvl="1" indent="0">
              <a:buNone/>
            </a:pPr>
            <a:r>
              <a:rPr lang="en-US" dirty="0"/>
              <a:t>A proactive strategy is a pre-attack strategy. It involves identifying possible damage from each type of attack, determining the vulnerabilities that each type of attack can exploit, minimizing those vulnerabilities and making a contingency plan.</a:t>
            </a:r>
          </a:p>
          <a:p>
            <a:pPr marL="457200" lvl="1" indent="0">
              <a:buNone/>
            </a:pPr>
            <a:r>
              <a:rPr lang="en-US" dirty="0"/>
              <a:t>A reactive strategy is implemented on the failure of the proactive strategy. It defines the steps to be taken after the attack. It aims at identifying the cause of attack, vulnerabilities used to attack the system, damage caused by the attack, and repairing of the damage caused by the attack.</a:t>
            </a:r>
            <a:endParaRPr lang="en-US" b="1" dirty="0"/>
          </a:p>
        </p:txBody>
      </p:sp>
    </p:spTree>
    <p:extLst>
      <p:ext uri="{BB962C8B-B14F-4D97-AF65-F5344CB8AC3E}">
        <p14:creationId xmlns:p14="http://schemas.microsoft.com/office/powerpoint/2010/main" val="307444330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858</TotalTime>
  <Words>2398</Words>
  <Application>Microsoft Office PowerPoint</Application>
  <PresentationFormat>Widescreen</PresentationFormat>
  <Paragraphs>214</Paragraphs>
  <Slides>46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46</vt:i4>
      </vt:variant>
    </vt:vector>
  </HeadingPairs>
  <TitlesOfParts>
    <vt:vector size="53" baseType="lpstr">
      <vt:lpstr>Arial</vt:lpstr>
      <vt:lpstr>Bahnschrift Light SemiCondensed</vt:lpstr>
      <vt:lpstr>Calibri</vt:lpstr>
      <vt:lpstr>Century Gothic</vt:lpstr>
      <vt:lpstr>Wingdings</vt:lpstr>
      <vt:lpstr>Wingdings 3</vt:lpstr>
      <vt:lpstr>Wisp</vt:lpstr>
      <vt:lpstr>Computer Security</vt:lpstr>
      <vt:lpstr>Syllabus</vt:lpstr>
      <vt:lpstr>Introduction</vt:lpstr>
      <vt:lpstr>Security Threat</vt:lpstr>
      <vt:lpstr>Security Attack </vt:lpstr>
      <vt:lpstr>Types of Security Attack on the basis of nature</vt:lpstr>
      <vt:lpstr>Passive Attack</vt:lpstr>
      <vt:lpstr>PowerPoint Presentation</vt:lpstr>
      <vt:lpstr>Malicious Software</vt:lpstr>
      <vt:lpstr>Virus</vt:lpstr>
      <vt:lpstr>Worm</vt:lpstr>
      <vt:lpstr>Trojan Horse</vt:lpstr>
      <vt:lpstr>Ransomware</vt:lpstr>
      <vt:lpstr>Ransomware</vt:lpstr>
      <vt:lpstr>Spyware</vt:lpstr>
      <vt:lpstr>Adware</vt:lpstr>
      <vt:lpstr>Keylogger</vt:lpstr>
      <vt:lpstr>Security Services</vt:lpstr>
      <vt:lpstr>Confidentiality</vt:lpstr>
      <vt:lpstr>Integrity</vt:lpstr>
      <vt:lpstr>Authentication</vt:lpstr>
      <vt:lpstr>Non Repudiation</vt:lpstr>
      <vt:lpstr>Availability</vt:lpstr>
      <vt:lpstr>Security Mechanisms</vt:lpstr>
      <vt:lpstr>Cryptography</vt:lpstr>
      <vt:lpstr>Cryptography Schemes</vt:lpstr>
      <vt:lpstr>Cryptography Schemes</vt:lpstr>
      <vt:lpstr>Cryptography Schemes</vt:lpstr>
      <vt:lpstr>Cryptography Schemes</vt:lpstr>
      <vt:lpstr>Cryptography Schemes</vt:lpstr>
      <vt:lpstr>Digital Signature</vt:lpstr>
      <vt:lpstr>Digital Signature</vt:lpstr>
      <vt:lpstr>Digital Signature</vt:lpstr>
      <vt:lpstr>Firewall</vt:lpstr>
      <vt:lpstr>Working of Firewall</vt:lpstr>
      <vt:lpstr>Types of Firewall</vt:lpstr>
      <vt:lpstr>Packet filter firewall</vt:lpstr>
      <vt:lpstr>Application Level Gateway</vt:lpstr>
      <vt:lpstr>Application Level Gateway</vt:lpstr>
      <vt:lpstr>Circuit Filter Farewell</vt:lpstr>
      <vt:lpstr>User Identification and Authentication</vt:lpstr>
      <vt:lpstr>User Identification and Authentication</vt:lpstr>
      <vt:lpstr>Intrusion Detection System</vt:lpstr>
      <vt:lpstr>Security Awareness </vt:lpstr>
      <vt:lpstr>Security Policy</vt:lpstr>
      <vt:lpstr>Formulating Security Policy</vt:lpstr>
    </vt:vector>
  </TitlesOfParts>
  <Company>CtrlSoft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dc:title>
  <dc:creator>Amit Bajracharya</dc:creator>
  <cp:lastModifiedBy>Yachu</cp:lastModifiedBy>
  <cp:revision>80</cp:revision>
  <dcterms:created xsi:type="dcterms:W3CDTF">2023-03-22T10:49:22Z</dcterms:created>
  <dcterms:modified xsi:type="dcterms:W3CDTF">2024-03-13T17:46:58Z</dcterms:modified>
</cp:coreProperties>
</file>